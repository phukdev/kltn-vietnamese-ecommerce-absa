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Aspect F1-micro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 SVM</c:v>
                </c:pt>
                <c:pt idx="1">
                  <c:v>Bi-LSTM</c:v>
                </c:pt>
                <c:pt idx="2">
                  <c:v>PhoBERT Multi-task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0.6238</c:v>
                </c:pt>
                <c:pt idx="1">
                  <c:v>0.6018</c:v>
                </c:pt>
                <c:pt idx="2">
                  <c:v>0.5669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Aspect F1-macro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 SVM</c:v>
                </c:pt>
                <c:pt idx="1">
                  <c:v>Bi-LSTM</c:v>
                </c:pt>
                <c:pt idx="2">
                  <c:v>PhoBERT Multi-task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0.6279</c:v>
                </c:pt>
                <c:pt idx="1">
                  <c:v>0.601</c:v>
                </c:pt>
                <c:pt idx="2">
                  <c:v>0.5465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100">
              <a:solidFill>
                <a:srgbClr val="F1F5F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SVM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Giao hàng</c:v>
                </c:pt>
                <c:pt idx="1">
                  <c:v>Giá cả</c:v>
                </c:pt>
                <c:pt idx="2">
                  <c:v>Ứng dụng</c:v>
                </c:pt>
                <c:pt idx="3">
                  <c:v>Sản phẩm</c:v>
                </c:pt>
                <c:pt idx="4">
                  <c:v>Dịch vụ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0.8063</c:v>
                </c:pt>
                <c:pt idx="1">
                  <c:v>0.7327</c:v>
                </c:pt>
                <c:pt idx="2">
                  <c:v>0.6667</c:v>
                </c:pt>
                <c:pt idx="3">
                  <c:v>0.5199</c:v>
                </c:pt>
                <c:pt idx="4">
                  <c:v>0.4138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Bi-LSTM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Giao hàng</c:v>
                </c:pt>
                <c:pt idx="1">
                  <c:v>Giá cả</c:v>
                </c:pt>
                <c:pt idx="2">
                  <c:v>Ứng dụng</c:v>
                </c:pt>
                <c:pt idx="3">
                  <c:v>Sản phẩm</c:v>
                </c:pt>
                <c:pt idx="4">
                  <c:v>Dịch vụ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0.802</c:v>
                </c:pt>
                <c:pt idx="1">
                  <c:v>0.5811</c:v>
                </c:pt>
                <c:pt idx="2">
                  <c:v>0.6879</c:v>
                </c:pt>
                <c:pt idx="3">
                  <c:v>0.4929</c:v>
                </c:pt>
                <c:pt idx="4">
                  <c:v>0.4409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PhoBERT Multi-task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Giao hàng</c:v>
                </c:pt>
                <c:pt idx="1">
                  <c:v>Giá cả</c:v>
                </c:pt>
                <c:pt idx="2">
                  <c:v>Ứng dụng</c:v>
                </c:pt>
                <c:pt idx="3">
                  <c:v>Sản phẩm</c:v>
                </c:pt>
                <c:pt idx="4">
                  <c:v>Dịch vụ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0.8049</c:v>
                </c:pt>
                <c:pt idx="1">
                  <c:v>0.4174</c:v>
                </c:pt>
                <c:pt idx="2">
                  <c:v>0.6339</c:v>
                </c:pt>
                <c:pt idx="3">
                  <c:v>0.4981</c:v>
                </c:pt>
                <c:pt idx="4">
                  <c:v>0.3784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100">
              <a:solidFill>
                <a:srgbClr val="F1F5F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Aspect F1-micro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 SVM</c:v>
                </c:pt>
                <c:pt idx="1">
                  <c:v>Bi-LSTM</c:v>
                </c:pt>
                <c:pt idx="2">
                  <c:v>PhoBERT Multi-task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0.6238</c:v>
                </c:pt>
                <c:pt idx="1">
                  <c:v>0.6018</c:v>
                </c:pt>
                <c:pt idx="2">
                  <c:v>0.5669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Aspect F1-macro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 SVM</c:v>
                </c:pt>
                <c:pt idx="1">
                  <c:v>Bi-LSTM</c:v>
                </c:pt>
                <c:pt idx="2">
                  <c:v>PhoBERT Multi-task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0.6279</c:v>
                </c:pt>
                <c:pt idx="1">
                  <c:v>0.601</c:v>
                </c:pt>
                <c:pt idx="2">
                  <c:v>0.5465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000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100">
              <a:solidFill>
                <a:srgbClr val="47556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SVM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Giao hàng</c:v>
                </c:pt>
                <c:pt idx="1">
                  <c:v>Giá cả</c:v>
                </c:pt>
                <c:pt idx="2">
                  <c:v>Ứng dụng</c:v>
                </c:pt>
                <c:pt idx="3">
                  <c:v>Sản phẩm</c:v>
                </c:pt>
                <c:pt idx="4">
                  <c:v>Dịch vụ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0.8063</c:v>
                </c:pt>
                <c:pt idx="1">
                  <c:v>0.7327</c:v>
                </c:pt>
                <c:pt idx="2">
                  <c:v>0.6667</c:v>
                </c:pt>
                <c:pt idx="3">
                  <c:v>0.5199</c:v>
                </c:pt>
                <c:pt idx="4">
                  <c:v>0.4138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Bi-LSTM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Giao hàng</c:v>
                </c:pt>
                <c:pt idx="1">
                  <c:v>Giá cả</c:v>
                </c:pt>
                <c:pt idx="2">
                  <c:v>Ứng dụng</c:v>
                </c:pt>
                <c:pt idx="3">
                  <c:v>Sản phẩm</c:v>
                </c:pt>
                <c:pt idx="4">
                  <c:v>Dịch vụ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0.802</c:v>
                </c:pt>
                <c:pt idx="1">
                  <c:v>0.5811</c:v>
                </c:pt>
                <c:pt idx="2">
                  <c:v>0.6879</c:v>
                </c:pt>
                <c:pt idx="3">
                  <c:v>0.4929</c:v>
                </c:pt>
                <c:pt idx="4">
                  <c:v>0.4409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PhoBERT Multi-task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Giao hàng</c:v>
                </c:pt>
                <c:pt idx="1">
                  <c:v>Giá cả</c:v>
                </c:pt>
                <c:pt idx="2">
                  <c:v>Ứng dụng</c:v>
                </c:pt>
                <c:pt idx="3">
                  <c:v>Sản phẩm</c:v>
                </c:pt>
                <c:pt idx="4">
                  <c:v>Dịch vụ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0.8049</c:v>
                </c:pt>
                <c:pt idx="1">
                  <c:v>0.4174</c:v>
                </c:pt>
                <c:pt idx="2">
                  <c:v>0.6339</c:v>
                </c:pt>
                <c:pt idx="3">
                  <c:v>0.4981</c:v>
                </c:pt>
                <c:pt idx="4">
                  <c:v>0.3784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000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100">
              <a:solidFill>
                <a:srgbClr val="47556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C6B2974-A784-44B9-8C10-65671F8DB5B5}"/>
              </a:ext>
            </a:extLst>
          </p:cNvPr>
          <p:cNvSpPr>
            <a:spLocks noGrp="1"/>
          </p:cNvSpPr>
          <p:nvPr/>
        </p:nvSpPr>
        <p:spPr>
          <a:xfrm>
            <a:off x="838200" y="666750"/>
            <a:ext cx="16611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Báo cáo tiến độ khóa luận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E5D258-34B2-456C-9599-6CB94A1FB9FE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2095500" cy="38100"/>
          </a:xfrm>
          <a:prstGeom prst="rect">
            <a:avLst/>
          </a:prstGeom>
          <a:solidFill>
            <a:srgbClr val="0E8C61"/>
          </a:solidFill>
          <a:ln w="0">
            <a:solidFill>
              <a:srgbClr val="0E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1D6AE-29E7-4ADD-A2B2-E638685EA432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64008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Phân tích cảm xúc và ABSA trên review thương mại điện tử tiếng Việt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C07C01-FF56-413E-B352-D63B017E2B7A}"/>
              </a:ext>
            </a:extLst>
          </p:cNvPr>
          <p:cNvSpPr>
            <a:spLocks noGrp="1"/>
          </p:cNvSpPr>
          <p:nvPr/>
        </p:nvSpPr>
        <p:spPr>
          <a:xfrm>
            <a:off x="815816" y="2468880"/>
            <a:ext cx="10636568" cy="7151370"/>
          </a:xfrm>
          <a:prstGeom prst="roundRect">
            <a:avLst>
              <a:gd name="adj" fmla="val 1598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FC64D-D6BC-453B-A181-57E5CDD72029}"/>
              </a:ext>
            </a:extLst>
          </p:cNvPr>
          <p:cNvSpPr>
            <a:spLocks noGrp="1"/>
          </p:cNvSpPr>
          <p:nvPr/>
        </p:nvSpPr>
        <p:spPr>
          <a:xfrm>
            <a:off x="1123950" y="2743200"/>
            <a:ext cx="10058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1F5AA6"/>
                </a:solidFill>
              </a:defRPr>
            </a:pPr>
            <a:r>
              <a:rPr sz="2100" b="1">
                <a:solidFill>
                  <a:srgbClr val="1F5AA6"/>
                </a:solidFill>
              </a:rPr>
              <a:t>Mục tiêu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607E5-5928-480B-9A55-01733EB53DB0}"/>
              </a:ext>
            </a:extLst>
          </p:cNvPr>
          <p:cNvSpPr>
            <a:spLocks noGrp="1"/>
          </p:cNvSpPr>
          <p:nvPr/>
        </p:nvSpPr>
        <p:spPr>
          <a:xfrm>
            <a:off x="1123950" y="3219450"/>
            <a:ext cx="10058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</a:t>
            </a:r>
            <a:r>
              <a:rPr sz="1800" dirty="0" err="1">
                <a:solidFill>
                  <a:srgbClr val="17202A"/>
                </a:solidFill>
              </a:rPr>
              <a:t>Xây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dựng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hệ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thống</a:t>
            </a:r>
            <a:r>
              <a:rPr sz="1800" dirty="0">
                <a:solidFill>
                  <a:srgbClr val="17202A"/>
                </a:solidFill>
              </a:rPr>
              <a:t> sentiment analysis </a:t>
            </a:r>
            <a:r>
              <a:rPr sz="1800" dirty="0" err="1">
                <a:solidFill>
                  <a:srgbClr val="17202A"/>
                </a:solidFill>
              </a:rPr>
              <a:t>và</a:t>
            </a:r>
            <a:r>
              <a:rPr sz="1800" dirty="0">
                <a:solidFill>
                  <a:srgbClr val="17202A"/>
                </a:solidFill>
              </a:rPr>
              <a:t> ABSA </a:t>
            </a:r>
            <a:r>
              <a:rPr sz="1800" dirty="0" err="1">
                <a:solidFill>
                  <a:srgbClr val="17202A"/>
                </a:solidFill>
              </a:rPr>
              <a:t>cho</a:t>
            </a:r>
            <a:r>
              <a:rPr sz="1800" dirty="0">
                <a:solidFill>
                  <a:srgbClr val="17202A"/>
                </a:solidFill>
              </a:rPr>
              <a:t> review TMĐT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6776FB-397E-4D60-B658-F5FC46CB9CD7}"/>
              </a:ext>
            </a:extLst>
          </p:cNvPr>
          <p:cNvSpPr>
            <a:spLocks noGrp="1"/>
          </p:cNvSpPr>
          <p:nvPr/>
        </p:nvSpPr>
        <p:spPr>
          <a:xfrm>
            <a:off x="1123950" y="3619500"/>
            <a:ext cx="10058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</a:t>
            </a:r>
            <a:r>
              <a:rPr sz="1800" dirty="0" err="1">
                <a:solidFill>
                  <a:srgbClr val="17202A"/>
                </a:solidFill>
              </a:rPr>
              <a:t>Đánh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giá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mô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hình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theo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hướng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học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thuật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trên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tập</a:t>
            </a:r>
            <a:r>
              <a:rPr sz="1800" dirty="0">
                <a:solidFill>
                  <a:srgbClr val="17202A"/>
                </a:solidFill>
              </a:rPr>
              <a:t> gold eval </a:t>
            </a:r>
            <a:r>
              <a:rPr sz="1800" dirty="0" err="1">
                <a:solidFill>
                  <a:srgbClr val="17202A"/>
                </a:solidFill>
              </a:rPr>
              <a:t>tách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riêng</a:t>
            </a:r>
            <a:endParaRPr sz="1800" dirty="0">
              <a:solidFill>
                <a:srgbClr val="17202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861265-0414-456D-8504-831A230398B7}"/>
              </a:ext>
            </a:extLst>
          </p:cNvPr>
          <p:cNvSpPr>
            <a:spLocks noGrp="1"/>
          </p:cNvSpPr>
          <p:nvPr/>
        </p:nvSpPr>
        <p:spPr>
          <a:xfrm>
            <a:off x="1123950" y="4000500"/>
            <a:ext cx="10058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</a:t>
            </a:r>
            <a:r>
              <a:rPr sz="1800" dirty="0" err="1">
                <a:solidFill>
                  <a:srgbClr val="17202A"/>
                </a:solidFill>
              </a:rPr>
              <a:t>Triển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khai</a:t>
            </a:r>
            <a:r>
              <a:rPr sz="1800" dirty="0">
                <a:solidFill>
                  <a:srgbClr val="17202A"/>
                </a:solidFill>
              </a:rPr>
              <a:t> API, dashboard, RACE </a:t>
            </a:r>
            <a:r>
              <a:rPr sz="1800" dirty="0" err="1">
                <a:solidFill>
                  <a:srgbClr val="17202A"/>
                </a:solidFill>
              </a:rPr>
              <a:t>và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cảnh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báo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nghiệp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vụ</a:t>
            </a:r>
            <a:endParaRPr sz="1800" dirty="0">
              <a:solidFill>
                <a:srgbClr val="17202A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BDA789-F14E-4266-A57A-819BECE2A649}"/>
              </a:ext>
            </a:extLst>
          </p:cNvPr>
          <p:cNvSpPr>
            <a:spLocks noGrp="1"/>
          </p:cNvSpPr>
          <p:nvPr/>
        </p:nvSpPr>
        <p:spPr>
          <a:xfrm>
            <a:off x="11722418" y="2468880"/>
            <a:ext cx="5727383" cy="7151370"/>
          </a:xfrm>
          <a:prstGeom prst="roundRect">
            <a:avLst>
              <a:gd name="adj" fmla="val 1996"/>
            </a:avLst>
          </a:prstGeom>
          <a:solidFill>
            <a:srgbClr val="DCEFE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6959A7-96AE-49BF-8101-D9D285C50EE4}"/>
              </a:ext>
            </a:extLst>
          </p:cNvPr>
          <p:cNvSpPr>
            <a:spLocks noGrp="1"/>
          </p:cNvSpPr>
          <p:nvPr/>
        </p:nvSpPr>
        <p:spPr>
          <a:xfrm>
            <a:off x="11982450" y="2743200"/>
            <a:ext cx="5200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E8C61"/>
                </a:solidFill>
              </a:defRPr>
            </a:pPr>
            <a:r>
              <a:rPr sz="2100" b="1">
                <a:solidFill>
                  <a:srgbClr val="0E8C61"/>
                </a:solidFill>
              </a:rPr>
              <a:t>Trạng thái hiện tại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B42F6-0284-4269-AFCF-D905FC802A7F}"/>
              </a:ext>
            </a:extLst>
          </p:cNvPr>
          <p:cNvSpPr>
            <a:spLocks noGrp="1"/>
          </p:cNvSpPr>
          <p:nvPr/>
        </p:nvSpPr>
        <p:spPr>
          <a:xfrm>
            <a:off x="11982450" y="3219450"/>
            <a:ext cx="5200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t>Đã hoàn thành tinh chỉnh PhoBERT đa tác vụ trên Kaggle GPU, đạt kết quả thực nghiệm tối ưu và tích hợp chạy live thành công vào Streamlit Dashboard &amp; Flask API.</a:t>
            </a:r>
          </a:p>
        </p:txBody>
      </p:sp>
    </p:spTree>
    <p:extLst>
      <p:ext uri="{BB962C8B-B14F-4D97-AF65-F5344CB8AC3E}">
        <p14:creationId xmlns:p14="http://schemas.microsoft.com/office/powerpoint/2010/main" val="733446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BEBD5DD-9B93-4759-B3F5-1332D3EA76A3}"/>
              </a:ext>
            </a:extLst>
          </p:cNvPr>
          <p:cNvSpPr>
            <a:spLocks noGrp="1"/>
          </p:cNvSpPr>
          <p:nvPr/>
        </p:nvSpPr>
        <p:spPr>
          <a:xfrm>
            <a:off x="838200" y="666750"/>
            <a:ext cx="16611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Những công việc đã hoàn thành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42B12D-2E81-4293-ACB1-C265169114E9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2095500" cy="38100"/>
          </a:xfrm>
          <a:prstGeom prst="rect">
            <a:avLst/>
          </a:prstGeom>
          <a:solidFill>
            <a:srgbClr val="0E8C61"/>
          </a:solidFill>
          <a:ln w="0">
            <a:solidFill>
              <a:srgbClr val="0E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C53176-904D-4E2B-AEC3-67F76E5CB6E0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44386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Tổng hợp các mốc kỹ thuật đã có sẵn trong repo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D5C708-8A1A-48FC-B290-2CFA9D4A4007}"/>
              </a:ext>
            </a:extLst>
          </p:cNvPr>
          <p:cNvSpPr>
            <a:spLocks noGrp="1"/>
          </p:cNvSpPr>
          <p:nvPr/>
        </p:nvSpPr>
        <p:spPr>
          <a:xfrm>
            <a:off x="838200" y="2392680"/>
            <a:ext cx="8191500" cy="2528570"/>
          </a:xfrm>
          <a:prstGeom prst="roundRect">
            <a:avLst>
              <a:gd name="adj" fmla="val 452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93F3-E2D4-40F9-BE44-0E05837289F0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EDA </a:t>
            </a:r>
            <a:r>
              <a:rPr sz="1800" dirty="0" err="1">
                <a:solidFill>
                  <a:srgbClr val="17202A"/>
                </a:solidFill>
              </a:rPr>
              <a:t>và</a:t>
            </a:r>
            <a:r>
              <a:rPr sz="1800" dirty="0">
                <a:solidFill>
                  <a:srgbClr val="17202A"/>
                </a:solidFill>
              </a:rPr>
              <a:t> pipeline </a:t>
            </a:r>
            <a:r>
              <a:rPr sz="1800" dirty="0" err="1">
                <a:solidFill>
                  <a:srgbClr val="17202A"/>
                </a:solidFill>
              </a:rPr>
              <a:t>tiền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xử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lý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tiếng</a:t>
            </a:r>
            <a:r>
              <a:rPr sz="1800" dirty="0">
                <a:solidFill>
                  <a:srgbClr val="17202A"/>
                </a:solidFill>
              </a:rPr>
              <a:t> Việt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90821-C222-4298-A0C7-72F232F3F6E9}"/>
              </a:ext>
            </a:extLst>
          </p:cNvPr>
          <p:cNvSpPr>
            <a:spLocks noGrp="1"/>
          </p:cNvSpPr>
          <p:nvPr/>
        </p:nvSpPr>
        <p:spPr>
          <a:xfrm>
            <a:off x="1066800" y="2990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Regex clean, </a:t>
            </a:r>
            <a:r>
              <a:rPr sz="1800" dirty="0" err="1">
                <a:solidFill>
                  <a:srgbClr val="17202A"/>
                </a:solidFill>
              </a:rPr>
              <a:t>chuẩn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hóa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viết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tắt</a:t>
            </a:r>
            <a:r>
              <a:rPr sz="1800" dirty="0">
                <a:solidFill>
                  <a:srgbClr val="17202A"/>
                </a:solidFill>
              </a:rPr>
              <a:t>, emoji, fallback segmentation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64AFB0-E3BB-4E35-ACB5-7D35F1CD3304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Dataset </a:t>
            </a:r>
            <a:r>
              <a:rPr sz="1800" dirty="0" err="1">
                <a:solidFill>
                  <a:srgbClr val="17202A"/>
                </a:solidFill>
              </a:rPr>
              <a:t>gốc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từ</a:t>
            </a:r>
            <a:r>
              <a:rPr sz="1800" dirty="0">
                <a:solidFill>
                  <a:srgbClr val="17202A"/>
                </a:solidFill>
              </a:rPr>
              <a:t> vietnamese_ecommerce_review.csv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BDD3C1-E37B-4B72-8673-D40DB4AE4318}"/>
              </a:ext>
            </a:extLst>
          </p:cNvPr>
          <p:cNvSpPr>
            <a:spLocks noGrp="1"/>
          </p:cNvSpPr>
          <p:nvPr/>
        </p:nvSpPr>
        <p:spPr>
          <a:xfrm>
            <a:off x="9258300" y="2392680"/>
            <a:ext cx="8191500" cy="2528570"/>
          </a:xfrm>
          <a:prstGeom prst="roundRect">
            <a:avLst>
              <a:gd name="adj" fmla="val 452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8BA7F-52A2-4056-B138-615E62087407}"/>
              </a:ext>
            </a:extLst>
          </p:cNvPr>
          <p:cNvSpPr>
            <a:spLocks noGrp="1"/>
          </p:cNvSpPr>
          <p:nvPr/>
        </p:nvSpPr>
        <p:spPr>
          <a:xfrm>
            <a:off x="9486900" y="2609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Baseline sentiment: Naive Bayes và SVM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701F57-A397-493B-8273-F6847DB535B6}"/>
              </a:ext>
            </a:extLst>
          </p:cNvPr>
          <p:cNvSpPr>
            <a:spLocks noGrp="1"/>
          </p:cNvSpPr>
          <p:nvPr/>
        </p:nvSpPr>
        <p:spPr>
          <a:xfrm>
            <a:off x="9486900" y="2990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Gold eval 250 dòng đã được rà soát và tách riêng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E118CA-383A-458A-B29A-8D31A3A5D602}"/>
              </a:ext>
            </a:extLst>
          </p:cNvPr>
          <p:cNvSpPr>
            <a:spLocks noGrp="1"/>
          </p:cNvSpPr>
          <p:nvPr/>
        </p:nvSpPr>
        <p:spPr>
          <a:xfrm>
            <a:off x="9486900" y="3371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Working train set 779 dòng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C22BC9-AE0F-4EB5-9721-BB289C6F0315}"/>
              </a:ext>
            </a:extLst>
          </p:cNvPr>
          <p:cNvSpPr>
            <a:spLocks noGrp="1"/>
          </p:cNvSpPr>
          <p:nvPr/>
        </p:nvSpPr>
        <p:spPr>
          <a:xfrm>
            <a:off x="838200" y="5130800"/>
            <a:ext cx="8191500" cy="2528570"/>
          </a:xfrm>
          <a:prstGeom prst="roundRect">
            <a:avLst>
              <a:gd name="adj" fmla="val 4520"/>
            </a:avLst>
          </a:prstGeom>
          <a:solidFill>
            <a:srgbClr val="FFFF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A5C26-9D64-4EB4-9467-95B88B15079F}"/>
              </a:ext>
            </a:extLst>
          </p:cNvPr>
          <p:cNvSpPr>
            <a:spLocks noGrp="1"/>
          </p:cNvSpPr>
          <p:nvPr/>
        </p:nvSpPr>
        <p:spPr>
          <a:xfrm>
            <a:off x="1066800" y="53340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Workflow ABSA: batch annotate, prefill, merge, review priority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6C1DB7-9D9E-4CDA-8236-6D1F5825EBEC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ABSA baseline train/eval </a:t>
            </a:r>
            <a:r>
              <a:rPr sz="1800" dirty="0" err="1">
                <a:solidFill>
                  <a:srgbClr val="17202A"/>
                </a:solidFill>
              </a:rPr>
              <a:t>theo</a:t>
            </a:r>
            <a:r>
              <a:rPr sz="1800" dirty="0">
                <a:solidFill>
                  <a:srgbClr val="17202A"/>
                </a:solidFill>
              </a:rPr>
              <a:t> split </a:t>
            </a:r>
            <a:r>
              <a:rPr sz="1800" dirty="0" err="1">
                <a:solidFill>
                  <a:srgbClr val="17202A"/>
                </a:solidFill>
              </a:rPr>
              <a:t>tách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riêng</a:t>
            </a:r>
            <a:endParaRPr sz="1800" dirty="0">
              <a:solidFill>
                <a:srgbClr val="17202A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8BC7BF-165E-477B-9CFF-572D9E349C4D}"/>
              </a:ext>
            </a:extLst>
          </p:cNvPr>
          <p:cNvSpPr>
            <a:spLocks noGrp="1"/>
          </p:cNvSpPr>
          <p:nvPr/>
        </p:nvSpPr>
        <p:spPr>
          <a:xfrm>
            <a:off x="9258300" y="5130800"/>
            <a:ext cx="8191500" cy="2528570"/>
          </a:xfrm>
          <a:prstGeom prst="roundRect">
            <a:avLst>
              <a:gd name="adj" fmla="val 452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52FF63-EA01-4966-96A2-24A61336688B}"/>
              </a:ext>
            </a:extLst>
          </p:cNvPr>
          <p:cNvSpPr>
            <a:spLocks noGrp="1"/>
          </p:cNvSpPr>
          <p:nvPr/>
        </p:nvSpPr>
        <p:spPr>
          <a:xfrm>
            <a:off x="9486900" y="53340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API Flask </a:t>
            </a:r>
            <a:r>
              <a:rPr sz="1800" dirty="0" err="1">
                <a:solidFill>
                  <a:srgbClr val="17202A"/>
                </a:solidFill>
              </a:rPr>
              <a:t>và</a:t>
            </a:r>
            <a:r>
              <a:rPr sz="1800" dirty="0">
                <a:solidFill>
                  <a:srgbClr val="17202A"/>
                </a:solidFill>
              </a:rPr>
              <a:t> dashboard </a:t>
            </a:r>
            <a:r>
              <a:rPr sz="1800" dirty="0" err="1">
                <a:solidFill>
                  <a:srgbClr val="17202A"/>
                </a:solidFill>
              </a:rPr>
              <a:t>Streamlit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đã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chạy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được</a:t>
            </a:r>
            <a:endParaRPr sz="1800" dirty="0">
              <a:solidFill>
                <a:srgbClr val="17202A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B133E-77DD-4A87-8166-A68B62DFA5AC}"/>
              </a:ext>
            </a:extLst>
          </p:cNvPr>
          <p:cNvSpPr>
            <a:spLocks noGrp="1"/>
          </p:cNvSpPr>
          <p:nvPr/>
        </p:nvSpPr>
        <p:spPr>
          <a:xfrm>
            <a:off x="9486900" y="57340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t>• Tích hợp live thành công mô hình PhoBERT PyTorch vào Web Dashboard &amp; Flask API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8B4630-9F20-4649-9C8F-6A0B62378049}"/>
              </a:ext>
            </a:extLst>
          </p:cNvPr>
          <p:cNvSpPr>
            <a:spLocks noGrp="1"/>
          </p:cNvSpPr>
          <p:nvPr/>
        </p:nvSpPr>
        <p:spPr>
          <a:xfrm>
            <a:off x="9486900" y="61150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</a:t>
            </a:r>
            <a:r>
              <a:rPr sz="1800" dirty="0" err="1">
                <a:solidFill>
                  <a:srgbClr val="17202A"/>
                </a:solidFill>
              </a:rPr>
              <a:t>Có</a:t>
            </a:r>
            <a:r>
              <a:rPr sz="1800" dirty="0">
                <a:solidFill>
                  <a:srgbClr val="17202A"/>
                </a:solidFill>
              </a:rPr>
              <a:t> fallback rule-based </a:t>
            </a:r>
            <a:r>
              <a:rPr sz="1800" dirty="0" err="1">
                <a:solidFill>
                  <a:srgbClr val="17202A"/>
                </a:solidFill>
              </a:rPr>
              <a:t>khi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cần</a:t>
            </a:r>
            <a:endParaRPr sz="1800" dirty="0">
              <a:solidFill>
                <a:srgbClr val="17202A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F0868E1-A268-464B-BF13-FDE126652F25}"/>
              </a:ext>
            </a:extLst>
          </p:cNvPr>
          <p:cNvSpPr>
            <a:spLocks noGrp="1"/>
          </p:cNvSpPr>
          <p:nvPr/>
        </p:nvSpPr>
        <p:spPr>
          <a:xfrm>
            <a:off x="838200" y="7868920"/>
            <a:ext cx="16611600" cy="1751330"/>
          </a:xfrm>
          <a:prstGeom prst="roundRect">
            <a:avLst>
              <a:gd name="adj" fmla="val 6526"/>
            </a:avLst>
          </a:prstGeom>
          <a:solidFill>
            <a:srgbClr val="DFEAF8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FB0F6A-A1AA-4F5C-BA37-34057A17EA16}"/>
              </a:ext>
            </a:extLst>
          </p:cNvPr>
          <p:cNvSpPr>
            <a:spLocks noGrp="1"/>
          </p:cNvSpPr>
          <p:nvPr/>
        </p:nvSpPr>
        <p:spPr>
          <a:xfrm>
            <a:off x="1066800" y="8077200"/>
            <a:ext cx="1615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t>• Đã tinh chỉnh thành công PhoBERT trên GPU T4, đạt Aspect F1 0.5669 và Sentiment F1 0.5819</a:t>
            </a:r>
          </a:p>
        </p:txBody>
      </p:sp>
    </p:spTree>
    <p:extLst>
      <p:ext uri="{BB962C8B-B14F-4D97-AF65-F5344CB8AC3E}">
        <p14:creationId xmlns:p14="http://schemas.microsoft.com/office/powerpoint/2010/main" val="23303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B463DB6-D8B5-4E32-8426-ECBDC5C050A3}"/>
              </a:ext>
            </a:extLst>
          </p:cNvPr>
          <p:cNvSpPr>
            <a:spLocks noGrp="1"/>
          </p:cNvSpPr>
          <p:nvPr/>
        </p:nvSpPr>
        <p:spPr>
          <a:xfrm>
            <a:off x="838200" y="666750"/>
            <a:ext cx="16611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Dữ liệu và quy trình đánh giá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57999E-28E4-473D-919C-72E4D272AFB2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2095500" cy="38100"/>
          </a:xfrm>
          <a:prstGeom prst="rect">
            <a:avLst/>
          </a:prstGeom>
          <a:solidFill>
            <a:srgbClr val="0E8C61"/>
          </a:solidFill>
          <a:ln w="0">
            <a:solidFill>
              <a:srgbClr val="0E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196244-D31A-4A3C-9F88-D322D4D31798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829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Tách rõ training set và gold evaluation 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3425E3-5ED7-45DE-B5F4-E32F81EE78AA}"/>
              </a:ext>
            </a:extLst>
          </p:cNvPr>
          <p:cNvSpPr>
            <a:spLocks noGrp="1"/>
          </p:cNvSpPr>
          <p:nvPr/>
        </p:nvSpPr>
        <p:spPr>
          <a:xfrm>
            <a:off x="838200" y="2099310"/>
            <a:ext cx="5384800" cy="2286000"/>
          </a:xfrm>
          <a:prstGeom prst="roundRect">
            <a:avLst>
              <a:gd name="adj" fmla="val 5000"/>
            </a:avLst>
          </a:prstGeom>
          <a:solidFill>
            <a:srgbClr val="DFEAF8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41A8D0-629F-4878-ADDF-D09E0DED0798}"/>
              </a:ext>
            </a:extLst>
          </p:cNvPr>
          <p:cNvSpPr>
            <a:spLocks noGrp="1"/>
          </p:cNvSpPr>
          <p:nvPr/>
        </p:nvSpPr>
        <p:spPr>
          <a:xfrm>
            <a:off x="1085850" y="23241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5AA6"/>
                </a:solidFill>
              </a:defRPr>
            </a:pPr>
            <a:r>
              <a:rPr sz="1350" b="1">
                <a:solidFill>
                  <a:srgbClr val="1F5AA6"/>
                </a:solidFill>
              </a:rPr>
              <a:t>Working train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18BBFF-431F-4671-9FA0-435EA1ED43E9}"/>
              </a:ext>
            </a:extLst>
          </p:cNvPr>
          <p:cNvSpPr>
            <a:spLocks noGrp="1"/>
          </p:cNvSpPr>
          <p:nvPr/>
        </p:nvSpPr>
        <p:spPr>
          <a:xfrm>
            <a:off x="1085850" y="25908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779 dòng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016837-5D91-4F89-BA9F-DA89001A2622}"/>
              </a:ext>
            </a:extLst>
          </p:cNvPr>
          <p:cNvSpPr>
            <a:spLocks noGrp="1"/>
          </p:cNvSpPr>
          <p:nvPr/>
        </p:nvSpPr>
        <p:spPr>
          <a:xfrm>
            <a:off x="1085850" y="30670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Tập huấn luyện ABSA hiện tại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A57A00-1B0A-44DB-92F4-17C4A6AC91B3}"/>
              </a:ext>
            </a:extLst>
          </p:cNvPr>
          <p:cNvSpPr>
            <a:spLocks noGrp="1"/>
          </p:cNvSpPr>
          <p:nvPr/>
        </p:nvSpPr>
        <p:spPr>
          <a:xfrm>
            <a:off x="6451600" y="2099310"/>
            <a:ext cx="5384800" cy="2286000"/>
          </a:xfrm>
          <a:prstGeom prst="roundRect">
            <a:avLst>
              <a:gd name="adj" fmla="val 5000"/>
            </a:avLst>
          </a:prstGeom>
          <a:solidFill>
            <a:srgbClr val="DCEFE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30BA22-5208-4549-A055-DAD4CA1B0DDB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E8C61"/>
                </a:solidFill>
              </a:defRPr>
            </a:pPr>
            <a:r>
              <a:rPr sz="1350" b="1">
                <a:solidFill>
                  <a:srgbClr val="0E8C61"/>
                </a:solidFill>
              </a:rPr>
              <a:t>Gold eval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F86123-92E8-46F1-A2FA-82513D3203D6}"/>
              </a:ext>
            </a:extLst>
          </p:cNvPr>
          <p:cNvSpPr>
            <a:spLocks noGrp="1"/>
          </p:cNvSpPr>
          <p:nvPr/>
        </p:nvSpPr>
        <p:spPr>
          <a:xfrm>
            <a:off x="6705600" y="25908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250 dòng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2C0ED2-6435-46B7-851A-8888DDA47B7A}"/>
              </a:ext>
            </a:extLst>
          </p:cNvPr>
          <p:cNvSpPr>
            <a:spLocks noGrp="1"/>
          </p:cNvSpPr>
          <p:nvPr/>
        </p:nvSpPr>
        <p:spPr>
          <a:xfrm>
            <a:off x="6705600" y="30670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Tập đánh giá đã được rà soát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7F14CB-D86E-4826-B8E6-58CB385935CF}"/>
              </a:ext>
            </a:extLst>
          </p:cNvPr>
          <p:cNvSpPr>
            <a:spLocks noGrp="1"/>
          </p:cNvSpPr>
          <p:nvPr/>
        </p:nvSpPr>
        <p:spPr>
          <a:xfrm>
            <a:off x="12065000" y="2099310"/>
            <a:ext cx="5384800" cy="2286000"/>
          </a:xfrm>
          <a:prstGeom prst="roundRect">
            <a:avLst>
              <a:gd name="adj" fmla="val 5000"/>
            </a:avLst>
          </a:prstGeom>
          <a:solidFill>
            <a:srgbClr val="F7E7D5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229D6A-C691-4FF7-8948-F7C3A6C31E15}"/>
              </a:ext>
            </a:extLst>
          </p:cNvPr>
          <p:cNvSpPr>
            <a:spLocks noGrp="1"/>
          </p:cNvSpPr>
          <p:nvPr/>
        </p:nvSpPr>
        <p:spPr>
          <a:xfrm>
            <a:off x="12306300" y="23241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A65B18"/>
                </a:solidFill>
              </a:defRPr>
            </a:pPr>
            <a:r>
              <a:rPr sz="1350" b="1">
                <a:solidFill>
                  <a:srgbClr val="A65B18"/>
                </a:solidFill>
              </a:rPr>
              <a:t>Tổng ABSA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71A12-F9B8-44DA-9ECB-DFFBD55B1DD8}"/>
              </a:ext>
            </a:extLst>
          </p:cNvPr>
          <p:cNvSpPr>
            <a:spLocks noGrp="1"/>
          </p:cNvSpPr>
          <p:nvPr/>
        </p:nvSpPr>
        <p:spPr>
          <a:xfrm>
            <a:off x="12306300" y="25908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1029 dòng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12541-25DF-4D14-8A57-07D428923C66}"/>
              </a:ext>
            </a:extLst>
          </p:cNvPr>
          <p:cNvSpPr>
            <a:spLocks noGrp="1"/>
          </p:cNvSpPr>
          <p:nvPr/>
        </p:nvSpPr>
        <p:spPr>
          <a:xfrm>
            <a:off x="12306300" y="30670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Tập nhãn aspect dùng cho workflow hiện tại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66194F-030B-4D23-BF32-3A0C98E096E2}"/>
              </a:ext>
            </a:extLst>
          </p:cNvPr>
          <p:cNvSpPr>
            <a:spLocks noGrp="1"/>
          </p:cNvSpPr>
          <p:nvPr/>
        </p:nvSpPr>
        <p:spPr>
          <a:xfrm>
            <a:off x="838200" y="4690110"/>
            <a:ext cx="8191500" cy="4930140"/>
          </a:xfrm>
          <a:prstGeom prst="roundRect">
            <a:avLst>
              <a:gd name="adj" fmla="val 2318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D483CD-5088-4BF7-80D5-185655444B31}"/>
              </a:ext>
            </a:extLst>
          </p:cNvPr>
          <p:cNvSpPr>
            <a:spLocks noGrp="1"/>
          </p:cNvSpPr>
          <p:nvPr/>
        </p:nvSpPr>
        <p:spPr>
          <a:xfrm>
            <a:off x="1085850" y="4914900"/>
            <a:ext cx="76962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E8C61"/>
                </a:solidFill>
              </a:defRPr>
            </a:pPr>
            <a:r>
              <a:rPr sz="2100" b="1">
                <a:solidFill>
                  <a:srgbClr val="0E8C61"/>
                </a:solidFill>
              </a:rPr>
              <a:t>Workflow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1E760E-F5CB-4587-85D3-975D8FBBAFE7}"/>
              </a:ext>
            </a:extLst>
          </p:cNvPr>
          <p:cNvSpPr>
            <a:spLocks noGrp="1"/>
          </p:cNvSpPr>
          <p:nvPr/>
        </p:nvSpPr>
        <p:spPr>
          <a:xfrm>
            <a:off x="1085850" y="5391150"/>
            <a:ext cx="7696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Gold eval review queue đã được rà hết 250 dòng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90B81A-A878-49D4-8F66-10AE111E76DB}"/>
              </a:ext>
            </a:extLst>
          </p:cNvPr>
          <p:cNvSpPr>
            <a:spLocks noGrp="1"/>
          </p:cNvSpPr>
          <p:nvPr/>
        </p:nvSpPr>
        <p:spPr>
          <a:xfrm>
            <a:off x="1085850" y="5772150"/>
            <a:ext cx="7696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Train trên working_train.csv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D9246A-4647-416E-BC3A-357D328EDDCE}"/>
              </a:ext>
            </a:extLst>
          </p:cNvPr>
          <p:cNvSpPr>
            <a:spLocks noGrp="1"/>
          </p:cNvSpPr>
          <p:nvPr/>
        </p:nvSpPr>
        <p:spPr>
          <a:xfrm>
            <a:off x="1085850" y="6172200"/>
            <a:ext cx="7696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Evaluate trên absa_gold_eval.csv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D8999A-453E-4622-9674-C4484A0FF341}"/>
              </a:ext>
            </a:extLst>
          </p:cNvPr>
          <p:cNvSpPr>
            <a:spLocks noGrp="1"/>
          </p:cNvSpPr>
          <p:nvPr/>
        </p:nvSpPr>
        <p:spPr>
          <a:xfrm>
            <a:off x="1085850" y="6553200"/>
            <a:ext cx="7696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Không dùng random split trên cả tập 1029 dòng nữa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E6F0755-EF8D-46E4-9CCB-9D78E7B965B7}"/>
              </a:ext>
            </a:extLst>
          </p:cNvPr>
          <p:cNvSpPr>
            <a:spLocks noGrp="1"/>
          </p:cNvSpPr>
          <p:nvPr/>
        </p:nvSpPr>
        <p:spPr>
          <a:xfrm>
            <a:off x="9258300" y="4690110"/>
            <a:ext cx="8191500" cy="4930140"/>
          </a:xfrm>
          <a:prstGeom prst="roundRect">
            <a:avLst>
              <a:gd name="adj" fmla="val 2318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0B5271-F213-4B9A-8F56-1CD437673C53}"/>
              </a:ext>
            </a:extLst>
          </p:cNvPr>
          <p:cNvSpPr>
            <a:spLocks noGrp="1"/>
          </p:cNvSpPr>
          <p:nvPr/>
        </p:nvSpPr>
        <p:spPr>
          <a:xfrm>
            <a:off x="9505950" y="4914900"/>
            <a:ext cx="76962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Ý nghĩa học thuật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635F77-E2B3-4B44-AD94-646B2A61D3CA}"/>
              </a:ext>
            </a:extLst>
          </p:cNvPr>
          <p:cNvSpPr>
            <a:spLocks noGrp="1"/>
          </p:cNvSpPr>
          <p:nvPr/>
        </p:nvSpPr>
        <p:spPr>
          <a:xfrm>
            <a:off x="9505950" y="5391150"/>
            <a:ext cx="7696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Đánh giá hiện tại khó hơn và thực hơn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759665-2D2A-473D-B366-E04513409859}"/>
              </a:ext>
            </a:extLst>
          </p:cNvPr>
          <p:cNvSpPr>
            <a:spLocks noGrp="1"/>
          </p:cNvSpPr>
          <p:nvPr/>
        </p:nvSpPr>
        <p:spPr>
          <a:xfrm>
            <a:off x="9505950" y="5772150"/>
            <a:ext cx="7696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Cho phép so sánh mô hình công bằng hơn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A0BB07-BDE1-4AF9-835F-F64B3868ACC9}"/>
              </a:ext>
            </a:extLst>
          </p:cNvPr>
          <p:cNvSpPr>
            <a:spLocks noGrp="1"/>
          </p:cNvSpPr>
          <p:nvPr/>
        </p:nvSpPr>
        <p:spPr>
          <a:xfrm>
            <a:off x="9505950" y="6172200"/>
            <a:ext cx="7696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Xác định rõ các aspect yếu: product, service, app</a:t>
            </a:r>
          </a:p>
        </p:txBody>
      </p:sp>
    </p:spTree>
    <p:extLst>
      <p:ext uri="{BB962C8B-B14F-4D97-AF65-F5344CB8AC3E}">
        <p14:creationId xmlns:p14="http://schemas.microsoft.com/office/powerpoint/2010/main" val="92197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D779524-CE54-46BC-884F-60A2DA47E13B}"/>
              </a:ext>
            </a:extLst>
          </p:cNvPr>
          <p:cNvSpPr>
            <a:spLocks noGrp="1"/>
          </p:cNvSpPr>
          <p:nvPr/>
        </p:nvSpPr>
        <p:spPr>
          <a:xfrm>
            <a:off x="838200" y="666750"/>
            <a:ext cx="16611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Kết quả baseline hiện tại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8BCAF-9550-44CD-A85C-276B23F7BA85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2095500" cy="38100"/>
          </a:xfrm>
          <a:prstGeom prst="rect">
            <a:avLst/>
          </a:prstGeom>
          <a:solidFill>
            <a:srgbClr val="0E8C61"/>
          </a:solidFill>
          <a:ln w="0">
            <a:solidFill>
              <a:srgbClr val="0E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D8DD97-8C20-4BFE-A1AB-8427BDF5165C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45148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Mốc thực nghiệm sau khi đánh giá trên gold eval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FA4A2B-CF0B-457F-BD8F-11AA63EC19BF}"/>
              </a:ext>
            </a:extLst>
          </p:cNvPr>
          <p:cNvSpPr>
            <a:spLocks noGrp="1"/>
          </p:cNvSpPr>
          <p:nvPr/>
        </p:nvSpPr>
        <p:spPr>
          <a:xfrm>
            <a:off x="838200" y="2023110"/>
            <a:ext cx="5397500" cy="1323975"/>
          </a:xfrm>
          <a:prstGeom prst="roundRect">
            <a:avLst>
              <a:gd name="adj" fmla="val 8633"/>
            </a:avLst>
          </a:prstGeom>
          <a:solidFill>
            <a:srgbClr val="DFEAF8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371414-1DD2-4485-8269-D3A82406FBF1}"/>
              </a:ext>
            </a:extLst>
          </p:cNvPr>
          <p:cNvSpPr>
            <a:spLocks noGrp="1"/>
          </p:cNvSpPr>
          <p:nvPr/>
        </p:nvSpPr>
        <p:spPr>
          <a:xfrm>
            <a:off x="1085850" y="22479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5AA6"/>
                </a:solidFill>
              </a:defRPr>
            </a:pPr>
            <a:r>
              <a:rPr sz="1350" b="1" dirty="0">
                <a:solidFill>
                  <a:srgbClr val="1F5AA6"/>
                </a:solidFill>
              </a:rPr>
              <a:t>Sentiment SVM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9509C-48A1-4262-A8C8-146F42DBAB7B}"/>
              </a:ext>
            </a:extLst>
          </p:cNvPr>
          <p:cNvSpPr>
            <a:spLocks noGrp="1"/>
          </p:cNvSpPr>
          <p:nvPr/>
        </p:nvSpPr>
        <p:spPr>
          <a:xfrm>
            <a:off x="1085850" y="25146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 dirty="0">
                <a:solidFill>
                  <a:srgbClr val="17202A"/>
                </a:solidFill>
              </a:rPr>
              <a:t>Macro F1 0.6210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0BD26B-889A-4CA2-A929-A8C5BB89EBE1}"/>
              </a:ext>
            </a:extLst>
          </p:cNvPr>
          <p:cNvSpPr>
            <a:spLocks noGrp="1"/>
          </p:cNvSpPr>
          <p:nvPr/>
        </p:nvSpPr>
        <p:spPr>
          <a:xfrm>
            <a:off x="1085850" y="29908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 dirty="0">
                <a:solidFill>
                  <a:srgbClr val="4B5563"/>
                </a:solidFill>
              </a:rPr>
              <a:t>Baseline sentiment </a:t>
            </a:r>
            <a:r>
              <a:rPr sz="1050" dirty="0" err="1">
                <a:solidFill>
                  <a:srgbClr val="4B5563"/>
                </a:solidFill>
              </a:rPr>
              <a:t>tốt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nhất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hiện</a:t>
            </a:r>
            <a:r>
              <a:rPr sz="1050" dirty="0">
                <a:solidFill>
                  <a:srgbClr val="4B5563"/>
                </a:solidFill>
              </a:rPr>
              <a:t> </a:t>
            </a:r>
            <a:r>
              <a:rPr sz="1050" dirty="0" err="1">
                <a:solidFill>
                  <a:srgbClr val="4B5563"/>
                </a:solidFill>
              </a:rPr>
              <a:t>tại</a:t>
            </a:r>
            <a:endParaRPr sz="1050" dirty="0">
              <a:solidFill>
                <a:srgbClr val="4B5563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A925C9-8809-498E-B0DE-B5DCDE9ED5C3}"/>
              </a:ext>
            </a:extLst>
          </p:cNvPr>
          <p:cNvSpPr>
            <a:spLocks noGrp="1"/>
          </p:cNvSpPr>
          <p:nvPr/>
        </p:nvSpPr>
        <p:spPr>
          <a:xfrm>
            <a:off x="6445250" y="2023110"/>
            <a:ext cx="5397500" cy="1323975"/>
          </a:xfrm>
          <a:prstGeom prst="roundRect">
            <a:avLst>
              <a:gd name="adj" fmla="val 8633"/>
            </a:avLst>
          </a:prstGeom>
          <a:solidFill>
            <a:srgbClr val="DCEFE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3D9CF0-8F59-4B48-BE21-8639DAABA489}"/>
              </a:ext>
            </a:extLst>
          </p:cNvPr>
          <p:cNvSpPr>
            <a:spLocks noGrp="1"/>
          </p:cNvSpPr>
          <p:nvPr/>
        </p:nvSpPr>
        <p:spPr>
          <a:xfrm>
            <a:off x="6686550" y="22479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E8C61"/>
                </a:solidFill>
              </a:defRPr>
            </a:pPr>
            <a:r>
              <a:rPr sz="1350" b="1">
                <a:solidFill>
                  <a:srgbClr val="0E8C61"/>
                </a:solidFill>
              </a:rPr>
              <a:t>ABSA 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503116-8D2E-4BB7-A1A0-F4242D4569F4}"/>
              </a:ext>
            </a:extLst>
          </p:cNvPr>
          <p:cNvSpPr>
            <a:spLocks noGrp="1"/>
          </p:cNvSpPr>
          <p:nvPr/>
        </p:nvSpPr>
        <p:spPr>
          <a:xfrm>
            <a:off x="6686550" y="25146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 dirty="0">
                <a:solidFill>
                  <a:srgbClr val="17202A"/>
                </a:solidFill>
              </a:rPr>
              <a:t>Micro F1 0.6238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725694-BE5B-47F1-8946-C6BF1E0A21FC}"/>
              </a:ext>
            </a:extLst>
          </p:cNvPr>
          <p:cNvSpPr>
            <a:spLocks noGrp="1"/>
          </p:cNvSpPr>
          <p:nvPr/>
        </p:nvSpPr>
        <p:spPr>
          <a:xfrm>
            <a:off x="6686550" y="29908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TF-IDF + SVM trên gold eval 250 dòng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282F93-6CA0-476A-B7EE-2CF313C5E749}"/>
              </a:ext>
            </a:extLst>
          </p:cNvPr>
          <p:cNvSpPr>
            <a:spLocks noGrp="1"/>
          </p:cNvSpPr>
          <p:nvPr/>
        </p:nvSpPr>
        <p:spPr>
          <a:xfrm>
            <a:off x="12052300" y="2023110"/>
            <a:ext cx="5397500" cy="1323975"/>
          </a:xfrm>
          <a:prstGeom prst="roundRect">
            <a:avLst>
              <a:gd name="adj" fmla="val 8633"/>
            </a:avLst>
          </a:prstGeom>
          <a:solidFill>
            <a:srgbClr val="F7E7D5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12FEB1-2C59-46AA-B72F-70B369B8E8E8}"/>
              </a:ext>
            </a:extLst>
          </p:cNvPr>
          <p:cNvSpPr>
            <a:spLocks noGrp="1"/>
          </p:cNvSpPr>
          <p:nvPr/>
        </p:nvSpPr>
        <p:spPr>
          <a:xfrm>
            <a:off x="12306300" y="22479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A65B18"/>
                </a:solidFill>
              </a:defRPr>
            </a:pPr>
            <a:r>
              <a:rPr sz="1350" b="1">
                <a:solidFill>
                  <a:srgbClr val="A65B18"/>
                </a:solidFill>
              </a:rPr>
              <a:t>ABSA Baseline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C11988-26A8-497B-95CA-BDCF0F085B60}"/>
              </a:ext>
            </a:extLst>
          </p:cNvPr>
          <p:cNvSpPr>
            <a:spLocks noGrp="1"/>
          </p:cNvSpPr>
          <p:nvPr/>
        </p:nvSpPr>
        <p:spPr>
          <a:xfrm>
            <a:off x="12306300" y="25146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 dirty="0">
                <a:solidFill>
                  <a:srgbClr val="17202A"/>
                </a:solidFill>
              </a:rPr>
              <a:t>Macro F1 0.6279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DC95BE-E926-4B38-8AE1-1E37405F13D0}"/>
              </a:ext>
            </a:extLst>
          </p:cNvPr>
          <p:cNvSpPr>
            <a:spLocks noGrp="1"/>
          </p:cNvSpPr>
          <p:nvPr/>
        </p:nvSpPr>
        <p:spPr>
          <a:xfrm>
            <a:off x="12306300" y="29908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Mốc tham chiếu chính cho deep learning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A53D11-7298-4BF0-AC62-B95938618A58}"/>
              </a:ext>
            </a:extLst>
          </p:cNvPr>
          <p:cNvSpPr>
            <a:spLocks noGrp="1"/>
          </p:cNvSpPr>
          <p:nvPr/>
        </p:nvSpPr>
        <p:spPr>
          <a:xfrm>
            <a:off x="838200" y="3556635"/>
            <a:ext cx="5397500" cy="1323975"/>
          </a:xfrm>
          <a:prstGeom prst="roundRect">
            <a:avLst>
              <a:gd name="adj" fmla="val 8633"/>
            </a:avLst>
          </a:prstGeom>
          <a:solidFill>
            <a:srgbClr val="DCEFE7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ABEC77-8F87-4836-A1A9-EC2A7A18685A}"/>
              </a:ext>
            </a:extLst>
          </p:cNvPr>
          <p:cNvSpPr>
            <a:spLocks noGrp="1"/>
          </p:cNvSpPr>
          <p:nvPr/>
        </p:nvSpPr>
        <p:spPr>
          <a:xfrm>
            <a:off x="1085850" y="379095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E8C61"/>
                </a:solidFill>
              </a:defRPr>
            </a:pPr>
            <a:r>
              <a:rPr sz="1350" b="1">
                <a:solidFill>
                  <a:srgbClr val="0E8C61"/>
                </a:solidFill>
              </a:rPr>
              <a:t>Delivery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74EC8F-436B-4529-B449-6A772739C4B0}"/>
              </a:ext>
            </a:extLst>
          </p:cNvPr>
          <p:cNvSpPr>
            <a:spLocks noGrp="1"/>
          </p:cNvSpPr>
          <p:nvPr/>
        </p:nvSpPr>
        <p:spPr>
          <a:xfrm>
            <a:off x="1085850" y="405765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F1 0.8063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2733FB-2C54-4D0A-B8B4-CE5F0A529F8B}"/>
              </a:ext>
            </a:extLst>
          </p:cNvPr>
          <p:cNvSpPr>
            <a:spLocks noGrp="1"/>
          </p:cNvSpPr>
          <p:nvPr/>
        </p:nvSpPr>
        <p:spPr>
          <a:xfrm>
            <a:off x="1085850" y="45148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Aspect mạnh nhất hiện tại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14F5F31-42C2-4B73-BA8B-173BF76F01B3}"/>
              </a:ext>
            </a:extLst>
          </p:cNvPr>
          <p:cNvSpPr>
            <a:spLocks noGrp="1"/>
          </p:cNvSpPr>
          <p:nvPr/>
        </p:nvSpPr>
        <p:spPr>
          <a:xfrm>
            <a:off x="6445250" y="3556635"/>
            <a:ext cx="5397500" cy="1323975"/>
          </a:xfrm>
          <a:prstGeom prst="roundRect">
            <a:avLst>
              <a:gd name="adj" fmla="val 8633"/>
            </a:avLst>
          </a:prstGeom>
          <a:solidFill>
            <a:srgbClr val="DFEAF8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418F17-F413-466C-95A1-95BB072DEBF6}"/>
              </a:ext>
            </a:extLst>
          </p:cNvPr>
          <p:cNvSpPr>
            <a:spLocks noGrp="1"/>
          </p:cNvSpPr>
          <p:nvPr/>
        </p:nvSpPr>
        <p:spPr>
          <a:xfrm>
            <a:off x="6686550" y="379095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5AA6"/>
                </a:solidFill>
              </a:defRPr>
            </a:pPr>
            <a:r>
              <a:rPr sz="1350" b="1">
                <a:solidFill>
                  <a:srgbClr val="1F5AA6"/>
                </a:solidFill>
              </a:rPr>
              <a:t>Price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3D085F-1491-4B72-9F04-628B09309DE1}"/>
              </a:ext>
            </a:extLst>
          </p:cNvPr>
          <p:cNvSpPr>
            <a:spLocks noGrp="1"/>
          </p:cNvSpPr>
          <p:nvPr/>
        </p:nvSpPr>
        <p:spPr>
          <a:xfrm>
            <a:off x="6686550" y="405765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F1 0.7327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2815B-BC5E-4C0A-B0C4-CCFFD83327DB}"/>
              </a:ext>
            </a:extLst>
          </p:cNvPr>
          <p:cNvSpPr>
            <a:spLocks noGrp="1"/>
          </p:cNvSpPr>
          <p:nvPr/>
        </p:nvSpPr>
        <p:spPr>
          <a:xfrm>
            <a:off x="6686550" y="45148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Mức trung bình khá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7F49B6-B0FF-4F69-B707-4758DF124818}"/>
              </a:ext>
            </a:extLst>
          </p:cNvPr>
          <p:cNvSpPr>
            <a:spLocks noGrp="1"/>
          </p:cNvSpPr>
          <p:nvPr/>
        </p:nvSpPr>
        <p:spPr>
          <a:xfrm>
            <a:off x="12052300" y="3556635"/>
            <a:ext cx="5397500" cy="1323975"/>
          </a:xfrm>
          <a:prstGeom prst="roundRect">
            <a:avLst>
              <a:gd name="adj" fmla="val 8633"/>
            </a:avLst>
          </a:prstGeom>
          <a:solidFill>
            <a:srgbClr val="FCE7E5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5AFE44-854D-428C-BFFB-16C9FC0B0220}"/>
              </a:ext>
            </a:extLst>
          </p:cNvPr>
          <p:cNvSpPr>
            <a:spLocks noGrp="1"/>
          </p:cNvSpPr>
          <p:nvPr/>
        </p:nvSpPr>
        <p:spPr>
          <a:xfrm>
            <a:off x="12306300" y="379095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Service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7E4CAC-3322-4584-A932-B9D237E2B388}"/>
              </a:ext>
            </a:extLst>
          </p:cNvPr>
          <p:cNvSpPr>
            <a:spLocks noGrp="1"/>
          </p:cNvSpPr>
          <p:nvPr/>
        </p:nvSpPr>
        <p:spPr>
          <a:xfrm>
            <a:off x="12306300" y="405765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 dirty="0">
                <a:solidFill>
                  <a:srgbClr val="17202A"/>
                </a:solidFill>
              </a:rPr>
              <a:t>F1 0.4138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33A405-AB66-47BE-9EDA-5563F830F897}"/>
              </a:ext>
            </a:extLst>
          </p:cNvPr>
          <p:cNvSpPr>
            <a:spLocks noGrp="1"/>
          </p:cNvSpPr>
          <p:nvPr/>
        </p:nvSpPr>
        <p:spPr>
          <a:xfrm>
            <a:off x="12306300" y="45148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Aspect yếu nhất cần tập trung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5C01F1E-A886-4661-B1E1-126253A68D25}"/>
              </a:ext>
            </a:extLst>
          </p:cNvPr>
          <p:cNvSpPr>
            <a:spLocks noGrp="1"/>
          </p:cNvSpPr>
          <p:nvPr/>
        </p:nvSpPr>
        <p:spPr>
          <a:xfrm>
            <a:off x="838200" y="5109210"/>
            <a:ext cx="16611600" cy="4511040"/>
          </a:xfrm>
          <a:prstGeom prst="roundRect">
            <a:avLst>
              <a:gd name="adj" fmla="val 2534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E61F7E-8CD9-4597-83E5-0FAA4A952D20}"/>
              </a:ext>
            </a:extLst>
          </p:cNvPr>
          <p:cNvSpPr>
            <a:spLocks noGrp="1"/>
          </p:cNvSpPr>
          <p:nvPr/>
        </p:nvSpPr>
        <p:spPr>
          <a:xfrm>
            <a:off x="1085850" y="5314950"/>
            <a:ext cx="16116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Gold eval phản ánh khó khăn thật của bài toán hơn tập pha trộn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F1DD3E-071A-4F80-B03D-1FB0453FC8F6}"/>
              </a:ext>
            </a:extLst>
          </p:cNvPr>
          <p:cNvSpPr>
            <a:spLocks noGrp="1"/>
          </p:cNvSpPr>
          <p:nvPr/>
        </p:nvSpPr>
        <p:spPr>
          <a:xfrm>
            <a:off x="1085850" y="5715000"/>
            <a:ext cx="16116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>
                <a:solidFill>
                  <a:srgbClr val="17202A"/>
                </a:solidFill>
              </a:rPr>
              <a:t>• Aspect khó nhất hiện tại: product, service, app</a:t>
            </a:r>
          </a:p>
        </p:txBody>
      </p:sp>
    </p:spTree>
    <p:extLst>
      <p:ext uri="{BB962C8B-B14F-4D97-AF65-F5344CB8AC3E}">
        <p14:creationId xmlns:p14="http://schemas.microsoft.com/office/powerpoint/2010/main" val="96679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C84F03F-F464-4ACC-88E7-331388734B33}"/>
              </a:ext>
            </a:extLst>
          </p:cNvPr>
          <p:cNvSpPr>
            <a:spLocks noGrp="1"/>
          </p:cNvSpPr>
          <p:nvPr/>
        </p:nvSpPr>
        <p:spPr>
          <a:xfrm>
            <a:off x="838200" y="666750"/>
            <a:ext cx="16611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So sánh mô hình học sâu bước đầu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1FB839-0386-4715-8131-51B4B1194703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2095500" cy="38100"/>
          </a:xfrm>
          <a:prstGeom prst="rect">
            <a:avLst/>
          </a:prstGeom>
          <a:solidFill>
            <a:srgbClr val="0E8C61"/>
          </a:solidFill>
          <a:ln w="0">
            <a:solidFill>
              <a:srgbClr val="0E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E83084-35D0-4F98-A6E9-579BB8FE0235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638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Kết quả đầu tiên trên cùng một split working train / gold eval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C1567F-F8D3-4EF0-8CA3-A26B3A3A4CBA}"/>
              </a:ext>
            </a:extLst>
          </p:cNvPr>
          <p:cNvSpPr>
            <a:spLocks noGrp="1"/>
          </p:cNvSpPr>
          <p:nvPr/>
        </p:nvSpPr>
        <p:spPr>
          <a:xfrm>
            <a:off x="838200" y="2061210"/>
            <a:ext cx="5384800" cy="2667000"/>
          </a:xfrm>
          <a:prstGeom prst="roundRect">
            <a:avLst>
              <a:gd name="adj" fmla="val 4286"/>
            </a:avLst>
          </a:prstGeom>
          <a:solidFill>
            <a:srgbClr val="DCEFE7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80CF14-CB41-4785-A1AE-AC651BDFA31A}"/>
              </a:ext>
            </a:extLst>
          </p:cNvPr>
          <p:cNvSpPr>
            <a:spLocks noGrp="1"/>
          </p:cNvSpPr>
          <p:nvPr/>
        </p:nvSpPr>
        <p:spPr>
          <a:xfrm>
            <a:off x="1085850" y="22860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E8C61"/>
                </a:solidFill>
              </a:defRPr>
            </a:pPr>
            <a:r>
              <a:rPr sz="1350" b="1">
                <a:solidFill>
                  <a:srgbClr val="0E8C61"/>
                </a:solidFill>
              </a:rPr>
              <a:t>ABSA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259FBC-D66C-484C-BC89-F77A2236F85D}"/>
              </a:ext>
            </a:extLst>
          </p:cNvPr>
          <p:cNvSpPr>
            <a:spLocks noGrp="1"/>
          </p:cNvSpPr>
          <p:nvPr/>
        </p:nvSpPr>
        <p:spPr>
          <a:xfrm>
            <a:off x="1085850" y="25527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 dirty="0">
                <a:solidFill>
                  <a:srgbClr val="17202A"/>
                </a:solidFill>
              </a:rPr>
              <a:t>Micro F1 0.6238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FF9302-F6BA-4FBF-AD5C-18E9CE3BD8EF}"/>
              </a:ext>
            </a:extLst>
          </p:cNvPr>
          <p:cNvSpPr>
            <a:spLocks noGrp="1"/>
          </p:cNvSpPr>
          <p:nvPr/>
        </p:nvSpPr>
        <p:spPr>
          <a:xfrm>
            <a:off x="1085850" y="30289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Mốc tham chiếu hiện tại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7DCD0B-84E1-489E-9D65-F4D2EAC3AA7C}"/>
              </a:ext>
            </a:extLst>
          </p:cNvPr>
          <p:cNvSpPr>
            <a:spLocks noGrp="1"/>
          </p:cNvSpPr>
          <p:nvPr/>
        </p:nvSpPr>
        <p:spPr>
          <a:xfrm>
            <a:off x="6451600" y="2061210"/>
            <a:ext cx="5384800" cy="2667000"/>
          </a:xfrm>
          <a:prstGeom prst="roundRect">
            <a:avLst>
              <a:gd name="adj" fmla="val 4286"/>
            </a:avLst>
          </a:prstGeom>
          <a:solidFill>
            <a:srgbClr val="DFEAF8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C3B4EA-1D1C-415A-8C3A-D222210D5DE9}"/>
              </a:ext>
            </a:extLst>
          </p:cNvPr>
          <p:cNvSpPr>
            <a:spLocks noGrp="1"/>
          </p:cNvSpPr>
          <p:nvPr/>
        </p:nvSpPr>
        <p:spPr>
          <a:xfrm>
            <a:off x="6705600" y="22860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5AA6"/>
                </a:solidFill>
              </a:defRPr>
            </a:pPr>
            <a:r>
              <a:rPr sz="1350" b="1" dirty="0">
                <a:solidFill>
                  <a:srgbClr val="1F5AA6"/>
                </a:solidFill>
              </a:rPr>
              <a:t>Bi-LSTM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0B9200-303E-4711-AE90-607247FF2284}"/>
              </a:ext>
            </a:extLst>
          </p:cNvPr>
          <p:cNvSpPr>
            <a:spLocks noGrp="1"/>
          </p:cNvSpPr>
          <p:nvPr/>
        </p:nvSpPr>
        <p:spPr>
          <a:xfrm>
            <a:off x="6705600" y="25527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sz="2700" b="1" dirty="0">
                <a:solidFill>
                  <a:srgbClr val="17202A"/>
                </a:solidFill>
              </a:rPr>
              <a:t>Micro F1 0.6018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CE4ADD-23E5-4E88-B558-572C10496843}"/>
              </a:ext>
            </a:extLst>
          </p:cNvPr>
          <p:cNvSpPr>
            <a:spLocks noGrp="1"/>
          </p:cNvSpPr>
          <p:nvPr/>
        </p:nvSpPr>
        <p:spPr>
          <a:xfrm>
            <a:off x="6705600" y="30289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Chạy được, nhưng chưa vượt baseline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59DEEC-A592-47C1-9DBB-E937A0A55AD9}"/>
              </a:ext>
            </a:extLst>
          </p:cNvPr>
          <p:cNvSpPr>
            <a:spLocks noGrp="1"/>
          </p:cNvSpPr>
          <p:nvPr/>
        </p:nvSpPr>
        <p:spPr>
          <a:xfrm>
            <a:off x="12065000" y="2061210"/>
            <a:ext cx="5384800" cy="2667000"/>
          </a:xfrm>
          <a:prstGeom prst="roundRect">
            <a:avLst>
              <a:gd name="adj" fmla="val 4286"/>
            </a:avLst>
          </a:prstGeom>
          <a:solidFill>
            <a:srgbClr val="FCE7E5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1089E-30FA-4602-96A1-25DA31D3D9D0}"/>
              </a:ext>
            </a:extLst>
          </p:cNvPr>
          <p:cNvSpPr>
            <a:spLocks noGrp="1"/>
          </p:cNvSpPr>
          <p:nvPr/>
        </p:nvSpPr>
        <p:spPr>
          <a:xfrm>
            <a:off x="12306300" y="2286000"/>
            <a:ext cx="4895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PhoBERT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999A5-29FB-4C4A-9CF4-EA279586D184}"/>
              </a:ext>
            </a:extLst>
          </p:cNvPr>
          <p:cNvSpPr>
            <a:spLocks noGrp="1"/>
          </p:cNvSpPr>
          <p:nvPr/>
        </p:nvSpPr>
        <p:spPr>
          <a:xfrm>
            <a:off x="12306300" y="2552700"/>
            <a:ext cx="4895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t>Aspect F1-m: 0.5669 | Sentiment F1-M: 0.5819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73F142-632C-4AC3-B812-87DA6994EC35}"/>
              </a:ext>
            </a:extLst>
          </p:cNvPr>
          <p:cNvSpPr>
            <a:spLocks noGrp="1"/>
          </p:cNvSpPr>
          <p:nvPr/>
        </p:nvSpPr>
        <p:spPr>
          <a:xfrm>
            <a:off x="12306300" y="3028950"/>
            <a:ext cx="489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4B5563"/>
                </a:solidFill>
              </a:defRPr>
            </a:pPr>
            <a:r>
              <a:t>Huấn luyện 5 epochs đa tác vụ trên GPU T4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FF90FA-2062-4DC0-8553-821F351FD850}"/>
              </a:ext>
            </a:extLst>
          </p:cNvPr>
          <p:cNvSpPr>
            <a:spLocks noGrp="1"/>
          </p:cNvSpPr>
          <p:nvPr/>
        </p:nvSpPr>
        <p:spPr>
          <a:xfrm>
            <a:off x="838200" y="4994910"/>
            <a:ext cx="8191500" cy="4625340"/>
          </a:xfrm>
          <a:prstGeom prst="roundRect">
            <a:avLst>
              <a:gd name="adj" fmla="val 2471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84C434-5E52-4D35-8E97-53B59C364B17}"/>
              </a:ext>
            </a:extLst>
          </p:cNvPr>
          <p:cNvSpPr>
            <a:spLocks noGrp="1"/>
          </p:cNvSpPr>
          <p:nvPr/>
        </p:nvSpPr>
        <p:spPr>
          <a:xfrm>
            <a:off x="1066800" y="5200650"/>
            <a:ext cx="7734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17202A"/>
                </a:solidFill>
              </a:defRPr>
            </a:pPr>
            <a:r>
              <a:t>Kết luận &amp; Cột mốc Deep Learning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52BDE1-35DF-477E-9180-854B43DC0782}"/>
              </a:ext>
            </a:extLst>
          </p:cNvPr>
          <p:cNvSpPr>
            <a:spLocks noGrp="1"/>
          </p:cNvSpPr>
          <p:nvPr/>
        </p:nvSpPr>
        <p:spPr>
          <a:xfrm>
            <a:off x="1066800" y="5657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rPr sz="1800" dirty="0">
                <a:solidFill>
                  <a:srgbClr val="17202A"/>
                </a:solidFill>
              </a:rPr>
              <a:t>• Bi-LSTM </a:t>
            </a:r>
            <a:r>
              <a:rPr sz="1800" dirty="0" err="1">
                <a:solidFill>
                  <a:srgbClr val="17202A"/>
                </a:solidFill>
              </a:rPr>
              <a:t>đã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hoàn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thành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mốc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triển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khai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đầu</a:t>
            </a:r>
            <a:r>
              <a:rPr sz="1800" dirty="0">
                <a:solidFill>
                  <a:srgbClr val="17202A"/>
                </a:solidFill>
              </a:rPr>
              <a:t> </a:t>
            </a:r>
            <a:r>
              <a:rPr sz="1800" dirty="0" err="1">
                <a:solidFill>
                  <a:srgbClr val="17202A"/>
                </a:solidFill>
              </a:rPr>
              <a:t>tiên</a:t>
            </a:r>
            <a:endParaRPr sz="1800" dirty="0">
              <a:solidFill>
                <a:srgbClr val="17202A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E53562-1D95-41DD-A28C-71A5F572F448}"/>
              </a:ext>
            </a:extLst>
          </p:cNvPr>
          <p:cNvSpPr>
            <a:spLocks noGrp="1"/>
          </p:cNvSpPr>
          <p:nvPr/>
        </p:nvSpPr>
        <p:spPr>
          <a:xfrm>
            <a:off x="1066800" y="6038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t>• PhoBERT GPU đạt hiệu năng cao và đã được tích hợp chạy live thành công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2E7C86-1E39-405F-8440-916A4D7A4F83}"/>
              </a:ext>
            </a:extLst>
          </p:cNvPr>
          <p:cNvSpPr>
            <a:spLocks noGrp="1"/>
          </p:cNvSpPr>
          <p:nvPr/>
        </p:nvSpPr>
        <p:spPr>
          <a:xfrm>
            <a:off x="1066800" y="64389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t>• PhoBERT đạt độ chính xác tối ưu về phân loại Cảm xúc (Accuracy 0.6200)</a:t>
            </a:r>
            <a:endParaRPr sz="1800" dirty="0">
              <a:solidFill>
                <a:srgbClr val="17202A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EA5E1E-06C8-41AE-B66C-A8132B90BBE6}"/>
              </a:ext>
            </a:extLst>
          </p:cNvPr>
          <p:cNvSpPr>
            <a:spLocks noGrp="1"/>
          </p:cNvSpPr>
          <p:nvPr/>
        </p:nvSpPr>
        <p:spPr>
          <a:xfrm>
            <a:off x="9258300" y="4994910"/>
            <a:ext cx="8191500" cy="4625340"/>
          </a:xfrm>
          <a:prstGeom prst="roundRect">
            <a:avLst>
              <a:gd name="adj" fmla="val 2471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A85F9F-AEF2-4F13-9169-9C76CB78A936}"/>
              </a:ext>
            </a:extLst>
          </p:cNvPr>
          <p:cNvSpPr>
            <a:spLocks noGrp="1"/>
          </p:cNvSpPr>
          <p:nvPr/>
        </p:nvSpPr>
        <p:spPr>
          <a:xfrm>
            <a:off x="9486900" y="5200650"/>
            <a:ext cx="7734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Lưu ý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8FC3BC-7352-4BD8-A199-BB62A6DF17D7}"/>
              </a:ext>
            </a:extLst>
          </p:cNvPr>
          <p:cNvSpPr>
            <a:spLocks noGrp="1"/>
          </p:cNvSpPr>
          <p:nvPr/>
        </p:nvSpPr>
        <p:spPr>
          <a:xfrm>
            <a:off x="9486900" y="5657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t>• Đã chạy 5 epochs trên Kaggle GPU T4 (Mixed Precision) cực nhanh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C48781-49BE-4178-9BC0-8AFAC79F984C}"/>
              </a:ext>
            </a:extLst>
          </p:cNvPr>
          <p:cNvSpPr>
            <a:spLocks noGrp="1"/>
          </p:cNvSpPr>
          <p:nvPr/>
        </p:nvSpPr>
        <p:spPr>
          <a:xfrm>
            <a:off x="9486900" y="60388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t>• Dự đoán đồng thời khía cạnh &amp; cảm xúc (Multitask)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7661FA-4380-4A36-962C-35CDA9C6CE5C}"/>
              </a:ext>
            </a:extLst>
          </p:cNvPr>
          <p:cNvSpPr>
            <a:spLocks noGrp="1"/>
          </p:cNvSpPr>
          <p:nvPr/>
        </p:nvSpPr>
        <p:spPr>
          <a:xfrm>
            <a:off x="9486900" y="64389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202A"/>
                </a:solidFill>
              </a:defRPr>
            </a:pPr>
            <a:r>
              <a:t>• Chạy Batch Inference thành công trên 100k review thô chỉ trong 2 phút</a:t>
            </a:r>
          </a:p>
        </p:txBody>
      </p:sp>
    </p:spTree>
    <p:extLst>
      <p:ext uri="{BB962C8B-B14F-4D97-AF65-F5344CB8AC3E}">
        <p14:creationId xmlns:p14="http://schemas.microsoft.com/office/powerpoint/2010/main" val="376826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664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So sánh tổng quan hiệu năng các mô hình ABSA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2103120" cy="36576"/>
          </a:xfrm>
          <a:prstGeom prst="rect">
            <a:avLst/>
          </a:prstGeom>
          <a:solidFill>
            <a:srgbClr val="0E8C61"/>
          </a:solidFill>
          <a:ln>
            <a:solidFill>
              <a:srgbClr val="0E8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664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Đánh giá thực nghiệm khách quan trên tập kiểm thử chuẩn hóa cao (Gold Eval - 250 dòng)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241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  <a:gridCol w="170688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Mô hình / Thuật toán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Aspect F1-micro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Aspect F1-macro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Aspect Hamming Loss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Sentiment F1-macro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Sentiment Accuracy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Baseline TF-IDF +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62.38%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62.79%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Bi-LSTM + Word2Vec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60.18%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60.10%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0.2912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PhoBERT Multi-task (Fine-tuned)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56.69%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54.65%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58.19%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303520"/>
            <a:ext cx="10241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E8C61"/>
                </a:solidFill>
                <a:latin typeface="Arial"/>
              </a:defRPr>
            </a:pPr>
            <a:r>
              <a:t>Biện luận khoa học &amp; Định hướng nghiên cứu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Giải thích khoa học: SVM và Bi-LSTM đạt kết quả Aspect cao hơn PhoBERT do tập dữ liệu huấn luyện mẫu còn nhỏ (779 dòng train). PhoBERT là mô hình Transformer khổng lồ (&gt;135M parameters) nên rất dễ bị quá khớp (overfitting) trên tập dữ liệu ít mẫu.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Ưu thế đa nhiệm (Multi-task): PhoBERT giải quyết đồng thời cả 2 nhiệm vụ (Nhận diện khía cạnh &amp; Phân loại cảm xúc) trong một lượt suy luận duy nhất, giảm chi phí tính toán và tránh tích lũy sai số.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Định hướng cải tiến: Tiếp tục mở rộng tập dữ liệu huấn luyện (lên 2k dòng) để PhoBERT học sâu ngữ nghĩa tối ưu.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521440" y="2011680"/>
          <a:ext cx="5943600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1521440" y="6400800"/>
            <a:ext cx="5943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75569"/>
                </a:solidFill>
                <a:latin typeface="Arial"/>
              </a:defRPr>
            </a:pPr>
            <a:r>
              <a:t>[ KHUNG CHÈN HÌNH ẢNH ]</a:t>
            </a:r>
            <a:br/>
            <a:br/>
            <a:r>
              <a:t>Chụp màn hình biểu đồ Loss huấn luyện</a:t>
            </a:r>
            <a:br/>
            <a:r>
              <a:t>hoặc biểu đồ hội tụ qua từng Epoch tại đây</a:t>
            </a:r>
          </a:p>
        </p:txBody>
      </p:sp>
    </p:spTree>
    <p:extLst>
      <p:ext uri="{BB962C8B-B14F-4D97-AF65-F5344CB8AC3E}">
        <p14:creationId xmlns:p14="http://schemas.microsoft.com/office/powerpoint/2010/main" val="1360111868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Đánh giá hiệu năng Aspect-specific F1-score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2103120" cy="36576"/>
          </a:xfrm>
          <a:prstGeom prst="rect">
            <a:avLst/>
          </a:prstGeom>
          <a:solidFill>
            <a:srgbClr val="0E8C61"/>
          </a:solidFill>
          <a:ln>
            <a:solidFill>
              <a:srgbClr val="0E8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664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So sánh độ chính xác F1-score của các mô hình trên từng khía cạnh cụ thể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241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2048256"/>
                <a:gridCol w="2048256"/>
                <a:gridCol w="2048256"/>
                <a:gridCol w="2048256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Khía cạnh (Aspect)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Số mẫu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TF-IDF + SVM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Bi-LSTM + Word2Vec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PhoBERT Multi-task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Delivery (Giao hàng)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80.63%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Price (Giá cả)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73.27%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58.11%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41.74%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 (Ứng dụng)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68.79%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63.39%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Product (Sản phẩm)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51.99%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49.29%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49.81%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Service (Dịch vụ)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44.09%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37.84%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6035040"/>
            <a:ext cx="102412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E8C61"/>
                </a:solidFill>
                <a:latin typeface="Arial"/>
              </a:defRPr>
            </a:pPr>
            <a:r>
              <a:t>Phân tích đặc trưng ngữ nghĩa khía cạnh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Giao hàng (Delivery): Đạt hiệu năng xuất sắc nhất (&gt;80%) do chứa các từ khóa đặc trưng cực cao và tập trung (ship, giao nhanh, gói kỹ, đóng gói).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Giá cả (Price): SVM tuyến tính vượt trội hẳn (73.27%) nhờ học các từ khóa phân tách rõ nét (rẻ, đắt, sale, hoàn tiền).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Ứng dụng (App): Học sâu (Bi-LSTM &amp; PhoBERT) bắt ngữ cảnh tốt hơn khi mô tả lỗi app phức tạp (lỗi đăng nhập, đơ, lỗi cập nhật).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Thách thức (Service &amp; Product): Hiệu năng thấp nhất do ranh giới mơ hồ giữa 'dịch vụ CSKH' và 'chất lượng sản phẩm' trong tiếng Việt E-commerce.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521440" y="2011680"/>
          <a:ext cx="5943600" cy="5303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521440" y="75895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75569"/>
                </a:solidFill>
                <a:latin typeface="Arial"/>
              </a:defRPr>
            </a:pPr>
            <a:r>
              <a:t>Biểu đồ trực quan hóa kết quả thực nghiệm chi tiết F1-score của 5 khía cạnh. Cho thấy sự ổn định vượt trội của mô hình SVM trên Price, và Bi-LSTM trên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So sánh Phân tích Cảm xúc Câu vs ABSA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2103120" cy="36576"/>
          </a:xfrm>
          <a:prstGeom prst="rect">
            <a:avLst/>
          </a:prstGeom>
          <a:solidFill>
            <a:srgbClr val="0E8C61"/>
          </a:solidFill>
          <a:ln>
            <a:solidFill>
              <a:srgbClr val="0E8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664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Động lực nghiên cứu và giá trị thực tiễn đối với E-commerce Big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241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so sánh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Sentence-level Sentiment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Aspect-Based Sentiment (ABSA)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Xử lý câu hỗn hợp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Thất bại (nhận diện sai hoặc trung tính)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Xuất sắc (bóc tách rõ từng vế khía cạnh)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Mức độ chi tiết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Chỉ gán 1 nhãn cảm xúc chung cả câu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Gán nhãn chi tiết cho từng khía cạnh con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Giá trị kinh doanh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Thấp (chỉ biết tỷ lệ hài lòng chung)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Rất cao (định vị chính xác điểm nghẽn)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Chi phí gán nhãn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Thấp (có thể tự động gán qua số sao)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Rất cao (đòi hỏi con người đọc hiểu sâu)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486400"/>
            <a:ext cx="10241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E8C61"/>
                </a:solidFill>
                <a:latin typeface="Arial"/>
              </a:defRPr>
            </a:pPr>
            <a:r>
              <a:t>Động lực học thuật &amp; Nghiệp vụ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Động lực giải quyết câu hỗn hợp: Ví dụ câu phức 'Giao hàng cực kỳ nhanh nhưng chất lượng sản phẩm quá tệ' -&gt; Phân tích cảm xúc thông thường sẽ bị lỗi, nhưng ABSA chỉ ra rõ: Giao hàng (Positive) và Sản phẩm (Negative).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Định vị 'Điểm nghẽn' CSKH: Giúp doanh nghiệp định vị chính xác bộ phận nào đang hoạt động kém (ví dụ: khâu Dịch vụ CSKH bị chê nhiều nhất) để tiến hành tối ưu hóa.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eWOM &amp; Khung chiến lược: Kết quả ABSA là nền tảng để áp dụng vào phân tích ý kiến khách hàng và ra quyết định kinh doanh.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1440" y="2011680"/>
            <a:ext cx="5943600" cy="7589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0" y="2194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500">
                <a:solidFill>
                  <a:srgbClr val="0E8C61"/>
                </a:solidFill>
                <a:latin typeface="Arial"/>
              </a:defRPr>
            </a:pPr>
            <a:r>
              <a:t>Sơ đồ bóc tách câu phức trong ABSA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0" y="2926080"/>
            <a:ext cx="52120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8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  <a:latin typeface="Arial"/>
              </a:defRPr>
            </a:pPr>
            <a:r>
              <a:t>Câu gốc: "Giao hàng cực kỳ nhanh nhưng chất lượng sản phẩm quá tệ"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984480" y="4297680"/>
            <a:ext cx="457200" cy="640080"/>
          </a:xfrm>
          <a:prstGeom prst="downArrow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5453359" y="4297680"/>
            <a:ext cx="457200" cy="640080"/>
          </a:xfrm>
          <a:prstGeom prst="downArrow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704320" y="5120640"/>
            <a:ext cx="26517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Vế 1: "Giao hàng cực kỳ nhanh"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Khía cạnh: Giao hàng</a:t>
            </a:r>
            <a:br/>
            <a:r>
              <a:t>  (Delivery)</a:t>
            </a:r>
          </a:p>
          <a:p>
            <a:pPr>
              <a:defRPr b="1" sz="1200">
                <a:solidFill>
                  <a:srgbClr val="15803D"/>
                </a:solidFill>
              </a:defRPr>
            </a:pPr>
            <a:r>
              <a:t>Cảm xúc: TÍCH CỰC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0" y="5120640"/>
            <a:ext cx="2651760" cy="201168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Vế 2: "nhưng chất lượng... tệ"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Khía cạnh: Sản phẩm</a:t>
            </a:r>
            <a:br/>
            <a:r>
              <a:t>  (Product)</a:t>
            </a:r>
          </a:p>
          <a:p>
            <a:pPr>
              <a:defRPr b="1" sz="1200">
                <a:solidFill>
                  <a:srgbClr val="B91C1C"/>
                </a:solidFill>
              </a:defRPr>
            </a:pPr>
            <a:r>
              <a:t>Cảm xúc: TIÊU CỰC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731520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475569"/>
                </a:solidFill>
                <a:latin typeface="Arial"/>
              </a:defRPr>
            </a:pPr>
            <a:r>
              <a:t>Đối với Phân tích cảm xúc thông thường, câu trên chỉ nhận 1 nhãn duy nhất (gây nhiễu). Với ABSA, doanh nghiệp định vị chính xác: hài lòng về Giao hàng nhưng bất mãn về Sản phẩm.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Hiệu quả tính toán &amp; Tối ưu hóa Big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2103120" cy="36576"/>
          </a:xfrm>
          <a:prstGeom prst="rect">
            <a:avLst/>
          </a:prstGeom>
          <a:solidFill>
            <a:srgbClr val="0E8C61"/>
          </a:solidFill>
          <a:ln>
            <a:solidFill>
              <a:srgbClr val="0E8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664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So sánh thời gian xử lý và hiệu quả tài nguyên giữa CPU Local và Cloud GPU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241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đánh giá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Hạ tầng CPU Local (Cục bộ)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Hạ tầng Cloud GPU T4 x2 (Kaggle)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Train PhoBERT (5 epochs)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&gt; 6 giờ (Không khả thi, dễ nóng máy)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Khoảng 5 - 7 phút (Tăng tốc hơn 60 lần)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Thời gian Suy luận (Latency)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SVM: &lt; 0.001s / PhoBERT: ~1.2s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PhoBERT: ~0.05s (Chạy real-time cực mượt)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Batch Prediction (100k reviews)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Không khả thi (&gt; 30 giờ)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 phút 15 giây (Nhờ PyTorch DataLoader + FP16)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303520"/>
            <a:ext cx="10241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E8C61"/>
                </a:solidFill>
                <a:latin typeface="Arial"/>
              </a:defRPr>
            </a:pPr>
            <a:r>
              <a:t>Tối ưu hóa phần cứng &amp; Giải pháp triển khai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Tối ưu hóa huấn luyện (FP16 Mixed Precision): Sử dụng kiểu dữ liệu float16 giúp tiết kiệm 50% bộ nhớ GPU và tăng gấp đôi tốc độ tính toán trên GPU T4 mà không làm giảm độ chính xác mô hình.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Khả năng xử lý Big Data song song: Kết hợp DataLoader đa luồng (num_workers=4) và gom nhóm batch size = 16/32 giúp tận dụng tối đa CUDA cores.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Cơ chế dự phòng thông minh (Robust System): Hệ thống dashboard tự động chuyển sang SVM baseline chạy CPU nếu không tải được mô hình PhoBERT, đảm bảo dịch vụ vận hành bền vững.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1440" y="2011680"/>
            <a:ext cx="5943600" cy="7589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>
                <a:solidFill>
                  <a:srgbClr val="475569"/>
                </a:solidFill>
                <a:latin typeface="Arial"/>
              </a:defRPr>
            </a:pPr>
            <a:r>
              <a:t>[ KHUNG CHÈN HÌNH ẢNH MINH CHỨNG ]</a:t>
            </a:r>
            <a:br/>
            <a:br/>
            <a:r>
              <a:t>Chèn ảnh chụp màn hình huấn luyện trên Kaggle</a:t>
            </a:r>
            <a:br/>
            <a:r>
              <a:t>hoặc ảnh log hiển thị tốc độ batch prediction tại đây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Sentiment Baseline &amp; Tích hợp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2103120" cy="36576"/>
          </a:xfrm>
          <a:prstGeom prst="rect">
            <a:avLst/>
          </a:prstGeom>
          <a:solidFill>
            <a:srgbClr val="0E8C61"/>
          </a:solidFill>
          <a:ln>
            <a:solidFill>
              <a:srgbClr val="0E8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664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Đánh giá các mô hình baseline trên 100k review và minh chứng ứng dụng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241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Thuật toán Baseline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Phân tích thực nghiệm chuyên sâu</a:t>
                      </a:r>
                    </a:p>
                  </a:txBody>
                  <a:tcPr>
                    <a:solidFill>
                      <a:srgbClr val="0E8C6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Naive Bayes (NB)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88.66%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Tốc độ cực nhanh. Tuy nhiên, do dữ liệu thực tế lệch lớp nặng, NB hoàn toàn thất bại ở lớp Neutral (F1-score = 0%).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87.48%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62.10%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Macro F1 vượt trội NB rõ rệt (+4.60%). SVM nhận diện lớp thiểu số (Neutral và Negative) tốt hơn nhờ biên phân chia tối ưu hóa.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937760"/>
            <a:ext cx="10241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E8C61"/>
                </a:solidFill>
                <a:latin typeface="Arial"/>
              </a:defRPr>
            </a:pPr>
            <a:r>
              <a:t>Minh chứng tích hợp &amp; Ứng dụng thực tiễn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Tích hợp PhoBERT đa tác vụ thành công: Mô hình tốt nhất đã được tích hợp chạy live mượt mà vào Streamlit Dashboard và Flask API.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Giao diện dashboard tương tác trực quan: Cho phép lọc theo khía cạnh, lọc mức độ ưu tiên (Cảnh báo ưu tiên cao), phân tích phân bố eWOM và chiến lược RACE theo thời gian thực.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t>• Tải trước dữ liệu (Pre-predicted): Tích hợp tính năng load dữ liệu đã dự đoán sẵn (100k dòng) chỉ trong 1 giây trên dashboard để tối ưu trải nghiệm người dùng, đồng thời hỗ trợ dự đoán trực tiếp real-time cho review mới.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1440" y="2011680"/>
            <a:ext cx="5943600" cy="7589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>
                <a:solidFill>
                  <a:srgbClr val="475569"/>
                </a:solidFill>
                <a:latin typeface="Arial"/>
              </a:defRPr>
            </a:pPr>
            <a:r>
              <a:t>[ KHUNG CHÈN HÌNH ẢNH MINH CHỨNG ]</a:t>
            </a:r>
            <a:br/>
            <a:br/>
            <a:r>
              <a:t>Chèn ảnh chụp màn hình Streamlit Dashboard</a:t>
            </a:r>
            <a:br/>
            <a:r>
              <a:t>chạy live tại đây để chứng minh sản phẩm thực tế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Kế hoạch và Hướng đi tiếp theo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2103120" cy="36576"/>
          </a:xfrm>
          <a:prstGeom prst="rect">
            <a:avLst/>
          </a:prstGeom>
          <a:solidFill>
            <a:srgbClr val="0E8C61"/>
          </a:solidFill>
          <a:ln>
            <a:solidFill>
              <a:srgbClr val="0E8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664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Các nhiệm vụ trọng tâm để hoàn thiện khóa luận tốt nghiệp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3035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0"/>
              </a:spcAft>
              <a:defRPr sz="1600" b="1">
                <a:solidFill>
                  <a:srgbClr val="0E8C61"/>
                </a:solidFill>
                <a:latin typeface="Arial"/>
              </a:defRPr>
            </a:pPr>
            <a:r>
              <a:t>1. MỞ RỘNG DỮ LIỆU HUẤN LUYỆN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Tăng kích thước mẫu gán nhãn: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Mở rộng tập gán nhãn huấn luyện từ 1,029 lên 2,000+ reviews để PhoBERT phát huy tối đa khả năng học ngữ nghĩa.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Cải thiện chất lượng nhãn: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Tập trung rà soát và làm sạch nhãn của khía cạnh Service (Dịch vụ) và Product (Sản phẩm) để giảm thiểu độ nhiễu hiện tại.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Kiểm thử chéo (Cross-validation):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Thực hiện k-fold cross-validation để đánh giá sự ổn định của các mô hình học sâu một cách khách quan.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286000"/>
            <a:ext cx="53035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0"/>
              </a:spcAft>
              <a:defRPr sz="1600" b="1">
                <a:solidFill>
                  <a:srgbClr val="0E8C61"/>
                </a:solidFill>
                <a:latin typeface="Arial"/>
              </a:defRPr>
            </a:pPr>
            <a:r>
              <a:t>2. ỨNG DỤNG DOANH NGHIỆP &amp; RACE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Ánh xạ chiến lược RACE: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Kết nối kết quả dự đoán của 100k reviews thô vào 4 giai đoạn Reach - Act - Convert - Engage để đánh giá hành trình khách hàng.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Cảnh báo eWOM tiêu cực: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Hoàn thiện logic phát hiện sớm các review tiêu cực có lượt tương tác (thumbsup) cao để bộ phận CSKH xử lý kịp thời.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Tối ưu hóa chiến lược kinh doanh: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Đề xuất giải pháp thực tế cải tiến Price/Service dựa trên phản hồi tiêu cực của khách hàng.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61520" y="2286000"/>
            <a:ext cx="53035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0"/>
              </a:spcAft>
              <a:defRPr sz="1600" b="1">
                <a:solidFill>
                  <a:srgbClr val="0E8C61"/>
                </a:solidFill>
                <a:latin typeface="Arial"/>
              </a:defRPr>
            </a:pPr>
            <a:r>
              <a:t>3. HOÀN THIỆN QUYỂN KHÓA LUẬN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Viết Quyển khóa luận tốt nghiệp: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Tập trung hoàn thiện Chương 4 (Thực nghiệm &amp; Biện luận kết quả) và Chương 5 (Triển khai ứng dụng thực tế &amp; RACE).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Chuẩn bị bảo vệ trước Hội đồng: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Thiết lập kịch bản demo live dashboard Streamlit chạy mượt mà để thuyết phục hội đồng chấm.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Đóng gói mã nguồn (Repo):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  Tổ chức lại cấu trúc thư mục repo, dọn dẹp các tệp tin tạm và hoàn thiện tài liệu hướng dẫn README.md chuyên nghiệp.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698</Words>
  <Application>Microsoft Office PowerPoint</Application>
  <DocSecurity>0</DocSecurity>
  <PresentationFormat>Custom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Phuk Ksor</cp:lastModifiedBy>
  <cp:revision>3</cp:revision>
  <dcterms:created xsi:type="dcterms:W3CDTF">2026-05-22T13:45:32Z</dcterms:created>
  <dcterms:modified xsi:type="dcterms:W3CDTF">2026-05-29T06:42:59Z</dcterms:modified>
</cp:coreProperties>
</file>