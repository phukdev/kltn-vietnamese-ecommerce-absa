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70" d="100"/>
          <a:sy n="70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C6B2974-A784-44B9-8C10-65671F8DB5B5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Báo cáo tiến độ khóa luận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E5D258-34B2-456C-9599-6CB94A1FB9FE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41D6AE-29E7-4ADD-A2B2-E638685EA432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64008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Phân tích cảm xúc và ABSA trên review thương mại điện tử tiếng Việt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C07C01-FF56-413E-B352-D63B017E2B7A}"/>
              </a:ext>
            </a:extLst>
          </p:cNvPr>
          <p:cNvSpPr>
            <a:spLocks noGrp="1"/>
          </p:cNvSpPr>
          <p:nvPr/>
        </p:nvSpPr>
        <p:spPr>
          <a:xfrm>
            <a:off x="838200" y="2468880"/>
            <a:ext cx="10636568" cy="7151370"/>
          </a:xfrm>
          <a:prstGeom prst="roundRect">
            <a:avLst>
              <a:gd name="adj" fmla="val 159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5FC64D-D6BC-453B-A181-57E5CDD72029}"/>
              </a:ext>
            </a:extLst>
          </p:cNvPr>
          <p:cNvSpPr>
            <a:spLocks noGrp="1"/>
          </p:cNvSpPr>
          <p:nvPr/>
        </p:nvSpPr>
        <p:spPr>
          <a:xfrm>
            <a:off x="1123950" y="2743200"/>
            <a:ext cx="100584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1F5AA6"/>
                </a:solidFill>
              </a:defRPr>
            </a:pPr>
            <a:r>
              <a:rPr sz="2100" b="1">
                <a:solidFill>
                  <a:srgbClr val="1F5AA6"/>
                </a:solidFill>
              </a:rPr>
              <a:t>Mục tiêu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607E5-5928-480B-9A55-01733EB53DB0}"/>
              </a:ext>
            </a:extLst>
          </p:cNvPr>
          <p:cNvSpPr>
            <a:spLocks noGrp="1"/>
          </p:cNvSpPr>
          <p:nvPr/>
        </p:nvSpPr>
        <p:spPr>
          <a:xfrm>
            <a:off x="1123950" y="3219450"/>
            <a:ext cx="10058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Xây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dựng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hệ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thống</a:t>
            </a:r>
            <a:r>
              <a:rPr sz="1800" dirty="0">
                <a:solidFill>
                  <a:srgbClr val="17202A"/>
                </a:solidFill>
              </a:rPr>
              <a:t> sentiment analysis </a:t>
            </a:r>
            <a:r>
              <a:rPr sz="1800" dirty="0" err="1">
                <a:solidFill>
                  <a:srgbClr val="17202A"/>
                </a:solidFill>
              </a:rPr>
              <a:t>và</a:t>
            </a:r>
            <a:r>
              <a:rPr sz="1800" dirty="0">
                <a:solidFill>
                  <a:srgbClr val="17202A"/>
                </a:solidFill>
              </a:rPr>
              <a:t> ABSA </a:t>
            </a:r>
            <a:r>
              <a:rPr sz="1800" dirty="0" err="1">
                <a:solidFill>
                  <a:srgbClr val="17202A"/>
                </a:solidFill>
              </a:rPr>
              <a:t>cho</a:t>
            </a:r>
            <a:r>
              <a:rPr sz="1800" dirty="0">
                <a:solidFill>
                  <a:srgbClr val="17202A"/>
                </a:solidFill>
              </a:rPr>
              <a:t> review TMĐT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6776FB-397E-4D60-B658-F5FC46CB9CD7}"/>
              </a:ext>
            </a:extLst>
          </p:cNvPr>
          <p:cNvSpPr>
            <a:spLocks noGrp="1"/>
          </p:cNvSpPr>
          <p:nvPr/>
        </p:nvSpPr>
        <p:spPr>
          <a:xfrm>
            <a:off x="1123950" y="3619500"/>
            <a:ext cx="10058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Đánh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giá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mô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hình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theo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hướng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học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thuật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trên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tập</a:t>
            </a:r>
            <a:r>
              <a:rPr sz="1800" dirty="0">
                <a:solidFill>
                  <a:srgbClr val="17202A"/>
                </a:solidFill>
              </a:rPr>
              <a:t> gold eval </a:t>
            </a:r>
            <a:r>
              <a:rPr sz="1800" dirty="0" err="1">
                <a:solidFill>
                  <a:srgbClr val="17202A"/>
                </a:solidFill>
              </a:rPr>
              <a:t>tách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riêng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861265-0414-456D-8504-831A230398B7}"/>
              </a:ext>
            </a:extLst>
          </p:cNvPr>
          <p:cNvSpPr>
            <a:spLocks noGrp="1"/>
          </p:cNvSpPr>
          <p:nvPr/>
        </p:nvSpPr>
        <p:spPr>
          <a:xfrm>
            <a:off x="1123950" y="4000500"/>
            <a:ext cx="10058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Triển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khai</a:t>
            </a:r>
            <a:r>
              <a:rPr sz="1800" dirty="0">
                <a:solidFill>
                  <a:srgbClr val="17202A"/>
                </a:solidFill>
              </a:rPr>
              <a:t> API, dashboard, RACE </a:t>
            </a:r>
            <a:r>
              <a:rPr sz="1800" dirty="0" err="1">
                <a:solidFill>
                  <a:srgbClr val="17202A"/>
                </a:solidFill>
              </a:rPr>
              <a:t>và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cảnh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báo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nghiệp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vụ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7BDA789-F14E-4266-A57A-819BECE2A649}"/>
              </a:ext>
            </a:extLst>
          </p:cNvPr>
          <p:cNvSpPr>
            <a:spLocks noGrp="1"/>
          </p:cNvSpPr>
          <p:nvPr/>
        </p:nvSpPr>
        <p:spPr>
          <a:xfrm>
            <a:off x="11722418" y="2468880"/>
            <a:ext cx="5727383" cy="7151370"/>
          </a:xfrm>
          <a:prstGeom prst="roundRect">
            <a:avLst>
              <a:gd name="adj" fmla="val 1996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959A7-96AE-49BF-8101-D9D285C50EE4}"/>
              </a:ext>
            </a:extLst>
          </p:cNvPr>
          <p:cNvSpPr>
            <a:spLocks noGrp="1"/>
          </p:cNvSpPr>
          <p:nvPr/>
        </p:nvSpPr>
        <p:spPr>
          <a:xfrm>
            <a:off x="11982450" y="2743200"/>
            <a:ext cx="52006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0E8C61"/>
                </a:solidFill>
              </a:defRPr>
            </a:pPr>
            <a:r>
              <a:rPr sz="2100" b="1">
                <a:solidFill>
                  <a:srgbClr val="0E8C61"/>
                </a:solidFill>
              </a:rPr>
              <a:t>Trạng thái hiện tại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AB42F6-0284-4269-AFCF-D905FC802A7F}"/>
              </a:ext>
            </a:extLst>
          </p:cNvPr>
          <p:cNvSpPr>
            <a:spLocks noGrp="1"/>
          </p:cNvSpPr>
          <p:nvPr/>
        </p:nvSpPr>
        <p:spPr>
          <a:xfrm>
            <a:off x="11982450" y="3219450"/>
            <a:ext cx="52006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Đã hoàn thành tinh chỉnh PhoBERT đa tác vụ trên Kaggle GPU, đạt kết quả thực nghiệm tối ưu và tích hợp chạy live thành công vào Streamlit Dashboard &amp; Flask API.</a:t>
            </a:r>
          </a:p>
        </p:txBody>
      </p:sp>
    </p:spTree>
    <p:extLst>
      <p:ext uri="{BB962C8B-B14F-4D97-AF65-F5344CB8AC3E}">
        <p14:creationId xmlns:p14="http://schemas.microsoft.com/office/powerpoint/2010/main" val="733446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BEBD5DD-9B93-4759-B3F5-1332D3EA76A3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Những công việc đã hoàn thành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42B12D-2E81-4293-ACB1-C265169114E9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C53176-904D-4E2B-AEC3-67F76E5CB6E0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44386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Tổng hợp các mốc kỹ thuật đã có sẵn trong repo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1D5C708-8A1A-48FC-B290-2CFA9D4A4007}"/>
              </a:ext>
            </a:extLst>
          </p:cNvPr>
          <p:cNvSpPr>
            <a:spLocks noGrp="1"/>
          </p:cNvSpPr>
          <p:nvPr/>
        </p:nvSpPr>
        <p:spPr>
          <a:xfrm>
            <a:off x="838200" y="2392680"/>
            <a:ext cx="8191500" cy="2528570"/>
          </a:xfrm>
          <a:prstGeom prst="roundRect">
            <a:avLst>
              <a:gd name="adj" fmla="val 452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1993F3-E2D4-40F9-BE44-0E05837289F0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EDA </a:t>
            </a:r>
            <a:r>
              <a:rPr sz="1800" dirty="0" err="1">
                <a:solidFill>
                  <a:srgbClr val="17202A"/>
                </a:solidFill>
              </a:rPr>
              <a:t>và</a:t>
            </a:r>
            <a:r>
              <a:rPr sz="1800" dirty="0">
                <a:solidFill>
                  <a:srgbClr val="17202A"/>
                </a:solidFill>
              </a:rPr>
              <a:t> pipeline </a:t>
            </a:r>
            <a:r>
              <a:rPr sz="1800" dirty="0" err="1">
                <a:solidFill>
                  <a:srgbClr val="17202A"/>
                </a:solidFill>
              </a:rPr>
              <a:t>tiền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xử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lý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tiếng</a:t>
            </a:r>
            <a:r>
              <a:rPr sz="1800" dirty="0">
                <a:solidFill>
                  <a:srgbClr val="17202A"/>
                </a:solidFill>
              </a:rPr>
              <a:t> Việt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990821-C222-4298-A0C7-72F232F3F6E9}"/>
              </a:ext>
            </a:extLst>
          </p:cNvPr>
          <p:cNvSpPr>
            <a:spLocks noGrp="1"/>
          </p:cNvSpPr>
          <p:nvPr/>
        </p:nvSpPr>
        <p:spPr>
          <a:xfrm>
            <a:off x="1066800" y="2990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Regex clean, </a:t>
            </a:r>
            <a:r>
              <a:rPr sz="1800" dirty="0" err="1">
                <a:solidFill>
                  <a:srgbClr val="17202A"/>
                </a:solidFill>
              </a:rPr>
              <a:t>chuẩn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hóa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viết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tắt</a:t>
            </a:r>
            <a:r>
              <a:rPr sz="1800" dirty="0">
                <a:solidFill>
                  <a:srgbClr val="17202A"/>
                </a:solidFill>
              </a:rPr>
              <a:t>, emoji, fallback segmentation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64AFB0-E3BB-4E35-ACB5-7D35F1CD3304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Dataset </a:t>
            </a:r>
            <a:r>
              <a:rPr sz="1800" dirty="0" err="1">
                <a:solidFill>
                  <a:srgbClr val="17202A"/>
                </a:solidFill>
              </a:rPr>
              <a:t>gốc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từ</a:t>
            </a:r>
            <a:r>
              <a:rPr sz="1800" dirty="0">
                <a:solidFill>
                  <a:srgbClr val="17202A"/>
                </a:solidFill>
              </a:rPr>
              <a:t> vietnamese_ecommerce_review.csv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ABDD3C1-E37B-4B72-8673-D40DB4AE4318}"/>
              </a:ext>
            </a:extLst>
          </p:cNvPr>
          <p:cNvSpPr>
            <a:spLocks noGrp="1"/>
          </p:cNvSpPr>
          <p:nvPr/>
        </p:nvSpPr>
        <p:spPr>
          <a:xfrm>
            <a:off x="9258300" y="2392680"/>
            <a:ext cx="8191500" cy="2528570"/>
          </a:xfrm>
          <a:prstGeom prst="roundRect">
            <a:avLst>
              <a:gd name="adj" fmla="val 452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08BA7F-52A2-4056-B138-615E62087407}"/>
              </a:ext>
            </a:extLst>
          </p:cNvPr>
          <p:cNvSpPr>
            <a:spLocks noGrp="1"/>
          </p:cNvSpPr>
          <p:nvPr/>
        </p:nvSpPr>
        <p:spPr>
          <a:xfrm>
            <a:off x="9486900" y="2609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Baseline sentiment: Naive Bayes và SVM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701F57-A397-493B-8273-F6847DB535B6}"/>
              </a:ext>
            </a:extLst>
          </p:cNvPr>
          <p:cNvSpPr>
            <a:spLocks noGrp="1"/>
          </p:cNvSpPr>
          <p:nvPr/>
        </p:nvSpPr>
        <p:spPr>
          <a:xfrm>
            <a:off x="9486900" y="2990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Gold eval 250 dòng đã được rà soát và tách riêng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E118CA-383A-458A-B29A-8D31A3A5D602}"/>
              </a:ext>
            </a:extLst>
          </p:cNvPr>
          <p:cNvSpPr>
            <a:spLocks noGrp="1"/>
          </p:cNvSpPr>
          <p:nvPr/>
        </p:nvSpPr>
        <p:spPr>
          <a:xfrm>
            <a:off x="9486900" y="3371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Working train set 779 dòng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C22BC9-AE0F-4EB5-9721-BB289C6F0315}"/>
              </a:ext>
            </a:extLst>
          </p:cNvPr>
          <p:cNvSpPr>
            <a:spLocks noGrp="1"/>
          </p:cNvSpPr>
          <p:nvPr/>
        </p:nvSpPr>
        <p:spPr>
          <a:xfrm>
            <a:off x="838200" y="5130800"/>
            <a:ext cx="8191500" cy="2528570"/>
          </a:xfrm>
          <a:prstGeom prst="roundRect">
            <a:avLst>
              <a:gd name="adj" fmla="val 4520"/>
            </a:avLst>
          </a:prstGeom>
          <a:solidFill>
            <a:srgbClr val="FFFFFF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0A5C26-9D64-4EB4-9467-95B88B15079F}"/>
              </a:ext>
            </a:extLst>
          </p:cNvPr>
          <p:cNvSpPr>
            <a:spLocks noGrp="1"/>
          </p:cNvSpPr>
          <p:nvPr/>
        </p:nvSpPr>
        <p:spPr>
          <a:xfrm>
            <a:off x="1066800" y="533400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Workflow ABSA: batch annotate, prefill, merge, review priority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6C1DB7-9D9E-4CDA-8236-6D1F5825EBEC}"/>
              </a:ext>
            </a:extLst>
          </p:cNvPr>
          <p:cNvSpPr>
            <a:spLocks noGrp="1"/>
          </p:cNvSpPr>
          <p:nvPr/>
        </p:nvSpPr>
        <p:spPr>
          <a:xfrm>
            <a:off x="1066800" y="57340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ABSA baseline train/eval </a:t>
            </a:r>
            <a:r>
              <a:rPr sz="1800" dirty="0" err="1">
                <a:solidFill>
                  <a:srgbClr val="17202A"/>
                </a:solidFill>
              </a:rPr>
              <a:t>theo</a:t>
            </a:r>
            <a:r>
              <a:rPr sz="1800" dirty="0">
                <a:solidFill>
                  <a:srgbClr val="17202A"/>
                </a:solidFill>
              </a:rPr>
              <a:t> split </a:t>
            </a:r>
            <a:r>
              <a:rPr sz="1800" dirty="0" err="1">
                <a:solidFill>
                  <a:srgbClr val="17202A"/>
                </a:solidFill>
              </a:rPr>
              <a:t>tách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riêng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18BC7BF-165E-477B-9CFF-572D9E349C4D}"/>
              </a:ext>
            </a:extLst>
          </p:cNvPr>
          <p:cNvSpPr>
            <a:spLocks noGrp="1"/>
          </p:cNvSpPr>
          <p:nvPr/>
        </p:nvSpPr>
        <p:spPr>
          <a:xfrm>
            <a:off x="9258300" y="5130800"/>
            <a:ext cx="8191500" cy="2528570"/>
          </a:xfrm>
          <a:prstGeom prst="roundRect">
            <a:avLst>
              <a:gd name="adj" fmla="val 4520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52FF63-EA01-4966-96A2-24A61336688B}"/>
              </a:ext>
            </a:extLst>
          </p:cNvPr>
          <p:cNvSpPr>
            <a:spLocks noGrp="1"/>
          </p:cNvSpPr>
          <p:nvPr/>
        </p:nvSpPr>
        <p:spPr>
          <a:xfrm>
            <a:off x="9486900" y="533400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API Flask </a:t>
            </a:r>
            <a:r>
              <a:rPr sz="1800" dirty="0" err="1">
                <a:solidFill>
                  <a:srgbClr val="17202A"/>
                </a:solidFill>
              </a:rPr>
              <a:t>và</a:t>
            </a:r>
            <a:r>
              <a:rPr sz="1800" dirty="0">
                <a:solidFill>
                  <a:srgbClr val="17202A"/>
                </a:solidFill>
              </a:rPr>
              <a:t> dashboard </a:t>
            </a:r>
            <a:r>
              <a:rPr sz="1800" dirty="0" err="1">
                <a:solidFill>
                  <a:srgbClr val="17202A"/>
                </a:solidFill>
              </a:rPr>
              <a:t>Streamlit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đã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chạy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được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4B133E-77DD-4A87-8166-A68B62DFA5AC}"/>
              </a:ext>
            </a:extLst>
          </p:cNvPr>
          <p:cNvSpPr>
            <a:spLocks noGrp="1"/>
          </p:cNvSpPr>
          <p:nvPr/>
        </p:nvSpPr>
        <p:spPr>
          <a:xfrm>
            <a:off x="9486900" y="57340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Tích hợp live thành công mô hình PhoBERT PyTorch vào Web Dashboard &amp; Flask API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8B4630-9F20-4649-9C8F-6A0B62378049}"/>
              </a:ext>
            </a:extLst>
          </p:cNvPr>
          <p:cNvSpPr>
            <a:spLocks noGrp="1"/>
          </p:cNvSpPr>
          <p:nvPr/>
        </p:nvSpPr>
        <p:spPr>
          <a:xfrm>
            <a:off x="9486900" y="61150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</a:t>
            </a:r>
            <a:r>
              <a:rPr sz="1800" dirty="0" err="1">
                <a:solidFill>
                  <a:srgbClr val="17202A"/>
                </a:solidFill>
              </a:rPr>
              <a:t>Có</a:t>
            </a:r>
            <a:r>
              <a:rPr sz="1800" dirty="0">
                <a:solidFill>
                  <a:srgbClr val="17202A"/>
                </a:solidFill>
              </a:rPr>
              <a:t> fallback rule-based </a:t>
            </a:r>
            <a:r>
              <a:rPr sz="1800" dirty="0" err="1">
                <a:solidFill>
                  <a:srgbClr val="17202A"/>
                </a:solidFill>
              </a:rPr>
              <a:t>khi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cần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F0868E1-A268-464B-BF13-FDE126652F25}"/>
              </a:ext>
            </a:extLst>
          </p:cNvPr>
          <p:cNvSpPr>
            <a:spLocks noGrp="1"/>
          </p:cNvSpPr>
          <p:nvPr/>
        </p:nvSpPr>
        <p:spPr>
          <a:xfrm>
            <a:off x="838200" y="7868920"/>
            <a:ext cx="16611600" cy="1751330"/>
          </a:xfrm>
          <a:prstGeom prst="roundRect">
            <a:avLst>
              <a:gd name="adj" fmla="val 6526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FB0F6A-A1AA-4F5C-BA37-34057A17EA16}"/>
              </a:ext>
            </a:extLst>
          </p:cNvPr>
          <p:cNvSpPr>
            <a:spLocks noGrp="1"/>
          </p:cNvSpPr>
          <p:nvPr/>
        </p:nvSpPr>
        <p:spPr>
          <a:xfrm>
            <a:off x="1066800" y="8077200"/>
            <a:ext cx="161544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Đã tinh chỉnh thành công PhoBERT trên GPU T4, đạt Aspect F1 0.5669 và Sentiment F1 0.5819</a:t>
            </a:r>
          </a:p>
        </p:txBody>
      </p:sp>
    </p:spTree>
    <p:extLst>
      <p:ext uri="{BB962C8B-B14F-4D97-AF65-F5344CB8AC3E}">
        <p14:creationId xmlns:p14="http://schemas.microsoft.com/office/powerpoint/2010/main" val="233038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B463DB6-D8B5-4E32-8426-ECBDC5C050A3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Dữ liệu và quy trình đánh giá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57999E-28E4-473D-919C-72E4D272AFB2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196244-D31A-4A3C-9F88-D322D4D31798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38290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Tách rõ training set và gold evaluation set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3425E3-5ED7-45DE-B5F4-E32F81EE78AA}"/>
              </a:ext>
            </a:extLst>
          </p:cNvPr>
          <p:cNvSpPr>
            <a:spLocks noGrp="1"/>
          </p:cNvSpPr>
          <p:nvPr/>
        </p:nvSpPr>
        <p:spPr>
          <a:xfrm>
            <a:off x="838200" y="2099310"/>
            <a:ext cx="5384800" cy="2286000"/>
          </a:xfrm>
          <a:prstGeom prst="roundRect">
            <a:avLst>
              <a:gd name="adj" fmla="val 5000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41A8D0-629F-4878-ADDF-D09E0DED0798}"/>
              </a:ext>
            </a:extLst>
          </p:cNvPr>
          <p:cNvSpPr>
            <a:spLocks noGrp="1"/>
          </p:cNvSpPr>
          <p:nvPr/>
        </p:nvSpPr>
        <p:spPr>
          <a:xfrm>
            <a:off x="1085850" y="23241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5AA6"/>
                </a:solidFill>
              </a:defRPr>
            </a:pPr>
            <a:r>
              <a:rPr sz="1350" b="1">
                <a:solidFill>
                  <a:srgbClr val="1F5AA6"/>
                </a:solidFill>
              </a:rPr>
              <a:t>Working train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18BBFF-431F-4671-9FA0-435EA1ED43E9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779 dòng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016837-5D91-4F89-BA9F-DA89001A2622}"/>
              </a:ext>
            </a:extLst>
          </p:cNvPr>
          <p:cNvSpPr>
            <a:spLocks noGrp="1"/>
          </p:cNvSpPr>
          <p:nvPr/>
        </p:nvSpPr>
        <p:spPr>
          <a:xfrm>
            <a:off x="1085850" y="30670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Tập huấn luyện ABSA hiện tại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EA57A00-1B0A-44DB-92F4-17C4A6AC91B3}"/>
              </a:ext>
            </a:extLst>
          </p:cNvPr>
          <p:cNvSpPr>
            <a:spLocks noGrp="1"/>
          </p:cNvSpPr>
          <p:nvPr/>
        </p:nvSpPr>
        <p:spPr>
          <a:xfrm>
            <a:off x="6451600" y="2099310"/>
            <a:ext cx="5384800" cy="2286000"/>
          </a:xfrm>
          <a:prstGeom prst="roundRect">
            <a:avLst>
              <a:gd name="adj" fmla="val 5000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30BA22-5208-4549-A055-DAD4CA1B0DDB}"/>
              </a:ext>
            </a:extLst>
          </p:cNvPr>
          <p:cNvSpPr>
            <a:spLocks noGrp="1"/>
          </p:cNvSpPr>
          <p:nvPr/>
        </p:nvSpPr>
        <p:spPr>
          <a:xfrm>
            <a:off x="6705600" y="23241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E8C61"/>
                </a:solidFill>
              </a:defRPr>
            </a:pPr>
            <a:r>
              <a:rPr sz="1350" b="1">
                <a:solidFill>
                  <a:srgbClr val="0E8C61"/>
                </a:solidFill>
              </a:rPr>
              <a:t>Gold eval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F86123-92E8-46F1-A2FA-82513D3203D6}"/>
              </a:ext>
            </a:extLst>
          </p:cNvPr>
          <p:cNvSpPr>
            <a:spLocks noGrp="1"/>
          </p:cNvSpPr>
          <p:nvPr/>
        </p:nvSpPr>
        <p:spPr>
          <a:xfrm>
            <a:off x="6705600" y="25908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250 dòng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2C0ED2-6435-46B7-851A-8888DDA47B7A}"/>
              </a:ext>
            </a:extLst>
          </p:cNvPr>
          <p:cNvSpPr>
            <a:spLocks noGrp="1"/>
          </p:cNvSpPr>
          <p:nvPr/>
        </p:nvSpPr>
        <p:spPr>
          <a:xfrm>
            <a:off x="6705600" y="30670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Tập đánh giá đã được rà soát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47F14CB-D86E-4826-B8E6-58CB385935CF}"/>
              </a:ext>
            </a:extLst>
          </p:cNvPr>
          <p:cNvSpPr>
            <a:spLocks noGrp="1"/>
          </p:cNvSpPr>
          <p:nvPr/>
        </p:nvSpPr>
        <p:spPr>
          <a:xfrm>
            <a:off x="12065000" y="2099310"/>
            <a:ext cx="5384800" cy="2286000"/>
          </a:xfrm>
          <a:prstGeom prst="roundRect">
            <a:avLst>
              <a:gd name="adj" fmla="val 5000"/>
            </a:avLst>
          </a:prstGeom>
          <a:solidFill>
            <a:srgbClr val="F7E7D5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229D6A-C691-4FF7-8948-F7C3A6C31E15}"/>
              </a:ext>
            </a:extLst>
          </p:cNvPr>
          <p:cNvSpPr>
            <a:spLocks noGrp="1"/>
          </p:cNvSpPr>
          <p:nvPr/>
        </p:nvSpPr>
        <p:spPr>
          <a:xfrm>
            <a:off x="12306300" y="23241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65B18"/>
                </a:solidFill>
              </a:defRPr>
            </a:pPr>
            <a:r>
              <a:rPr sz="1350" b="1">
                <a:solidFill>
                  <a:srgbClr val="A65B18"/>
                </a:solidFill>
              </a:rPr>
              <a:t>Tổng ABSA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271A12-F9B8-44DA-9ECB-DFFBD55B1DD8}"/>
              </a:ext>
            </a:extLst>
          </p:cNvPr>
          <p:cNvSpPr>
            <a:spLocks noGrp="1"/>
          </p:cNvSpPr>
          <p:nvPr/>
        </p:nvSpPr>
        <p:spPr>
          <a:xfrm>
            <a:off x="12306300" y="25908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1029 dòng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B12541-25DF-4D14-8A57-07D428923C66}"/>
              </a:ext>
            </a:extLst>
          </p:cNvPr>
          <p:cNvSpPr>
            <a:spLocks noGrp="1"/>
          </p:cNvSpPr>
          <p:nvPr/>
        </p:nvSpPr>
        <p:spPr>
          <a:xfrm>
            <a:off x="12306300" y="30670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Tập nhãn aspect dùng cho workflow hiện tại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F66194F-030B-4D23-BF32-3A0C98E096E2}"/>
              </a:ext>
            </a:extLst>
          </p:cNvPr>
          <p:cNvSpPr>
            <a:spLocks noGrp="1"/>
          </p:cNvSpPr>
          <p:nvPr/>
        </p:nvSpPr>
        <p:spPr>
          <a:xfrm>
            <a:off x="838200" y="4690110"/>
            <a:ext cx="8191500" cy="4930140"/>
          </a:xfrm>
          <a:prstGeom prst="roundRect">
            <a:avLst>
              <a:gd name="adj" fmla="val 231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D483CD-5088-4BF7-80D5-185655444B31}"/>
              </a:ext>
            </a:extLst>
          </p:cNvPr>
          <p:cNvSpPr>
            <a:spLocks noGrp="1"/>
          </p:cNvSpPr>
          <p:nvPr/>
        </p:nvSpPr>
        <p:spPr>
          <a:xfrm>
            <a:off x="1085850" y="4914900"/>
            <a:ext cx="76962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0E8C61"/>
                </a:solidFill>
              </a:defRPr>
            </a:pPr>
            <a:r>
              <a:rPr sz="2100" b="1">
                <a:solidFill>
                  <a:srgbClr val="0E8C61"/>
                </a:solidFill>
              </a:rPr>
              <a:t>Workflow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1E760E-F5CB-4587-85D3-975D8FBBAFE7}"/>
              </a:ext>
            </a:extLst>
          </p:cNvPr>
          <p:cNvSpPr>
            <a:spLocks noGrp="1"/>
          </p:cNvSpPr>
          <p:nvPr/>
        </p:nvSpPr>
        <p:spPr>
          <a:xfrm>
            <a:off x="1085850" y="5391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Gold eval review queue đã được rà hết 250 dòng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90B81A-A878-49D4-8F66-10AE111E76DB}"/>
              </a:ext>
            </a:extLst>
          </p:cNvPr>
          <p:cNvSpPr>
            <a:spLocks noGrp="1"/>
          </p:cNvSpPr>
          <p:nvPr/>
        </p:nvSpPr>
        <p:spPr>
          <a:xfrm>
            <a:off x="1085850" y="5772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Train trên working_train.csv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2D9246A-4647-416E-BC3A-357D328EDDCE}"/>
              </a:ext>
            </a:extLst>
          </p:cNvPr>
          <p:cNvSpPr>
            <a:spLocks noGrp="1"/>
          </p:cNvSpPr>
          <p:nvPr/>
        </p:nvSpPr>
        <p:spPr>
          <a:xfrm>
            <a:off x="1085850" y="617220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Evaluate trên absa_gold_eval.csv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D8999A-453E-4622-9674-C4484A0FF341}"/>
              </a:ext>
            </a:extLst>
          </p:cNvPr>
          <p:cNvSpPr>
            <a:spLocks noGrp="1"/>
          </p:cNvSpPr>
          <p:nvPr/>
        </p:nvSpPr>
        <p:spPr>
          <a:xfrm>
            <a:off x="1085850" y="655320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Không dùng random split trên cả tập 1029 dòng nữa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E6F0755-EF8D-46E4-9CCB-9D78E7B965B7}"/>
              </a:ext>
            </a:extLst>
          </p:cNvPr>
          <p:cNvSpPr>
            <a:spLocks noGrp="1"/>
          </p:cNvSpPr>
          <p:nvPr/>
        </p:nvSpPr>
        <p:spPr>
          <a:xfrm>
            <a:off x="9258300" y="4690110"/>
            <a:ext cx="8191500" cy="4930140"/>
          </a:xfrm>
          <a:prstGeom prst="roundRect">
            <a:avLst>
              <a:gd name="adj" fmla="val 2318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0B5271-F213-4B9A-8F56-1CD437673C53}"/>
              </a:ext>
            </a:extLst>
          </p:cNvPr>
          <p:cNvSpPr>
            <a:spLocks noGrp="1"/>
          </p:cNvSpPr>
          <p:nvPr/>
        </p:nvSpPr>
        <p:spPr>
          <a:xfrm>
            <a:off x="9505950" y="4914900"/>
            <a:ext cx="76962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Ý nghĩa học thuật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635F77-E2B3-4B44-AD94-646B2A61D3CA}"/>
              </a:ext>
            </a:extLst>
          </p:cNvPr>
          <p:cNvSpPr>
            <a:spLocks noGrp="1"/>
          </p:cNvSpPr>
          <p:nvPr/>
        </p:nvSpPr>
        <p:spPr>
          <a:xfrm>
            <a:off x="9505950" y="5391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Đánh giá hiện tại khó hơn và thực hơn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7759665-2D2A-473D-B366-E04513409859}"/>
              </a:ext>
            </a:extLst>
          </p:cNvPr>
          <p:cNvSpPr>
            <a:spLocks noGrp="1"/>
          </p:cNvSpPr>
          <p:nvPr/>
        </p:nvSpPr>
        <p:spPr>
          <a:xfrm>
            <a:off x="9505950" y="5772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Cho phép so sánh mô hình công bằng hơn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A0BB07-BDE1-4AF9-835F-F64B3868ACC9}"/>
              </a:ext>
            </a:extLst>
          </p:cNvPr>
          <p:cNvSpPr>
            <a:spLocks noGrp="1"/>
          </p:cNvSpPr>
          <p:nvPr/>
        </p:nvSpPr>
        <p:spPr>
          <a:xfrm>
            <a:off x="9505950" y="617220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Xác định rõ các aspect yếu: product, service, app</a:t>
            </a:r>
          </a:p>
        </p:txBody>
      </p:sp>
    </p:spTree>
    <p:extLst>
      <p:ext uri="{BB962C8B-B14F-4D97-AF65-F5344CB8AC3E}">
        <p14:creationId xmlns:p14="http://schemas.microsoft.com/office/powerpoint/2010/main" val="921975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3D779524-CE54-46BC-884F-60A2DA47E13B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Kết quả baseline hiện tại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8BCAF-9550-44CD-A85C-276B23F7BA85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D8DD97-8C20-4BFE-A1AB-8427BDF5165C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451485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Mốc thực nghiệm sau khi đánh giá trên gold eval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2FA4A2B-CF0B-457F-BD8F-11AA63EC19BF}"/>
              </a:ext>
            </a:extLst>
          </p:cNvPr>
          <p:cNvSpPr>
            <a:spLocks noGrp="1"/>
          </p:cNvSpPr>
          <p:nvPr/>
        </p:nvSpPr>
        <p:spPr>
          <a:xfrm>
            <a:off x="838200" y="2023110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371414-1DD2-4485-8269-D3A82406FBF1}"/>
              </a:ext>
            </a:extLst>
          </p:cNvPr>
          <p:cNvSpPr>
            <a:spLocks noGrp="1"/>
          </p:cNvSpPr>
          <p:nvPr/>
        </p:nvSpPr>
        <p:spPr>
          <a:xfrm>
            <a:off x="1085850" y="22479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5AA6"/>
                </a:solidFill>
              </a:defRPr>
            </a:pPr>
            <a:r>
              <a:rPr sz="1350" b="1" dirty="0">
                <a:solidFill>
                  <a:srgbClr val="1F5AA6"/>
                </a:solidFill>
              </a:rPr>
              <a:t>Sentiment SVM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99509C-48A1-4262-A8C8-146F42DBAB7B}"/>
              </a:ext>
            </a:extLst>
          </p:cNvPr>
          <p:cNvSpPr>
            <a:spLocks noGrp="1"/>
          </p:cNvSpPr>
          <p:nvPr/>
        </p:nvSpPr>
        <p:spPr>
          <a:xfrm>
            <a:off x="1085850" y="25146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Macro F1 0.6210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0BD26B-889A-4CA2-A929-A8C5BB89EBE1}"/>
              </a:ext>
            </a:extLst>
          </p:cNvPr>
          <p:cNvSpPr>
            <a:spLocks noGrp="1"/>
          </p:cNvSpPr>
          <p:nvPr/>
        </p:nvSpPr>
        <p:spPr>
          <a:xfrm>
            <a:off x="1085850" y="2990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 dirty="0">
                <a:solidFill>
                  <a:srgbClr val="4B5563"/>
                </a:solidFill>
              </a:rPr>
              <a:t>Baseline sentiment </a:t>
            </a:r>
            <a:r>
              <a:rPr sz="1050" dirty="0" err="1">
                <a:solidFill>
                  <a:srgbClr val="4B5563"/>
                </a:solidFill>
              </a:rPr>
              <a:t>tốt</a:t>
            </a:r>
            <a:r>
              <a:rPr sz="1050" dirty="0">
                <a:solidFill>
                  <a:srgbClr val="4B5563"/>
                </a:solidFill>
              </a:rPr>
              <a:t> </a:t>
            </a:r>
            <a:r>
              <a:rPr sz="1050" dirty="0" err="1">
                <a:solidFill>
                  <a:srgbClr val="4B5563"/>
                </a:solidFill>
              </a:rPr>
              <a:t>nhất</a:t>
            </a:r>
            <a:r>
              <a:rPr sz="1050" dirty="0">
                <a:solidFill>
                  <a:srgbClr val="4B5563"/>
                </a:solidFill>
              </a:rPr>
              <a:t> </a:t>
            </a:r>
            <a:r>
              <a:rPr sz="1050" dirty="0" err="1">
                <a:solidFill>
                  <a:srgbClr val="4B5563"/>
                </a:solidFill>
              </a:rPr>
              <a:t>hiện</a:t>
            </a:r>
            <a:r>
              <a:rPr sz="1050" dirty="0">
                <a:solidFill>
                  <a:srgbClr val="4B5563"/>
                </a:solidFill>
              </a:rPr>
              <a:t> </a:t>
            </a:r>
            <a:r>
              <a:rPr sz="1050" dirty="0" err="1">
                <a:solidFill>
                  <a:srgbClr val="4B5563"/>
                </a:solidFill>
              </a:rPr>
              <a:t>tại</a:t>
            </a:r>
            <a:endParaRPr sz="1050" dirty="0">
              <a:solidFill>
                <a:srgbClr val="4B5563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BA925C9-8809-498E-B0DE-B5DCDE9ED5C3}"/>
              </a:ext>
            </a:extLst>
          </p:cNvPr>
          <p:cNvSpPr>
            <a:spLocks noGrp="1"/>
          </p:cNvSpPr>
          <p:nvPr/>
        </p:nvSpPr>
        <p:spPr>
          <a:xfrm>
            <a:off x="6445250" y="2023110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3D9CF0-8F59-4B48-BE21-8639DAABA489}"/>
              </a:ext>
            </a:extLst>
          </p:cNvPr>
          <p:cNvSpPr>
            <a:spLocks noGrp="1"/>
          </p:cNvSpPr>
          <p:nvPr/>
        </p:nvSpPr>
        <p:spPr>
          <a:xfrm>
            <a:off x="6686550" y="22479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E8C61"/>
                </a:solidFill>
              </a:defRPr>
            </a:pPr>
            <a:r>
              <a:rPr sz="1350" b="1">
                <a:solidFill>
                  <a:srgbClr val="0E8C61"/>
                </a:solidFill>
              </a:rPr>
              <a:t>ABSA Baseline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503116-8D2E-4BB7-A1A0-F4242D4569F4}"/>
              </a:ext>
            </a:extLst>
          </p:cNvPr>
          <p:cNvSpPr>
            <a:spLocks noGrp="1"/>
          </p:cNvSpPr>
          <p:nvPr/>
        </p:nvSpPr>
        <p:spPr>
          <a:xfrm>
            <a:off x="6686550" y="25146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Micro F1 0.6238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725694-BE5B-47F1-8946-C6BF1E0A21FC}"/>
              </a:ext>
            </a:extLst>
          </p:cNvPr>
          <p:cNvSpPr>
            <a:spLocks noGrp="1"/>
          </p:cNvSpPr>
          <p:nvPr/>
        </p:nvSpPr>
        <p:spPr>
          <a:xfrm>
            <a:off x="6686550" y="2990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TF-IDF + SVM trên gold eval 250 dòng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1282F93-6CA0-476A-B7EE-2CF313C5E749}"/>
              </a:ext>
            </a:extLst>
          </p:cNvPr>
          <p:cNvSpPr>
            <a:spLocks noGrp="1"/>
          </p:cNvSpPr>
          <p:nvPr/>
        </p:nvSpPr>
        <p:spPr>
          <a:xfrm>
            <a:off x="12052300" y="2023110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F7E7D5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12FEB1-2C59-46AA-B72F-70B369B8E8E8}"/>
              </a:ext>
            </a:extLst>
          </p:cNvPr>
          <p:cNvSpPr>
            <a:spLocks noGrp="1"/>
          </p:cNvSpPr>
          <p:nvPr/>
        </p:nvSpPr>
        <p:spPr>
          <a:xfrm>
            <a:off x="12306300" y="22479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A65B18"/>
                </a:solidFill>
              </a:defRPr>
            </a:pPr>
            <a:r>
              <a:rPr sz="1350" b="1">
                <a:solidFill>
                  <a:srgbClr val="A65B18"/>
                </a:solidFill>
              </a:rPr>
              <a:t>ABSA Baseline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C11988-26A8-497B-95CA-BDCF0F085B60}"/>
              </a:ext>
            </a:extLst>
          </p:cNvPr>
          <p:cNvSpPr>
            <a:spLocks noGrp="1"/>
          </p:cNvSpPr>
          <p:nvPr/>
        </p:nvSpPr>
        <p:spPr>
          <a:xfrm>
            <a:off x="12306300" y="25146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Macro F1 0.6279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2DC95BE-E926-4B38-8AE1-1E37405F13D0}"/>
              </a:ext>
            </a:extLst>
          </p:cNvPr>
          <p:cNvSpPr>
            <a:spLocks noGrp="1"/>
          </p:cNvSpPr>
          <p:nvPr/>
        </p:nvSpPr>
        <p:spPr>
          <a:xfrm>
            <a:off x="12306300" y="2990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Mốc tham chiếu chính cho deep learning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6A53D11-7298-4BF0-AC62-B95938618A58}"/>
              </a:ext>
            </a:extLst>
          </p:cNvPr>
          <p:cNvSpPr>
            <a:spLocks noGrp="1"/>
          </p:cNvSpPr>
          <p:nvPr/>
        </p:nvSpPr>
        <p:spPr>
          <a:xfrm>
            <a:off x="838200" y="3556635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ABEC77-8F87-4836-A1A9-EC2A7A18685A}"/>
              </a:ext>
            </a:extLst>
          </p:cNvPr>
          <p:cNvSpPr>
            <a:spLocks noGrp="1"/>
          </p:cNvSpPr>
          <p:nvPr/>
        </p:nvSpPr>
        <p:spPr>
          <a:xfrm>
            <a:off x="1085850" y="379095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E8C61"/>
                </a:solidFill>
              </a:defRPr>
            </a:pPr>
            <a:r>
              <a:rPr sz="1350" b="1">
                <a:solidFill>
                  <a:srgbClr val="0E8C61"/>
                </a:solidFill>
              </a:rPr>
              <a:t>Delivery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74EC8F-436B-4529-B449-6A772739C4B0}"/>
              </a:ext>
            </a:extLst>
          </p:cNvPr>
          <p:cNvSpPr>
            <a:spLocks noGrp="1"/>
          </p:cNvSpPr>
          <p:nvPr/>
        </p:nvSpPr>
        <p:spPr>
          <a:xfrm>
            <a:off x="1085850" y="405765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F1 0.8063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2733FB-2C54-4D0A-B8B4-CE5F0A529F8B}"/>
              </a:ext>
            </a:extLst>
          </p:cNvPr>
          <p:cNvSpPr>
            <a:spLocks noGrp="1"/>
          </p:cNvSpPr>
          <p:nvPr/>
        </p:nvSpPr>
        <p:spPr>
          <a:xfrm>
            <a:off x="1085850" y="4514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Aspect mạnh nhất hiện tại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14F5F31-42C2-4B73-BA8B-173BF76F01B3}"/>
              </a:ext>
            </a:extLst>
          </p:cNvPr>
          <p:cNvSpPr>
            <a:spLocks noGrp="1"/>
          </p:cNvSpPr>
          <p:nvPr/>
        </p:nvSpPr>
        <p:spPr>
          <a:xfrm>
            <a:off x="6445250" y="3556635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418F17-F413-466C-95A1-95BB072DEBF6}"/>
              </a:ext>
            </a:extLst>
          </p:cNvPr>
          <p:cNvSpPr>
            <a:spLocks noGrp="1"/>
          </p:cNvSpPr>
          <p:nvPr/>
        </p:nvSpPr>
        <p:spPr>
          <a:xfrm>
            <a:off x="6686550" y="379095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5AA6"/>
                </a:solidFill>
              </a:defRPr>
            </a:pPr>
            <a:r>
              <a:rPr sz="1350" b="1">
                <a:solidFill>
                  <a:srgbClr val="1F5AA6"/>
                </a:solidFill>
              </a:rPr>
              <a:t>Price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53D085F-1491-4B72-9F04-628B09309DE1}"/>
              </a:ext>
            </a:extLst>
          </p:cNvPr>
          <p:cNvSpPr>
            <a:spLocks noGrp="1"/>
          </p:cNvSpPr>
          <p:nvPr/>
        </p:nvSpPr>
        <p:spPr>
          <a:xfrm>
            <a:off x="6686550" y="405765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>
                <a:solidFill>
                  <a:srgbClr val="17202A"/>
                </a:solidFill>
              </a:rPr>
              <a:t>F1 0.7327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32815B-BC5E-4C0A-B0C4-CCFFD83327DB}"/>
              </a:ext>
            </a:extLst>
          </p:cNvPr>
          <p:cNvSpPr>
            <a:spLocks noGrp="1"/>
          </p:cNvSpPr>
          <p:nvPr/>
        </p:nvSpPr>
        <p:spPr>
          <a:xfrm>
            <a:off x="6686550" y="4514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Mức trung bình khá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77F49B6-B0FF-4F69-B707-4758DF124818}"/>
              </a:ext>
            </a:extLst>
          </p:cNvPr>
          <p:cNvSpPr>
            <a:spLocks noGrp="1"/>
          </p:cNvSpPr>
          <p:nvPr/>
        </p:nvSpPr>
        <p:spPr>
          <a:xfrm>
            <a:off x="12052300" y="3556635"/>
            <a:ext cx="5397500" cy="1323975"/>
          </a:xfrm>
          <a:prstGeom prst="roundRect">
            <a:avLst>
              <a:gd name="adj" fmla="val 8633"/>
            </a:avLst>
          </a:prstGeom>
          <a:solidFill>
            <a:srgbClr val="FCE7E5"/>
          </a:solidFill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5AFE44-854D-428C-BFFB-16C9FC0B0220}"/>
              </a:ext>
            </a:extLst>
          </p:cNvPr>
          <p:cNvSpPr>
            <a:spLocks noGrp="1"/>
          </p:cNvSpPr>
          <p:nvPr/>
        </p:nvSpPr>
        <p:spPr>
          <a:xfrm>
            <a:off x="12306300" y="379095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Service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7E4CAC-3322-4584-A932-B9D237E2B388}"/>
              </a:ext>
            </a:extLst>
          </p:cNvPr>
          <p:cNvSpPr>
            <a:spLocks noGrp="1"/>
          </p:cNvSpPr>
          <p:nvPr/>
        </p:nvSpPr>
        <p:spPr>
          <a:xfrm>
            <a:off x="12306300" y="405765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F1 0.4138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533A405-AB66-47BE-9EDA-5563F830F897}"/>
              </a:ext>
            </a:extLst>
          </p:cNvPr>
          <p:cNvSpPr>
            <a:spLocks noGrp="1"/>
          </p:cNvSpPr>
          <p:nvPr/>
        </p:nvSpPr>
        <p:spPr>
          <a:xfrm>
            <a:off x="12306300" y="45148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Aspect yếu nhất cần tập trung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5C01F1E-A886-4661-B1E1-126253A68D25}"/>
              </a:ext>
            </a:extLst>
          </p:cNvPr>
          <p:cNvSpPr>
            <a:spLocks noGrp="1"/>
          </p:cNvSpPr>
          <p:nvPr/>
        </p:nvSpPr>
        <p:spPr>
          <a:xfrm>
            <a:off x="838200" y="5109210"/>
            <a:ext cx="16611600" cy="4511040"/>
          </a:xfrm>
          <a:prstGeom prst="roundRect">
            <a:avLst>
              <a:gd name="adj" fmla="val 2534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E61F7E-8CD9-4597-83E5-0FAA4A952D20}"/>
              </a:ext>
            </a:extLst>
          </p:cNvPr>
          <p:cNvSpPr>
            <a:spLocks noGrp="1"/>
          </p:cNvSpPr>
          <p:nvPr/>
        </p:nvSpPr>
        <p:spPr>
          <a:xfrm>
            <a:off x="1085850" y="5314950"/>
            <a:ext cx="16116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Gold eval phản ánh khó khăn thật của bài toán hơn tập pha trộn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2F1DD3E-071A-4F80-B03D-1FB0453FC8F6}"/>
              </a:ext>
            </a:extLst>
          </p:cNvPr>
          <p:cNvSpPr>
            <a:spLocks noGrp="1"/>
          </p:cNvSpPr>
          <p:nvPr/>
        </p:nvSpPr>
        <p:spPr>
          <a:xfrm>
            <a:off x="1085850" y="5715000"/>
            <a:ext cx="16116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>
                <a:solidFill>
                  <a:srgbClr val="17202A"/>
                </a:solidFill>
              </a:rPr>
              <a:t>• Aspect khó nhất hiện tại: product, service, app</a:t>
            </a:r>
          </a:p>
        </p:txBody>
      </p:sp>
    </p:spTree>
    <p:extLst>
      <p:ext uri="{BB962C8B-B14F-4D97-AF65-F5344CB8AC3E}">
        <p14:creationId xmlns:p14="http://schemas.microsoft.com/office/powerpoint/2010/main" val="966790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AC84F03F-F464-4ACC-88E7-331388734B33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So sánh mô hình học sâu bước đầu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1FB839-0386-4715-8131-51B4B1194703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E83084-35D0-4F98-A6E9-579BB8FE0235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56388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4B5563"/>
                </a:solidFill>
              </a:defRPr>
            </a:pPr>
            <a:r>
              <a:rPr sz="1800">
                <a:solidFill>
                  <a:srgbClr val="4B5563"/>
                </a:solidFill>
              </a:rPr>
              <a:t>Kết quả đầu tiên trên cùng một split working train / gold eval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1C1567F-F8D3-4EF0-8CA3-A26B3A3A4CBA}"/>
              </a:ext>
            </a:extLst>
          </p:cNvPr>
          <p:cNvSpPr>
            <a:spLocks noGrp="1"/>
          </p:cNvSpPr>
          <p:nvPr/>
        </p:nvSpPr>
        <p:spPr>
          <a:xfrm>
            <a:off x="838200" y="2061210"/>
            <a:ext cx="5384800" cy="2667000"/>
          </a:xfrm>
          <a:prstGeom prst="roundRect">
            <a:avLst>
              <a:gd name="adj" fmla="val 4286"/>
            </a:avLst>
          </a:prstGeom>
          <a:solidFill>
            <a:srgbClr val="DCEFE7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80CF14-CB41-4785-A1AE-AC651BDFA31A}"/>
              </a:ext>
            </a:extLst>
          </p:cNvPr>
          <p:cNvSpPr>
            <a:spLocks noGrp="1"/>
          </p:cNvSpPr>
          <p:nvPr/>
        </p:nvSpPr>
        <p:spPr>
          <a:xfrm>
            <a:off x="1085850" y="22860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E8C61"/>
                </a:solidFill>
              </a:defRPr>
            </a:pPr>
            <a:r>
              <a:rPr sz="1350" b="1">
                <a:solidFill>
                  <a:srgbClr val="0E8C61"/>
                </a:solidFill>
              </a:rPr>
              <a:t>ABSA 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259FBC-D66C-484C-BC89-F77A2236F85D}"/>
              </a:ext>
            </a:extLst>
          </p:cNvPr>
          <p:cNvSpPr>
            <a:spLocks noGrp="1"/>
          </p:cNvSpPr>
          <p:nvPr/>
        </p:nvSpPr>
        <p:spPr>
          <a:xfrm>
            <a:off x="1085850" y="25527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Micro F1 0.6238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FF9302-F6BA-4FBF-AD5C-18E9CE3BD8EF}"/>
              </a:ext>
            </a:extLst>
          </p:cNvPr>
          <p:cNvSpPr>
            <a:spLocks noGrp="1"/>
          </p:cNvSpPr>
          <p:nvPr/>
        </p:nvSpPr>
        <p:spPr>
          <a:xfrm>
            <a:off x="1085850" y="30289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Mốc tham chiếu hiện tại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7DCD0B-84E1-489E-9D65-F4D2EAC3AA7C}"/>
              </a:ext>
            </a:extLst>
          </p:cNvPr>
          <p:cNvSpPr>
            <a:spLocks noGrp="1"/>
          </p:cNvSpPr>
          <p:nvPr/>
        </p:nvSpPr>
        <p:spPr>
          <a:xfrm>
            <a:off x="6451600" y="2061210"/>
            <a:ext cx="5384800" cy="2667000"/>
          </a:xfrm>
          <a:prstGeom prst="roundRect">
            <a:avLst>
              <a:gd name="adj" fmla="val 4286"/>
            </a:avLst>
          </a:prstGeom>
          <a:solidFill>
            <a:srgbClr val="DFEAF8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3B4EA-1D1C-415A-8C3A-D222210D5DE9}"/>
              </a:ext>
            </a:extLst>
          </p:cNvPr>
          <p:cNvSpPr>
            <a:spLocks noGrp="1"/>
          </p:cNvSpPr>
          <p:nvPr/>
        </p:nvSpPr>
        <p:spPr>
          <a:xfrm>
            <a:off x="6705600" y="22860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1F5AA6"/>
                </a:solidFill>
              </a:defRPr>
            </a:pPr>
            <a:r>
              <a:rPr sz="1350" b="1" dirty="0">
                <a:solidFill>
                  <a:srgbClr val="1F5AA6"/>
                </a:solidFill>
              </a:rPr>
              <a:t>Bi-LSTM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0B9200-303E-4711-AE90-607247FF2284}"/>
              </a:ext>
            </a:extLst>
          </p:cNvPr>
          <p:cNvSpPr>
            <a:spLocks noGrp="1"/>
          </p:cNvSpPr>
          <p:nvPr/>
        </p:nvSpPr>
        <p:spPr>
          <a:xfrm>
            <a:off x="6705600" y="25527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rPr sz="2700" b="1" dirty="0">
                <a:solidFill>
                  <a:srgbClr val="17202A"/>
                </a:solidFill>
              </a:rPr>
              <a:t>Micro F1 0.6018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CE4ADD-23E5-4E88-B558-572C10496843}"/>
              </a:ext>
            </a:extLst>
          </p:cNvPr>
          <p:cNvSpPr>
            <a:spLocks noGrp="1"/>
          </p:cNvSpPr>
          <p:nvPr/>
        </p:nvSpPr>
        <p:spPr>
          <a:xfrm>
            <a:off x="6705600" y="30289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Chạy được, nhưng chưa vượt baseline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159DEEC-A592-47C1-9DBB-E937A0A55AD9}"/>
              </a:ext>
            </a:extLst>
          </p:cNvPr>
          <p:cNvSpPr>
            <a:spLocks noGrp="1"/>
          </p:cNvSpPr>
          <p:nvPr/>
        </p:nvSpPr>
        <p:spPr>
          <a:xfrm>
            <a:off x="12065000" y="2061210"/>
            <a:ext cx="5384800" cy="2667000"/>
          </a:xfrm>
          <a:prstGeom prst="roundRect">
            <a:avLst>
              <a:gd name="adj" fmla="val 4286"/>
            </a:avLst>
          </a:prstGeom>
          <a:solidFill>
            <a:srgbClr val="FCE7E5"/>
          </a:solid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F1089E-30FA-4602-96A1-25DA31D3D9D0}"/>
              </a:ext>
            </a:extLst>
          </p:cNvPr>
          <p:cNvSpPr>
            <a:spLocks noGrp="1"/>
          </p:cNvSpPr>
          <p:nvPr/>
        </p:nvSpPr>
        <p:spPr>
          <a:xfrm>
            <a:off x="12306300" y="2286000"/>
            <a:ext cx="489585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B42318"/>
                </a:solidFill>
              </a:defRPr>
            </a:pPr>
            <a:r>
              <a:rPr sz="1350" b="1">
                <a:solidFill>
                  <a:srgbClr val="B42318"/>
                </a:solidFill>
              </a:rPr>
              <a:t>PhoBERT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B999A5-29FB-4C4A-9CF4-EA279586D184}"/>
              </a:ext>
            </a:extLst>
          </p:cNvPr>
          <p:cNvSpPr>
            <a:spLocks noGrp="1"/>
          </p:cNvSpPr>
          <p:nvPr/>
        </p:nvSpPr>
        <p:spPr>
          <a:xfrm>
            <a:off x="12306300" y="2552700"/>
            <a:ext cx="4895850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700" b="1">
                <a:solidFill>
                  <a:srgbClr val="17202A"/>
                </a:solidFill>
              </a:defRPr>
            </a:pPr>
            <a:r>
              <a:t>Aspect F1-m: 0.5669 | Sentiment F1-M: 0.5819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73F142-632C-4AC3-B812-87DA6994EC35}"/>
              </a:ext>
            </a:extLst>
          </p:cNvPr>
          <p:cNvSpPr>
            <a:spLocks noGrp="1"/>
          </p:cNvSpPr>
          <p:nvPr/>
        </p:nvSpPr>
        <p:spPr>
          <a:xfrm>
            <a:off x="12306300" y="3028950"/>
            <a:ext cx="4895850" cy="171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4B5563"/>
                </a:solidFill>
              </a:defRPr>
            </a:pPr>
            <a:r>
              <a:t>Huấn luyện 5 epochs đa tác vụ trên GPU T4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3FF90FA-2062-4DC0-8553-821F351FD850}"/>
              </a:ext>
            </a:extLst>
          </p:cNvPr>
          <p:cNvSpPr>
            <a:spLocks noGrp="1"/>
          </p:cNvSpPr>
          <p:nvPr/>
        </p:nvSpPr>
        <p:spPr>
          <a:xfrm>
            <a:off x="838200" y="4994910"/>
            <a:ext cx="8191500" cy="4625340"/>
          </a:xfrm>
          <a:prstGeom prst="roundRect">
            <a:avLst>
              <a:gd name="adj" fmla="val 2471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84C434-5E52-4D35-8E97-53B59C364B17}"/>
              </a:ext>
            </a:extLst>
          </p:cNvPr>
          <p:cNvSpPr>
            <a:spLocks noGrp="1"/>
          </p:cNvSpPr>
          <p:nvPr/>
        </p:nvSpPr>
        <p:spPr>
          <a:xfrm>
            <a:off x="1066800" y="5200650"/>
            <a:ext cx="7734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17202A"/>
                </a:solidFill>
              </a:defRPr>
            </a:pPr>
            <a:r>
              <a:t>Kết luận &amp; Cột mốc Deep Learning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52BDE1-35DF-477E-9180-854B43DC0782}"/>
              </a:ext>
            </a:extLst>
          </p:cNvPr>
          <p:cNvSpPr>
            <a:spLocks noGrp="1"/>
          </p:cNvSpPr>
          <p:nvPr/>
        </p:nvSpPr>
        <p:spPr>
          <a:xfrm>
            <a:off x="1066800" y="5657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rPr sz="1800" dirty="0">
                <a:solidFill>
                  <a:srgbClr val="17202A"/>
                </a:solidFill>
              </a:rPr>
              <a:t>• Bi-LSTM </a:t>
            </a:r>
            <a:r>
              <a:rPr sz="1800" dirty="0" err="1">
                <a:solidFill>
                  <a:srgbClr val="17202A"/>
                </a:solidFill>
              </a:rPr>
              <a:t>đã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hoàn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thành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mốc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triển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khai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đầu</a:t>
            </a:r>
            <a:r>
              <a:rPr sz="1800" dirty="0">
                <a:solidFill>
                  <a:srgbClr val="17202A"/>
                </a:solidFill>
              </a:rPr>
              <a:t> </a:t>
            </a:r>
            <a:r>
              <a:rPr sz="1800" dirty="0" err="1">
                <a:solidFill>
                  <a:srgbClr val="17202A"/>
                </a:solidFill>
              </a:rPr>
              <a:t>tiên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E53562-1D95-41DD-A28C-71A5F572F448}"/>
              </a:ext>
            </a:extLst>
          </p:cNvPr>
          <p:cNvSpPr>
            <a:spLocks noGrp="1"/>
          </p:cNvSpPr>
          <p:nvPr/>
        </p:nvSpPr>
        <p:spPr>
          <a:xfrm>
            <a:off x="1066800" y="6038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PhoBERT GPU đạt hiệu năng cao và đã được tích hợp chạy live thành công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02E7C86-1E39-405F-8440-916A4D7A4F83}"/>
              </a:ext>
            </a:extLst>
          </p:cNvPr>
          <p:cNvSpPr>
            <a:spLocks noGrp="1"/>
          </p:cNvSpPr>
          <p:nvPr/>
        </p:nvSpPr>
        <p:spPr>
          <a:xfrm>
            <a:off x="1066800" y="643890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PhoBERT đạt độ chính xác tối ưu về phân loại Cảm xúc (Accuracy 0.6200)</a:t>
            </a:r>
            <a:endParaRPr sz="1800" dirty="0">
              <a:solidFill>
                <a:srgbClr val="17202A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5EA5E1E-06C8-41AE-B66C-A8132B90BBE6}"/>
              </a:ext>
            </a:extLst>
          </p:cNvPr>
          <p:cNvSpPr>
            <a:spLocks noGrp="1"/>
          </p:cNvSpPr>
          <p:nvPr/>
        </p:nvSpPr>
        <p:spPr>
          <a:xfrm>
            <a:off x="9258300" y="4994910"/>
            <a:ext cx="8191500" cy="4625340"/>
          </a:xfrm>
          <a:prstGeom prst="roundRect">
            <a:avLst>
              <a:gd name="adj" fmla="val 2471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A85F9F-AEF2-4F13-9169-9C76CB78A936}"/>
              </a:ext>
            </a:extLst>
          </p:cNvPr>
          <p:cNvSpPr>
            <a:spLocks noGrp="1"/>
          </p:cNvSpPr>
          <p:nvPr/>
        </p:nvSpPr>
        <p:spPr>
          <a:xfrm>
            <a:off x="9486900" y="5200650"/>
            <a:ext cx="7734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B42318"/>
                </a:solidFill>
              </a:defRPr>
            </a:pPr>
            <a:r>
              <a:rPr sz="2100" b="1">
                <a:solidFill>
                  <a:srgbClr val="B42318"/>
                </a:solidFill>
              </a:rPr>
              <a:t>Lưu ý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C8FC3BC-7352-4BD8-A199-BB62A6DF17D7}"/>
              </a:ext>
            </a:extLst>
          </p:cNvPr>
          <p:cNvSpPr>
            <a:spLocks noGrp="1"/>
          </p:cNvSpPr>
          <p:nvPr/>
        </p:nvSpPr>
        <p:spPr>
          <a:xfrm>
            <a:off x="9486900" y="5657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Đã chạy 5 epochs trên Kaggle GPU T4 (Mixed Precision) cực nhanh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C48781-49BE-4178-9BC0-8AFAC79F984C}"/>
              </a:ext>
            </a:extLst>
          </p:cNvPr>
          <p:cNvSpPr>
            <a:spLocks noGrp="1"/>
          </p:cNvSpPr>
          <p:nvPr/>
        </p:nvSpPr>
        <p:spPr>
          <a:xfrm>
            <a:off x="9486900" y="603885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Dự đoán đồng thời khía cạnh &amp; cảm xúc (Multitask)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661FA-4380-4A36-962C-35CDA9C6CE5C}"/>
              </a:ext>
            </a:extLst>
          </p:cNvPr>
          <p:cNvSpPr>
            <a:spLocks noGrp="1"/>
          </p:cNvSpPr>
          <p:nvPr/>
        </p:nvSpPr>
        <p:spPr>
          <a:xfrm>
            <a:off x="9486900" y="6438900"/>
            <a:ext cx="77343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Chạy Batch Inference thành công trên 100k review thô chỉ trong 2 phút</a:t>
            </a:r>
          </a:p>
        </p:txBody>
      </p:sp>
    </p:spTree>
    <p:extLst>
      <p:ext uri="{BB962C8B-B14F-4D97-AF65-F5344CB8AC3E}">
        <p14:creationId xmlns:p14="http://schemas.microsoft.com/office/powerpoint/2010/main" val="376826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3DB4557-FCF6-4173-B5B5-0EF4297C40DE}"/>
              </a:ext>
            </a:extLst>
          </p:cNvPr>
          <p:cNvSpPr>
            <a:spLocks noGrp="1"/>
          </p:cNvSpPr>
          <p:nvPr/>
        </p:nvSpPr>
        <p:spPr>
          <a:xfrm>
            <a:off x="838200" y="666750"/>
            <a:ext cx="1661160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3600" b="1">
                <a:solidFill>
                  <a:srgbClr val="17202A"/>
                </a:solidFill>
              </a:defRPr>
            </a:pPr>
            <a:r>
              <a:rPr sz="3600" b="1">
                <a:solidFill>
                  <a:srgbClr val="17202A"/>
                </a:solidFill>
              </a:rPr>
              <a:t>Hướng tiếp theo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D1447A-6033-45A2-9070-427791B620E0}"/>
              </a:ext>
            </a:extLst>
          </p:cNvPr>
          <p:cNvSpPr>
            <a:spLocks noGrp="1"/>
          </p:cNvSpPr>
          <p:nvPr/>
        </p:nvSpPr>
        <p:spPr>
          <a:xfrm>
            <a:off x="838200" y="1352550"/>
            <a:ext cx="2095500" cy="38100"/>
          </a:xfrm>
          <a:prstGeom prst="rect">
            <a:avLst/>
          </a:prstGeom>
          <a:solidFill>
            <a:srgbClr val="0E8C61"/>
          </a:solidFill>
          <a:ln w="0">
            <a:solidFill>
              <a:srgbClr val="0E8C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1B488D-4C51-4073-B9DF-F7029B183B1E}"/>
              </a:ext>
            </a:extLst>
          </p:cNvPr>
          <p:cNvSpPr>
            <a:spLocks noGrp="1"/>
          </p:cNvSpPr>
          <p:nvPr/>
        </p:nvSpPr>
        <p:spPr>
          <a:xfrm>
            <a:off x="838200" y="2392680"/>
            <a:ext cx="8191500" cy="5760720"/>
          </a:xfrm>
          <a:prstGeom prst="roundRect">
            <a:avLst>
              <a:gd name="adj" fmla="val 1984"/>
            </a:avLst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76386C-8A92-4DF4-97A3-8C5C59BFC5C0}"/>
              </a:ext>
            </a:extLst>
          </p:cNvPr>
          <p:cNvSpPr>
            <a:spLocks noGrp="1"/>
          </p:cNvSpPr>
          <p:nvPr/>
        </p:nvSpPr>
        <p:spPr>
          <a:xfrm>
            <a:off x="1085850" y="2628900"/>
            <a:ext cx="76962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100" b="1">
                <a:solidFill>
                  <a:srgbClr val="0E8C61"/>
                </a:solidFill>
              </a:defRPr>
            </a:pPr>
            <a:r>
              <a:rPr sz="2100" b="1">
                <a:solidFill>
                  <a:srgbClr val="0E8C61"/>
                </a:solidFill>
              </a:rPr>
              <a:t>Công việc ưu tiên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5E8D4D-B0BC-4010-B863-35A7A5A6EA23}"/>
              </a:ext>
            </a:extLst>
          </p:cNvPr>
          <p:cNvSpPr>
            <a:spLocks noGrp="1"/>
          </p:cNvSpPr>
          <p:nvPr/>
        </p:nvSpPr>
        <p:spPr>
          <a:xfrm>
            <a:off x="1085850" y="308610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Mở rộng tập gán nhãn huấn luyện lên 2,000 dòng để nâng cao độ chính xác của PhoBERT.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C183C9-A845-48A3-AB40-E6CD7C333794}"/>
              </a:ext>
            </a:extLst>
          </p:cNvPr>
          <p:cNvSpPr>
            <a:spLocks noGrp="1"/>
          </p:cNvSpPr>
          <p:nvPr/>
        </p:nvSpPr>
        <p:spPr>
          <a:xfrm>
            <a:off x="1085850" y="3486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Ánh xạ kết quả gán nhãn quy mô lớn (100k dòng) vào khung chiến lược RACE và eWOM.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F02EE-DB50-494B-9259-A817CF60959B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76962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800">
                <a:solidFill>
                  <a:srgbClr val="17202A"/>
                </a:solidFill>
              </a:defRPr>
            </a:pPr>
            <a:r>
              <a:t>• Hoàn thiện viết Quyển khóa luận tốt nghiệp (Chương 4 &amp; Chương 5).</a:t>
            </a:r>
          </a:p>
        </p:txBody>
      </p:sp>
    </p:spTree>
    <p:extLst>
      <p:ext uri="{BB962C8B-B14F-4D97-AF65-F5344CB8AC3E}">
        <p14:creationId xmlns:p14="http://schemas.microsoft.com/office/powerpoint/2010/main" val="136011186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628</Words>
  <Application>Microsoft Office PowerPoint</Application>
  <DocSecurity>0</DocSecurity>
  <PresentationFormat>Custom</PresentationFormat>
  <Paragraphs>88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Phuk Ksor</cp:lastModifiedBy>
  <cp:revision>2</cp:revision>
  <dcterms:created xsi:type="dcterms:W3CDTF">2026-05-22T13:45:32Z</dcterms:created>
  <dcterms:modified xsi:type="dcterms:W3CDTF">2026-05-23T14:50:06Z</dcterms:modified>
</cp:coreProperties>
</file>