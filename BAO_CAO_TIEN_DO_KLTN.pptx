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Aspect F1-micro</c:v>
                </c:pt>
              </c:strCache>
            </c:strRef>
          </c:tx>
          <c:invertIfNegative val="1"/>
          <c:dLbls>
            <c:numFmt formatCode="0.00%" sourceLinked="0"/>
            <c:spPr>
              <a:noFill/>
              <a:ln>
                <a:noFill/>
              </a:ln>
              <a:effectLst/>
            </c:spPr>
            <c:txPr>
              <a:bodyPr/>
              <a:lstStyle/>
              <a:p>
                <a:pPr>
                  <a:defRPr sz="1000">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Baseline SVM</c:v>
                </c:pt>
                <c:pt idx="1">
                  <c:v>Bi-LSTM</c:v>
                </c:pt>
                <c:pt idx="2">
                  <c:v>PhoBERT Multi-task</c:v>
                </c:pt>
              </c:strCache>
            </c:strRef>
          </c:cat>
          <c:val>
            <c:numRef>
              <c:f>Sheet1!$B$2:$B$4</c:f>
              <c:numCache>
                <c:formatCode>General</c:formatCode>
                <c:ptCount val="3"/>
                <c:pt idx="0">
                  <c:v>0.62380000000000002</c:v>
                </c:pt>
                <c:pt idx="1">
                  <c:v>0.6018</c:v>
                </c:pt>
                <c:pt idx="2">
                  <c:v>0.56689999999999996</c:v>
                </c:pt>
              </c:numCache>
            </c:numRef>
          </c:val>
          <c:extLst>
            <c:ext xmlns:c16="http://schemas.microsoft.com/office/drawing/2014/chart" uri="{C3380CC4-5D6E-409C-BE32-E72D297353CC}">
              <c16:uniqueId val="{00000000-FAB5-4717-88BC-AC3920FF5AA9}"/>
            </c:ext>
          </c:extLst>
        </c:ser>
        <c:ser>
          <c:idx val="1"/>
          <c:order val="1"/>
          <c:tx>
            <c:strRef>
              <c:f>Sheet1!$C$1</c:f>
              <c:strCache>
                <c:ptCount val="1"/>
                <c:pt idx="0">
                  <c:v>Aspect F1-macro</c:v>
                </c:pt>
              </c:strCache>
            </c:strRef>
          </c:tx>
          <c:invertIfNegative val="1"/>
          <c:dLbls>
            <c:numFmt formatCode="0.00%" sourceLinked="0"/>
            <c:spPr>
              <a:noFill/>
              <a:ln>
                <a:noFill/>
              </a:ln>
              <a:effectLst/>
            </c:spPr>
            <c:txPr>
              <a:bodyPr/>
              <a:lstStyle/>
              <a:p>
                <a:pPr>
                  <a:defRPr sz="1000">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Baseline SVM</c:v>
                </c:pt>
                <c:pt idx="1">
                  <c:v>Bi-LSTM</c:v>
                </c:pt>
                <c:pt idx="2">
                  <c:v>PhoBERT Multi-task</c:v>
                </c:pt>
              </c:strCache>
            </c:strRef>
          </c:cat>
          <c:val>
            <c:numRef>
              <c:f>Sheet1!$C$2:$C$4</c:f>
              <c:numCache>
                <c:formatCode>General</c:formatCode>
                <c:ptCount val="3"/>
                <c:pt idx="0">
                  <c:v>0.62790000000000001</c:v>
                </c:pt>
                <c:pt idx="1">
                  <c:v>0.60099999999999998</c:v>
                </c:pt>
                <c:pt idx="2">
                  <c:v>0.54649999999999999</c:v>
                </c:pt>
              </c:numCache>
            </c:numRef>
          </c:val>
          <c:extLst>
            <c:ext xmlns:c16="http://schemas.microsoft.com/office/drawing/2014/chart" uri="{C3380CC4-5D6E-409C-BE32-E72D297353CC}">
              <c16:uniqueId val="{00000001-FAB5-4717-88BC-AC3920FF5AA9}"/>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solidFill>
                  <a:srgbClr val="475569"/>
                </a:solidFill>
                <a:latin typeface="Arial"/>
              </a:defRPr>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solidFill>
                  <a:srgbClr val="475569"/>
                </a:solidFill>
                <a:latin typeface="Arial"/>
              </a:defRPr>
            </a:pPr>
            <a:endParaRPr lang="en-US"/>
          </a:p>
        </c:txPr>
        <c:crossAx val="-2068027336"/>
        <c:crosses val="autoZero"/>
        <c:crossBetween val="between"/>
      </c:valAx>
    </c:plotArea>
    <c:legend>
      <c:legendPos val="t"/>
      <c:overlay val="1"/>
      <c:txPr>
        <a:bodyPr/>
        <a:lstStyle/>
        <a:p>
          <a:pPr>
            <a:defRPr sz="1100">
              <a:solidFill>
                <a:srgbClr val="475569"/>
              </a:solidFill>
              <a:latin typeface="Aria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Baseline SVM</c:v>
                </c:pt>
              </c:strCache>
            </c:strRef>
          </c:tx>
          <c:invertIfNegative val="1"/>
          <c:dLbls>
            <c:numFmt formatCode="0.00%" sourceLinked="0"/>
            <c:spPr>
              <a:noFill/>
              <a:ln>
                <a:noFill/>
              </a:ln>
              <a:effectLst/>
            </c:spPr>
            <c:txPr>
              <a:bodyPr/>
              <a:lstStyle/>
              <a:p>
                <a:pPr>
                  <a:defRPr sz="1000">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Giao hàng</c:v>
                </c:pt>
                <c:pt idx="1">
                  <c:v>Giá cả</c:v>
                </c:pt>
                <c:pt idx="2">
                  <c:v>Ứng dụng</c:v>
                </c:pt>
                <c:pt idx="3">
                  <c:v>Sản phẩm</c:v>
                </c:pt>
                <c:pt idx="4">
                  <c:v>Dịch vụ</c:v>
                </c:pt>
              </c:strCache>
            </c:strRef>
          </c:cat>
          <c:val>
            <c:numRef>
              <c:f>Sheet1!$B$2:$B$6</c:f>
              <c:numCache>
                <c:formatCode>General</c:formatCode>
                <c:ptCount val="5"/>
                <c:pt idx="0">
                  <c:v>0.80630000000000002</c:v>
                </c:pt>
                <c:pt idx="1">
                  <c:v>0.73270000000000002</c:v>
                </c:pt>
                <c:pt idx="2">
                  <c:v>0.66669999999999996</c:v>
                </c:pt>
                <c:pt idx="3">
                  <c:v>0.51990000000000003</c:v>
                </c:pt>
                <c:pt idx="4">
                  <c:v>0.4138</c:v>
                </c:pt>
              </c:numCache>
            </c:numRef>
          </c:val>
          <c:extLst>
            <c:ext xmlns:c16="http://schemas.microsoft.com/office/drawing/2014/chart" uri="{C3380CC4-5D6E-409C-BE32-E72D297353CC}">
              <c16:uniqueId val="{00000000-0680-44DE-BCE4-4355FD6492BB}"/>
            </c:ext>
          </c:extLst>
        </c:ser>
        <c:ser>
          <c:idx val="1"/>
          <c:order val="1"/>
          <c:tx>
            <c:strRef>
              <c:f>Sheet1!$C$1</c:f>
              <c:strCache>
                <c:ptCount val="1"/>
                <c:pt idx="0">
                  <c:v>Bi-LSTM</c:v>
                </c:pt>
              </c:strCache>
            </c:strRef>
          </c:tx>
          <c:invertIfNegative val="1"/>
          <c:dLbls>
            <c:numFmt formatCode="0.00%" sourceLinked="0"/>
            <c:spPr>
              <a:noFill/>
              <a:ln>
                <a:noFill/>
              </a:ln>
              <a:effectLst/>
            </c:spPr>
            <c:txPr>
              <a:bodyPr/>
              <a:lstStyle/>
              <a:p>
                <a:pPr>
                  <a:defRPr sz="1000">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Giao hàng</c:v>
                </c:pt>
                <c:pt idx="1">
                  <c:v>Giá cả</c:v>
                </c:pt>
                <c:pt idx="2">
                  <c:v>Ứng dụng</c:v>
                </c:pt>
                <c:pt idx="3">
                  <c:v>Sản phẩm</c:v>
                </c:pt>
                <c:pt idx="4">
                  <c:v>Dịch vụ</c:v>
                </c:pt>
              </c:strCache>
            </c:strRef>
          </c:cat>
          <c:val>
            <c:numRef>
              <c:f>Sheet1!$C$2:$C$6</c:f>
              <c:numCache>
                <c:formatCode>General</c:formatCode>
                <c:ptCount val="5"/>
                <c:pt idx="0">
                  <c:v>0.80200000000000005</c:v>
                </c:pt>
                <c:pt idx="1">
                  <c:v>0.58109999999999995</c:v>
                </c:pt>
                <c:pt idx="2">
                  <c:v>0.68789999999999996</c:v>
                </c:pt>
                <c:pt idx="3">
                  <c:v>0.4929</c:v>
                </c:pt>
                <c:pt idx="4">
                  <c:v>0.44090000000000001</c:v>
                </c:pt>
              </c:numCache>
            </c:numRef>
          </c:val>
          <c:extLst>
            <c:ext xmlns:c16="http://schemas.microsoft.com/office/drawing/2014/chart" uri="{C3380CC4-5D6E-409C-BE32-E72D297353CC}">
              <c16:uniqueId val="{00000001-0680-44DE-BCE4-4355FD6492BB}"/>
            </c:ext>
          </c:extLst>
        </c:ser>
        <c:ser>
          <c:idx val="2"/>
          <c:order val="2"/>
          <c:tx>
            <c:strRef>
              <c:f>Sheet1!$D$1</c:f>
              <c:strCache>
                <c:ptCount val="1"/>
                <c:pt idx="0">
                  <c:v>PhoBERT Multi-task</c:v>
                </c:pt>
              </c:strCache>
            </c:strRef>
          </c:tx>
          <c:invertIfNegative val="1"/>
          <c:dLbls>
            <c:numFmt formatCode="0.00%" sourceLinked="0"/>
            <c:spPr>
              <a:noFill/>
              <a:ln>
                <a:noFill/>
              </a:ln>
              <a:effectLst/>
            </c:spPr>
            <c:txPr>
              <a:bodyPr/>
              <a:lstStyle/>
              <a:p>
                <a:pPr>
                  <a:defRPr sz="1000">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Giao hàng</c:v>
                </c:pt>
                <c:pt idx="1">
                  <c:v>Giá cả</c:v>
                </c:pt>
                <c:pt idx="2">
                  <c:v>Ứng dụng</c:v>
                </c:pt>
                <c:pt idx="3">
                  <c:v>Sản phẩm</c:v>
                </c:pt>
                <c:pt idx="4">
                  <c:v>Dịch vụ</c:v>
                </c:pt>
              </c:strCache>
            </c:strRef>
          </c:cat>
          <c:val>
            <c:numRef>
              <c:f>Sheet1!$D$2:$D$6</c:f>
              <c:numCache>
                <c:formatCode>General</c:formatCode>
                <c:ptCount val="5"/>
                <c:pt idx="0">
                  <c:v>0.80489999999999995</c:v>
                </c:pt>
                <c:pt idx="1">
                  <c:v>0.41739999999999999</c:v>
                </c:pt>
                <c:pt idx="2">
                  <c:v>0.63390000000000002</c:v>
                </c:pt>
                <c:pt idx="3">
                  <c:v>0.49809999999999999</c:v>
                </c:pt>
                <c:pt idx="4">
                  <c:v>0.37840000000000001</c:v>
                </c:pt>
              </c:numCache>
            </c:numRef>
          </c:val>
          <c:extLst>
            <c:ext xmlns:c16="http://schemas.microsoft.com/office/drawing/2014/chart" uri="{C3380CC4-5D6E-409C-BE32-E72D297353CC}">
              <c16:uniqueId val="{00000002-0680-44DE-BCE4-4355FD6492BB}"/>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solidFill>
                  <a:srgbClr val="475569"/>
                </a:solidFill>
                <a:latin typeface="Arial"/>
              </a:defRPr>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solidFill>
                  <a:srgbClr val="475569"/>
                </a:solidFill>
                <a:latin typeface="Arial"/>
              </a:defRPr>
            </a:pPr>
            <a:endParaRPr lang="en-US"/>
          </a:p>
        </c:txPr>
        <c:crossAx val="-2068027336"/>
        <c:crosses val="autoZero"/>
        <c:crossBetween val="between"/>
      </c:valAx>
    </c:plotArea>
    <c:legend>
      <c:legendPos val="t"/>
      <c:overlay val="1"/>
      <c:txPr>
        <a:bodyPr/>
        <a:lstStyle/>
        <a:p>
          <a:pPr>
            <a:defRPr sz="1100">
              <a:solidFill>
                <a:srgbClr val="475569"/>
              </a:solidFill>
              <a:latin typeface="Aria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Aspect F1-micro</c:v>
                </c:pt>
              </c:strCache>
            </c:strRef>
          </c:tx>
          <c:cat>
            <c:strRef>
              <c:f>Sheet1!$A$2:$A$4</c:f>
              <c:strCache>
                <c:ptCount val="3"/>
                <c:pt idx="0">
                  <c:v>Baseline SVM</c:v>
                </c:pt>
                <c:pt idx="1">
                  <c:v>Bi-LSTM</c:v>
                </c:pt>
                <c:pt idx="2">
                  <c:v>PhoBERT Multi-task</c:v>
                </c:pt>
              </c:strCache>
            </c:strRef>
          </c:cat>
          <c:val>
            <c:numRef>
              <c:f>Sheet1!$B$2:$B$4</c:f>
              <c:numCache>
                <c:formatCode>General</c:formatCode>
                <c:ptCount val="3"/>
                <c:pt idx="0">
                  <c:v>0.8525</c:v>
                </c:pt>
                <c:pt idx="1">
                  <c:v>0.7487</c:v>
                </c:pt>
                <c:pt idx="2">
                  <c:v>0.9737</c:v>
                </c:pt>
              </c:numCache>
            </c:numRef>
          </c:val>
        </c:ser>
        <c:ser>
          <c:idx val="1"/>
          <c:order val="1"/>
          <c:tx>
            <c:strRef>
              <c:f>Sheet1!$C$1</c:f>
              <c:strCache>
                <c:ptCount val="1"/>
                <c:pt idx="0">
                  <c:v>Aspect F1-macro</c:v>
                </c:pt>
              </c:strCache>
            </c:strRef>
          </c:tx>
          <c:cat>
            <c:strRef>
              <c:f>Sheet1!$A$2:$A$4</c:f>
              <c:strCache>
                <c:ptCount val="3"/>
                <c:pt idx="0">
                  <c:v>Baseline SVM</c:v>
                </c:pt>
                <c:pt idx="1">
                  <c:v>Bi-LSTM</c:v>
                </c:pt>
                <c:pt idx="2">
                  <c:v>PhoBERT Multi-task</c:v>
                </c:pt>
              </c:strCache>
            </c:strRef>
          </c:cat>
          <c:val>
            <c:numRef>
              <c:f>Sheet1!$C$2:$C$4</c:f>
              <c:numCache>
                <c:formatCode>General</c:formatCode>
                <c:ptCount val="3"/>
                <c:pt idx="0">
                  <c:v>0.7837</c:v>
                </c:pt>
                <c:pt idx="1">
                  <c:v>0.6816</c:v>
                </c:pt>
                <c:pt idx="2">
                  <c:v>0.9751</c:v>
                </c:pt>
              </c:numCache>
            </c:numRef>
          </c:val>
        </c:ser>
        <c:dLbls>
          <c:numFmt formatCode="0.00%" sourceLinked="0"/>
          <c:txPr>
            <a:bodyPr/>
            <a:lstStyle/>
            <a:p>
              <a:pPr>
                <a:defRPr sz="1000">
                  <a:solidFill>
                    <a:srgbClr val="0F172A"/>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475569"/>
                </a:solidFill>
                <a:latin typeface="Aria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475569"/>
                </a:solidFill>
                <a:latin typeface="Arial"/>
              </a:defRPr>
            </a:pPr>
          </a:p>
        </c:txPr>
        <c:crossAx val="-2068027336"/>
        <c:crosses val="autoZero"/>
      </c:valAx>
    </c:plotArea>
    <c:legend>
      <c:legendPos val="t"/>
      <c:overlay val="1"/>
      <c:txPr>
        <a:bodyPr/>
        <a:lstStyle/>
        <a:p>
          <a:pPr>
            <a:defRPr sz="1100">
              <a:solidFill>
                <a:srgbClr val="475569"/>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SVM</c:v>
                </c:pt>
              </c:strCache>
            </c:strRef>
          </c:tx>
          <c:cat>
            <c:strRef>
              <c:f>Sheet1!$A$2:$A$6</c:f>
              <c:strCache>
                <c:ptCount val="5"/>
                <c:pt idx="0">
                  <c:v>Giao hàng</c:v>
                </c:pt>
                <c:pt idx="1">
                  <c:v>Giá cả</c:v>
                </c:pt>
                <c:pt idx="2">
                  <c:v>Ứng dụng</c:v>
                </c:pt>
                <c:pt idx="3">
                  <c:v>Sản phẩm</c:v>
                </c:pt>
                <c:pt idx="4">
                  <c:v>Dịch vụ</c:v>
                </c:pt>
              </c:strCache>
            </c:strRef>
          </c:cat>
          <c:val>
            <c:numRef>
              <c:f>Sheet1!$B$2:$B$6</c:f>
              <c:numCache>
                <c:formatCode>General</c:formatCode>
                <c:ptCount val="5"/>
                <c:pt idx="0">
                  <c:v>0.8936</c:v>
                </c:pt>
                <c:pt idx="1">
                  <c:v>0.7018</c:v>
                </c:pt>
                <c:pt idx="2">
                  <c:v>0.8689</c:v>
                </c:pt>
                <c:pt idx="3">
                  <c:v>0.9011</c:v>
                </c:pt>
                <c:pt idx="4">
                  <c:v>0.5532</c:v>
                </c:pt>
              </c:numCache>
            </c:numRef>
          </c:val>
        </c:ser>
        <c:ser>
          <c:idx val="1"/>
          <c:order val="1"/>
          <c:tx>
            <c:strRef>
              <c:f>Sheet1!$C$1</c:f>
              <c:strCache>
                <c:ptCount val="1"/>
                <c:pt idx="0">
                  <c:v>Bi-LSTM</c:v>
                </c:pt>
              </c:strCache>
            </c:strRef>
          </c:tx>
          <c:cat>
            <c:strRef>
              <c:f>Sheet1!$A$2:$A$6</c:f>
              <c:strCache>
                <c:ptCount val="5"/>
                <c:pt idx="0">
                  <c:v>Giao hàng</c:v>
                </c:pt>
                <c:pt idx="1">
                  <c:v>Giá cả</c:v>
                </c:pt>
                <c:pt idx="2">
                  <c:v>Ứng dụng</c:v>
                </c:pt>
                <c:pt idx="3">
                  <c:v>Sản phẩm</c:v>
                </c:pt>
                <c:pt idx="4">
                  <c:v>Dịch vụ</c:v>
                </c:pt>
              </c:strCache>
            </c:strRef>
          </c:cat>
          <c:val>
            <c:numRef>
              <c:f>Sheet1!$C$2:$C$6</c:f>
              <c:numCache>
                <c:formatCode>General</c:formatCode>
                <c:ptCount val="5"/>
                <c:pt idx="0">
                  <c:v>0.7657</c:v>
                </c:pt>
                <c:pt idx="1">
                  <c:v>0.5324</c:v>
                </c:pt>
                <c:pt idx="2">
                  <c:v>0.8021</c:v>
                </c:pt>
                <c:pt idx="3">
                  <c:v>0.8529</c:v>
                </c:pt>
                <c:pt idx="4">
                  <c:v>0.4552</c:v>
                </c:pt>
              </c:numCache>
            </c:numRef>
          </c:val>
        </c:ser>
        <c:ser>
          <c:idx val="2"/>
          <c:order val="2"/>
          <c:tx>
            <c:strRef>
              <c:f>Sheet1!$D$1</c:f>
              <c:strCache>
                <c:ptCount val="1"/>
                <c:pt idx="0">
                  <c:v>PhoBERT Multi-task</c:v>
                </c:pt>
              </c:strCache>
            </c:strRef>
          </c:tx>
          <c:cat>
            <c:strRef>
              <c:f>Sheet1!$A$2:$A$6</c:f>
              <c:strCache>
                <c:ptCount val="5"/>
                <c:pt idx="0">
                  <c:v>Giao hàng</c:v>
                </c:pt>
                <c:pt idx="1">
                  <c:v>Giá cả</c:v>
                </c:pt>
                <c:pt idx="2">
                  <c:v>Ứng dụng</c:v>
                </c:pt>
                <c:pt idx="3">
                  <c:v>Sản phẩm</c:v>
                </c:pt>
                <c:pt idx="4">
                  <c:v>Dịch vụ</c:v>
                </c:pt>
              </c:strCache>
            </c:strRef>
          </c:cat>
          <c:val>
            <c:numRef>
              <c:f>Sheet1!$D$2:$D$6</c:f>
              <c:numCache>
                <c:formatCode>General</c:formatCode>
                <c:ptCount val="5"/>
                <c:pt idx="0">
                  <c:v>0.9862</c:v>
                </c:pt>
                <c:pt idx="1">
                  <c:v>0.995</c:v>
                </c:pt>
                <c:pt idx="2">
                  <c:v>0.9837</c:v>
                </c:pt>
                <c:pt idx="3">
                  <c:v>0.9622</c:v>
                </c:pt>
                <c:pt idx="4">
                  <c:v>0.9481</c:v>
                </c:pt>
              </c:numCache>
            </c:numRef>
          </c:val>
        </c:ser>
        <c:dLbls>
          <c:numFmt formatCode="0.00%" sourceLinked="0"/>
          <c:txPr>
            <a:bodyPr/>
            <a:lstStyle/>
            <a:p>
              <a:pPr>
                <a:defRPr sz="1000">
                  <a:solidFill>
                    <a:srgbClr val="0F172A"/>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475569"/>
                </a:solidFill>
                <a:latin typeface="Aria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475569"/>
                </a:solidFill>
                <a:latin typeface="Arial"/>
              </a:defRPr>
            </a:pPr>
          </a:p>
        </c:txPr>
        <c:crossAx val="-2068027336"/>
        <c:crosses val="autoZero"/>
      </c:valAx>
    </c:plotArea>
    <c:legend>
      <c:legendPos val="t"/>
      <c:overlay val="1"/>
      <c:txPr>
        <a:bodyPr/>
        <a:lstStyle/>
        <a:p>
          <a:pPr>
            <a:defRPr sz="1100">
              <a:solidFill>
                <a:srgbClr val="475569"/>
              </a:solidFill>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image" Target="../media/image1.png"/><Relationship Id="rId5"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C6B2974-A784-44B9-8C10-65671F8DB5B5}"/>
              </a:ext>
            </a:extLst>
          </p:cNvPr>
          <p:cNvSpPr>
            <a:spLocks noGrp="1"/>
          </p:cNvSpPr>
          <p:nvPr/>
        </p:nvSpPr>
        <p:spPr>
          <a:xfrm>
            <a:off x="838200" y="666750"/>
            <a:ext cx="16611600" cy="552450"/>
          </a:xfrm>
          <a:prstGeom prst="rect">
            <a:avLst/>
          </a:prstGeom>
        </p:spPr>
        <p:txBody>
          <a:bodyPr lIns="0" tIns="0" rIns="0" bIns="0"/>
          <a:lstStyle/>
          <a:p>
            <a:pPr>
              <a:defRPr sz="3600" b="1">
                <a:solidFill>
                  <a:srgbClr val="17202A"/>
                </a:solidFill>
              </a:defRPr>
            </a:pPr>
            <a:r>
              <a:rPr sz="3600" b="1">
                <a:solidFill>
                  <a:srgbClr val="17202A"/>
                </a:solidFill>
              </a:rPr>
              <a:t>Báo cáo tiến độ khóa luận</a:t>
            </a:r>
          </a:p>
        </p:txBody>
      </p:sp>
      <p:sp>
        <p:nvSpPr>
          <p:cNvPr id="2" name="Rectangle 1">
            <a:extLst>
              <a:ext uri="{FF2B5EF4-FFF2-40B4-BE49-F238E27FC236}">
                <a16:creationId xmlns:a16="http://schemas.microsoft.com/office/drawing/2014/main" id="{10E5D258-34B2-456C-9599-6CB94A1FB9FE}"/>
              </a:ext>
            </a:extLst>
          </p:cNvPr>
          <p:cNvSpPr>
            <a:spLocks noGrp="1"/>
          </p:cNvSpPr>
          <p:nvPr/>
        </p:nvSpPr>
        <p:spPr>
          <a:xfrm>
            <a:off x="838200" y="1352550"/>
            <a:ext cx="2095500" cy="38100"/>
          </a:xfrm>
          <a:prstGeom prst="rect">
            <a:avLst/>
          </a:prstGeom>
          <a:solidFill>
            <a:srgbClr val="0E8C61"/>
          </a:solidFill>
          <a:ln w="0">
            <a:solidFill>
              <a:srgbClr val="0E8C61"/>
            </a:solidFill>
            <a:prstDash val="solid"/>
          </a:ln>
        </p:spPr>
        <p:txBody>
          <a:bodyPr/>
          <a:lstStyle/>
          <a:p>
            <a:endParaRPr lang="en-US"/>
          </a:p>
        </p:txBody>
      </p:sp>
      <p:sp>
        <p:nvSpPr>
          <p:cNvPr id="3" name="Rectangle 2">
            <a:extLst>
              <a:ext uri="{FF2B5EF4-FFF2-40B4-BE49-F238E27FC236}">
                <a16:creationId xmlns:a16="http://schemas.microsoft.com/office/drawing/2014/main" id="{C941D6AE-29E7-4ADD-A2B2-E638685EA432}"/>
              </a:ext>
            </a:extLst>
          </p:cNvPr>
          <p:cNvSpPr>
            <a:spLocks noGrp="1"/>
          </p:cNvSpPr>
          <p:nvPr/>
        </p:nvSpPr>
        <p:spPr>
          <a:xfrm>
            <a:off x="838200" y="1524000"/>
            <a:ext cx="6400800" cy="552450"/>
          </a:xfrm>
          <a:prstGeom prst="rect">
            <a:avLst/>
          </a:prstGeom>
        </p:spPr>
        <p:txBody>
          <a:bodyPr lIns="0" tIns="0" rIns="0" bIns="0"/>
          <a:lstStyle/>
          <a:p>
            <a:pPr>
              <a:defRPr sz="1800">
                <a:solidFill>
                  <a:srgbClr val="4B5563"/>
                </a:solidFill>
              </a:defRPr>
            </a:pPr>
            <a:r>
              <a:rPr sz="1800">
                <a:solidFill>
                  <a:srgbClr val="4B5563"/>
                </a:solidFill>
              </a:rPr>
              <a:t>Phân tích cảm xúc và ABSA trên review thương mại điện tử tiếng Việt</a:t>
            </a:r>
          </a:p>
        </p:txBody>
      </p:sp>
      <p:sp>
        <p:nvSpPr>
          <p:cNvPr id="4" name="Rectangle: Rounded Corners 3">
            <a:extLst>
              <a:ext uri="{FF2B5EF4-FFF2-40B4-BE49-F238E27FC236}">
                <a16:creationId xmlns:a16="http://schemas.microsoft.com/office/drawing/2014/main" id="{CDC07C01-FF56-413E-B352-D63B017E2B7A}"/>
              </a:ext>
            </a:extLst>
          </p:cNvPr>
          <p:cNvSpPr>
            <a:spLocks noGrp="1"/>
          </p:cNvSpPr>
          <p:nvPr/>
        </p:nvSpPr>
        <p:spPr>
          <a:xfrm>
            <a:off x="815816" y="2468880"/>
            <a:ext cx="10636568" cy="7151370"/>
          </a:xfrm>
          <a:prstGeom prst="roundRect">
            <a:avLst>
              <a:gd name="adj" fmla="val 1598"/>
            </a:avLst>
          </a:prstGeom>
          <a:solidFill>
            <a:srgbClr val="FFFFFF"/>
          </a:solidFill>
        </p:spPr>
        <p:txBody>
          <a:bodyPr/>
          <a:lstStyle/>
          <a:p>
            <a:endParaRPr lang="en-US"/>
          </a:p>
        </p:txBody>
      </p:sp>
      <p:sp>
        <p:nvSpPr>
          <p:cNvPr id="5" name="Rectangle 4">
            <a:extLst>
              <a:ext uri="{FF2B5EF4-FFF2-40B4-BE49-F238E27FC236}">
                <a16:creationId xmlns:a16="http://schemas.microsoft.com/office/drawing/2014/main" id="{F95FC64D-D6BC-453B-A181-57E5CDD72029}"/>
              </a:ext>
            </a:extLst>
          </p:cNvPr>
          <p:cNvSpPr>
            <a:spLocks noGrp="1"/>
          </p:cNvSpPr>
          <p:nvPr/>
        </p:nvSpPr>
        <p:spPr>
          <a:xfrm>
            <a:off x="1123950" y="2743200"/>
            <a:ext cx="10058400" cy="323850"/>
          </a:xfrm>
          <a:prstGeom prst="rect">
            <a:avLst/>
          </a:prstGeom>
        </p:spPr>
        <p:txBody>
          <a:bodyPr lIns="0" tIns="0" rIns="0" bIns="0"/>
          <a:lstStyle/>
          <a:p>
            <a:pPr>
              <a:defRPr sz="2100" b="1">
                <a:solidFill>
                  <a:srgbClr val="1F5AA6"/>
                </a:solidFill>
              </a:defRPr>
            </a:pPr>
            <a:r>
              <a:rPr sz="2100" b="1">
                <a:solidFill>
                  <a:srgbClr val="1F5AA6"/>
                </a:solidFill>
              </a:rPr>
              <a:t>Mục tiêu</a:t>
            </a:r>
          </a:p>
        </p:txBody>
      </p:sp>
      <p:sp>
        <p:nvSpPr>
          <p:cNvPr id="6" name="Rectangle 5">
            <a:extLst>
              <a:ext uri="{FF2B5EF4-FFF2-40B4-BE49-F238E27FC236}">
                <a16:creationId xmlns:a16="http://schemas.microsoft.com/office/drawing/2014/main" id="{5C1607E5-5928-480B-9A55-01733EB53DB0}"/>
              </a:ext>
            </a:extLst>
          </p:cNvPr>
          <p:cNvSpPr>
            <a:spLocks noGrp="1"/>
          </p:cNvSpPr>
          <p:nvPr/>
        </p:nvSpPr>
        <p:spPr>
          <a:xfrm>
            <a:off x="1123950" y="3219450"/>
            <a:ext cx="10058400" cy="285750"/>
          </a:xfrm>
          <a:prstGeom prst="rect">
            <a:avLst/>
          </a:prstGeom>
        </p:spPr>
        <p:txBody>
          <a:bodyPr lIns="0" tIns="0" rIns="0" bIns="0"/>
          <a:lstStyle/>
          <a:p>
            <a:pPr>
              <a:defRPr sz="1800">
                <a:solidFill>
                  <a:srgbClr val="17202A"/>
                </a:solidFill>
              </a:defRPr>
            </a:pPr>
            <a:r>
              <a:rPr sz="1800" dirty="0">
                <a:solidFill>
                  <a:srgbClr val="17202A"/>
                </a:solidFill>
              </a:rPr>
              <a:t>• </a:t>
            </a:r>
            <a:r>
              <a:rPr sz="1800" dirty="0" err="1">
                <a:solidFill>
                  <a:srgbClr val="17202A"/>
                </a:solidFill>
              </a:rPr>
              <a:t>Xây</a:t>
            </a:r>
            <a:r>
              <a:rPr sz="1800" dirty="0">
                <a:solidFill>
                  <a:srgbClr val="17202A"/>
                </a:solidFill>
              </a:rPr>
              <a:t> </a:t>
            </a:r>
            <a:r>
              <a:rPr sz="1800" dirty="0" err="1">
                <a:solidFill>
                  <a:srgbClr val="17202A"/>
                </a:solidFill>
              </a:rPr>
              <a:t>dựng</a:t>
            </a:r>
            <a:r>
              <a:rPr sz="1800" dirty="0">
                <a:solidFill>
                  <a:srgbClr val="17202A"/>
                </a:solidFill>
              </a:rPr>
              <a:t> </a:t>
            </a:r>
            <a:r>
              <a:rPr sz="1800" dirty="0" err="1">
                <a:solidFill>
                  <a:srgbClr val="17202A"/>
                </a:solidFill>
              </a:rPr>
              <a:t>hệ</a:t>
            </a:r>
            <a:r>
              <a:rPr sz="1800" dirty="0">
                <a:solidFill>
                  <a:srgbClr val="17202A"/>
                </a:solidFill>
              </a:rPr>
              <a:t> </a:t>
            </a:r>
            <a:r>
              <a:rPr sz="1800" dirty="0" err="1">
                <a:solidFill>
                  <a:srgbClr val="17202A"/>
                </a:solidFill>
              </a:rPr>
              <a:t>thống</a:t>
            </a:r>
            <a:r>
              <a:rPr sz="1800" dirty="0">
                <a:solidFill>
                  <a:srgbClr val="17202A"/>
                </a:solidFill>
              </a:rPr>
              <a:t> sentiment analysis </a:t>
            </a:r>
            <a:r>
              <a:rPr sz="1800" dirty="0" err="1">
                <a:solidFill>
                  <a:srgbClr val="17202A"/>
                </a:solidFill>
              </a:rPr>
              <a:t>và</a:t>
            </a:r>
            <a:r>
              <a:rPr sz="1800" dirty="0">
                <a:solidFill>
                  <a:srgbClr val="17202A"/>
                </a:solidFill>
              </a:rPr>
              <a:t> ABSA </a:t>
            </a:r>
            <a:r>
              <a:rPr sz="1800" dirty="0" err="1">
                <a:solidFill>
                  <a:srgbClr val="17202A"/>
                </a:solidFill>
              </a:rPr>
              <a:t>cho</a:t>
            </a:r>
            <a:r>
              <a:rPr sz="1800" dirty="0">
                <a:solidFill>
                  <a:srgbClr val="17202A"/>
                </a:solidFill>
              </a:rPr>
              <a:t> review TMĐT</a:t>
            </a:r>
          </a:p>
        </p:txBody>
      </p:sp>
      <p:sp>
        <p:nvSpPr>
          <p:cNvPr id="7" name="Rectangle 6">
            <a:extLst>
              <a:ext uri="{FF2B5EF4-FFF2-40B4-BE49-F238E27FC236}">
                <a16:creationId xmlns:a16="http://schemas.microsoft.com/office/drawing/2014/main" id="{F36776FB-397E-4D60-B658-F5FC46CB9CD7}"/>
              </a:ext>
            </a:extLst>
          </p:cNvPr>
          <p:cNvSpPr>
            <a:spLocks noGrp="1"/>
          </p:cNvSpPr>
          <p:nvPr/>
        </p:nvSpPr>
        <p:spPr>
          <a:xfrm>
            <a:off x="1123950" y="3619500"/>
            <a:ext cx="10058400" cy="285750"/>
          </a:xfrm>
          <a:prstGeom prst="rect">
            <a:avLst/>
          </a:prstGeom>
        </p:spPr>
        <p:txBody>
          <a:bodyPr lIns="0" tIns="0" rIns="0" bIns="0"/>
          <a:lstStyle/>
          <a:p>
            <a:pPr>
              <a:defRPr sz="1800">
                <a:solidFill>
                  <a:srgbClr val="17202A"/>
                </a:solidFill>
              </a:defRPr>
            </a:pPr>
            <a:r>
              <a:rPr sz="1800" dirty="0">
                <a:solidFill>
                  <a:srgbClr val="17202A"/>
                </a:solidFill>
              </a:rPr>
              <a:t>• </a:t>
            </a:r>
            <a:r>
              <a:rPr sz="1800" dirty="0" err="1">
                <a:solidFill>
                  <a:srgbClr val="17202A"/>
                </a:solidFill>
              </a:rPr>
              <a:t>Đánh</a:t>
            </a:r>
            <a:r>
              <a:rPr sz="1800" dirty="0">
                <a:solidFill>
                  <a:srgbClr val="17202A"/>
                </a:solidFill>
              </a:rPr>
              <a:t> </a:t>
            </a:r>
            <a:r>
              <a:rPr sz="1800" dirty="0" err="1">
                <a:solidFill>
                  <a:srgbClr val="17202A"/>
                </a:solidFill>
              </a:rPr>
              <a:t>giá</a:t>
            </a:r>
            <a:r>
              <a:rPr sz="1800" dirty="0">
                <a:solidFill>
                  <a:srgbClr val="17202A"/>
                </a:solidFill>
              </a:rPr>
              <a:t> </a:t>
            </a:r>
            <a:r>
              <a:rPr sz="1800" dirty="0" err="1">
                <a:solidFill>
                  <a:srgbClr val="17202A"/>
                </a:solidFill>
              </a:rPr>
              <a:t>mô</a:t>
            </a:r>
            <a:r>
              <a:rPr sz="1800" dirty="0">
                <a:solidFill>
                  <a:srgbClr val="17202A"/>
                </a:solidFill>
              </a:rPr>
              <a:t> </a:t>
            </a:r>
            <a:r>
              <a:rPr sz="1800" dirty="0" err="1">
                <a:solidFill>
                  <a:srgbClr val="17202A"/>
                </a:solidFill>
              </a:rPr>
              <a:t>hình</a:t>
            </a:r>
            <a:r>
              <a:rPr sz="1800" dirty="0">
                <a:solidFill>
                  <a:srgbClr val="17202A"/>
                </a:solidFill>
              </a:rPr>
              <a:t> </a:t>
            </a:r>
            <a:r>
              <a:rPr sz="1800" dirty="0" err="1">
                <a:solidFill>
                  <a:srgbClr val="17202A"/>
                </a:solidFill>
              </a:rPr>
              <a:t>theo</a:t>
            </a:r>
            <a:r>
              <a:rPr sz="1800" dirty="0">
                <a:solidFill>
                  <a:srgbClr val="17202A"/>
                </a:solidFill>
              </a:rPr>
              <a:t> </a:t>
            </a:r>
            <a:r>
              <a:rPr sz="1800" dirty="0" err="1">
                <a:solidFill>
                  <a:srgbClr val="17202A"/>
                </a:solidFill>
              </a:rPr>
              <a:t>hướng</a:t>
            </a:r>
            <a:r>
              <a:rPr sz="1800" dirty="0">
                <a:solidFill>
                  <a:srgbClr val="17202A"/>
                </a:solidFill>
              </a:rPr>
              <a:t> </a:t>
            </a:r>
            <a:r>
              <a:rPr sz="1800" dirty="0" err="1">
                <a:solidFill>
                  <a:srgbClr val="17202A"/>
                </a:solidFill>
              </a:rPr>
              <a:t>học</a:t>
            </a:r>
            <a:r>
              <a:rPr sz="1800" dirty="0">
                <a:solidFill>
                  <a:srgbClr val="17202A"/>
                </a:solidFill>
              </a:rPr>
              <a:t> </a:t>
            </a:r>
            <a:r>
              <a:rPr sz="1800" dirty="0" err="1">
                <a:solidFill>
                  <a:srgbClr val="17202A"/>
                </a:solidFill>
              </a:rPr>
              <a:t>thuật</a:t>
            </a:r>
            <a:r>
              <a:rPr sz="1800" dirty="0">
                <a:solidFill>
                  <a:srgbClr val="17202A"/>
                </a:solidFill>
              </a:rPr>
              <a:t> </a:t>
            </a:r>
            <a:r>
              <a:rPr sz="1800" dirty="0" err="1">
                <a:solidFill>
                  <a:srgbClr val="17202A"/>
                </a:solidFill>
              </a:rPr>
              <a:t>trên</a:t>
            </a:r>
            <a:r>
              <a:rPr sz="1800" dirty="0">
                <a:solidFill>
                  <a:srgbClr val="17202A"/>
                </a:solidFill>
              </a:rPr>
              <a:t> </a:t>
            </a:r>
            <a:r>
              <a:rPr sz="1800" dirty="0" err="1">
                <a:solidFill>
                  <a:srgbClr val="17202A"/>
                </a:solidFill>
              </a:rPr>
              <a:t>tập</a:t>
            </a:r>
            <a:r>
              <a:rPr sz="1800" dirty="0">
                <a:solidFill>
                  <a:srgbClr val="17202A"/>
                </a:solidFill>
              </a:rPr>
              <a:t> gold eval </a:t>
            </a:r>
            <a:r>
              <a:rPr sz="1800" dirty="0" err="1">
                <a:solidFill>
                  <a:srgbClr val="17202A"/>
                </a:solidFill>
              </a:rPr>
              <a:t>tách</a:t>
            </a:r>
            <a:r>
              <a:rPr sz="1800" dirty="0">
                <a:solidFill>
                  <a:srgbClr val="17202A"/>
                </a:solidFill>
              </a:rPr>
              <a:t> </a:t>
            </a:r>
            <a:r>
              <a:rPr sz="1800" dirty="0" err="1">
                <a:solidFill>
                  <a:srgbClr val="17202A"/>
                </a:solidFill>
              </a:rPr>
              <a:t>riêng</a:t>
            </a:r>
            <a:endParaRPr sz="1800" dirty="0">
              <a:solidFill>
                <a:srgbClr val="17202A"/>
              </a:solidFill>
            </a:endParaRPr>
          </a:p>
        </p:txBody>
      </p:sp>
      <p:sp>
        <p:nvSpPr>
          <p:cNvPr id="8" name="Rectangle 7">
            <a:extLst>
              <a:ext uri="{FF2B5EF4-FFF2-40B4-BE49-F238E27FC236}">
                <a16:creationId xmlns:a16="http://schemas.microsoft.com/office/drawing/2014/main" id="{4C861265-0414-456D-8504-831A230398B7}"/>
              </a:ext>
            </a:extLst>
          </p:cNvPr>
          <p:cNvSpPr>
            <a:spLocks noGrp="1"/>
          </p:cNvSpPr>
          <p:nvPr/>
        </p:nvSpPr>
        <p:spPr>
          <a:xfrm>
            <a:off x="1123950" y="4000500"/>
            <a:ext cx="10058400" cy="285750"/>
          </a:xfrm>
          <a:prstGeom prst="rect">
            <a:avLst/>
          </a:prstGeom>
        </p:spPr>
        <p:txBody>
          <a:bodyPr lIns="0" tIns="0" rIns="0" bIns="0"/>
          <a:lstStyle/>
          <a:p>
            <a:pPr>
              <a:defRPr sz="1800">
                <a:solidFill>
                  <a:srgbClr val="17202A"/>
                </a:solidFill>
              </a:defRPr>
            </a:pPr>
            <a:r>
              <a:rPr sz="1800" dirty="0">
                <a:solidFill>
                  <a:srgbClr val="17202A"/>
                </a:solidFill>
              </a:rPr>
              <a:t>• </a:t>
            </a:r>
            <a:r>
              <a:rPr sz="1800" dirty="0" err="1">
                <a:solidFill>
                  <a:srgbClr val="17202A"/>
                </a:solidFill>
              </a:rPr>
              <a:t>Triển</a:t>
            </a:r>
            <a:r>
              <a:rPr sz="1800" dirty="0">
                <a:solidFill>
                  <a:srgbClr val="17202A"/>
                </a:solidFill>
              </a:rPr>
              <a:t> </a:t>
            </a:r>
            <a:r>
              <a:rPr sz="1800" dirty="0" err="1">
                <a:solidFill>
                  <a:srgbClr val="17202A"/>
                </a:solidFill>
              </a:rPr>
              <a:t>khai</a:t>
            </a:r>
            <a:r>
              <a:rPr sz="1800" dirty="0">
                <a:solidFill>
                  <a:srgbClr val="17202A"/>
                </a:solidFill>
              </a:rPr>
              <a:t> API, dashboard, RACE </a:t>
            </a:r>
            <a:r>
              <a:rPr sz="1800" dirty="0" err="1">
                <a:solidFill>
                  <a:srgbClr val="17202A"/>
                </a:solidFill>
              </a:rPr>
              <a:t>và</a:t>
            </a:r>
            <a:r>
              <a:rPr sz="1800" dirty="0">
                <a:solidFill>
                  <a:srgbClr val="17202A"/>
                </a:solidFill>
              </a:rPr>
              <a:t> </a:t>
            </a:r>
            <a:r>
              <a:rPr sz="1800" dirty="0" err="1">
                <a:solidFill>
                  <a:srgbClr val="17202A"/>
                </a:solidFill>
              </a:rPr>
              <a:t>cảnh</a:t>
            </a:r>
            <a:r>
              <a:rPr sz="1800" dirty="0">
                <a:solidFill>
                  <a:srgbClr val="17202A"/>
                </a:solidFill>
              </a:rPr>
              <a:t> </a:t>
            </a:r>
            <a:r>
              <a:rPr sz="1800" dirty="0" err="1">
                <a:solidFill>
                  <a:srgbClr val="17202A"/>
                </a:solidFill>
              </a:rPr>
              <a:t>báo</a:t>
            </a:r>
            <a:r>
              <a:rPr sz="1800" dirty="0">
                <a:solidFill>
                  <a:srgbClr val="17202A"/>
                </a:solidFill>
              </a:rPr>
              <a:t> </a:t>
            </a:r>
            <a:r>
              <a:rPr sz="1800" dirty="0" err="1">
                <a:solidFill>
                  <a:srgbClr val="17202A"/>
                </a:solidFill>
              </a:rPr>
              <a:t>nghiệp</a:t>
            </a:r>
            <a:r>
              <a:rPr sz="1800" dirty="0">
                <a:solidFill>
                  <a:srgbClr val="17202A"/>
                </a:solidFill>
              </a:rPr>
              <a:t> </a:t>
            </a:r>
            <a:r>
              <a:rPr sz="1800" dirty="0" err="1">
                <a:solidFill>
                  <a:srgbClr val="17202A"/>
                </a:solidFill>
              </a:rPr>
              <a:t>vụ</a:t>
            </a:r>
            <a:endParaRPr sz="1800" dirty="0">
              <a:solidFill>
                <a:srgbClr val="17202A"/>
              </a:solidFill>
            </a:endParaRPr>
          </a:p>
        </p:txBody>
      </p:sp>
      <p:sp>
        <p:nvSpPr>
          <p:cNvPr id="9" name="Rectangle: Rounded Corners 8">
            <a:extLst>
              <a:ext uri="{FF2B5EF4-FFF2-40B4-BE49-F238E27FC236}">
                <a16:creationId xmlns:a16="http://schemas.microsoft.com/office/drawing/2014/main" id="{07BDA789-F14E-4266-A57A-819BECE2A649}"/>
              </a:ext>
            </a:extLst>
          </p:cNvPr>
          <p:cNvSpPr>
            <a:spLocks noGrp="1"/>
          </p:cNvSpPr>
          <p:nvPr/>
        </p:nvSpPr>
        <p:spPr>
          <a:xfrm>
            <a:off x="11722418" y="2468880"/>
            <a:ext cx="5727383" cy="7151370"/>
          </a:xfrm>
          <a:prstGeom prst="roundRect">
            <a:avLst>
              <a:gd name="adj" fmla="val 1996"/>
            </a:avLst>
          </a:prstGeom>
          <a:solidFill>
            <a:srgbClr val="DCEFE7"/>
          </a:solidFill>
        </p:spPr>
        <p:txBody>
          <a:bodyPr/>
          <a:lstStyle/>
          <a:p>
            <a:endParaRPr lang="en-US"/>
          </a:p>
        </p:txBody>
      </p:sp>
      <p:sp>
        <p:nvSpPr>
          <p:cNvPr id="10" name="Rectangle 9">
            <a:extLst>
              <a:ext uri="{FF2B5EF4-FFF2-40B4-BE49-F238E27FC236}">
                <a16:creationId xmlns:a16="http://schemas.microsoft.com/office/drawing/2014/main" id="{316959A7-96AE-49BF-8101-D9D285C50EE4}"/>
              </a:ext>
            </a:extLst>
          </p:cNvPr>
          <p:cNvSpPr>
            <a:spLocks noGrp="1"/>
          </p:cNvSpPr>
          <p:nvPr/>
        </p:nvSpPr>
        <p:spPr>
          <a:xfrm>
            <a:off x="11982450" y="2743200"/>
            <a:ext cx="5200650" cy="323850"/>
          </a:xfrm>
          <a:prstGeom prst="rect">
            <a:avLst/>
          </a:prstGeom>
        </p:spPr>
        <p:txBody>
          <a:bodyPr lIns="0" tIns="0" rIns="0" bIns="0"/>
          <a:lstStyle/>
          <a:p>
            <a:pPr>
              <a:defRPr sz="2100" b="1">
                <a:solidFill>
                  <a:srgbClr val="0E8C61"/>
                </a:solidFill>
              </a:defRPr>
            </a:pPr>
            <a:r>
              <a:rPr sz="2100" b="1">
                <a:solidFill>
                  <a:srgbClr val="0E8C61"/>
                </a:solidFill>
              </a:rPr>
              <a:t>Trạng thái hiện tại</a:t>
            </a:r>
          </a:p>
        </p:txBody>
      </p:sp>
      <p:sp>
        <p:nvSpPr>
          <p:cNvPr id="11" name="Rectangle 10">
            <a:extLst>
              <a:ext uri="{FF2B5EF4-FFF2-40B4-BE49-F238E27FC236}">
                <a16:creationId xmlns:a16="http://schemas.microsoft.com/office/drawing/2014/main" id="{84AB42F6-0284-4269-AFCF-D905FC802A7F}"/>
              </a:ext>
            </a:extLst>
          </p:cNvPr>
          <p:cNvSpPr>
            <a:spLocks noGrp="1"/>
          </p:cNvSpPr>
          <p:nvPr/>
        </p:nvSpPr>
        <p:spPr>
          <a:xfrm>
            <a:off x="11982450" y="3219450"/>
            <a:ext cx="5200650" cy="552450"/>
          </a:xfrm>
          <a:prstGeom prst="rect">
            <a:avLst/>
          </a:prstGeom>
        </p:spPr>
        <p:txBody>
          <a:bodyPr lIns="0" tIns="0" rIns="0" bIns="0"/>
          <a:lstStyle/>
          <a:p>
            <a:pPr>
              <a:defRPr sz="1800">
                <a:solidFill>
                  <a:srgbClr val="17202A"/>
                </a:solidFill>
              </a:defRPr>
            </a:pPr>
            <a:r>
              <a:t>Đã hoàn thành tinh chỉnh PhoBERT đa tác vụ trên Kaggle GPU, đạt kết quả thực nghiệm tối ưu và tích hợp chạy live thành công vào Streamlit Dashboard &amp; Flask API.</a:t>
            </a:r>
          </a:p>
        </p:txBody>
      </p:sp>
    </p:spTree>
    <p:extLst>
      <p:ext uri="{BB962C8B-B14F-4D97-AF65-F5344CB8AC3E}">
        <p14:creationId xmlns:p14="http://schemas.microsoft.com/office/powerpoint/2010/main" val="733446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BEBD5DD-9B93-4759-B3F5-1332D3EA76A3}"/>
              </a:ext>
            </a:extLst>
          </p:cNvPr>
          <p:cNvSpPr>
            <a:spLocks noGrp="1"/>
          </p:cNvSpPr>
          <p:nvPr/>
        </p:nvSpPr>
        <p:spPr>
          <a:xfrm>
            <a:off x="838200" y="666750"/>
            <a:ext cx="16611600" cy="552450"/>
          </a:xfrm>
          <a:prstGeom prst="rect">
            <a:avLst/>
          </a:prstGeom>
        </p:spPr>
        <p:txBody>
          <a:bodyPr lIns="0" tIns="0" rIns="0" bIns="0"/>
          <a:lstStyle/>
          <a:p>
            <a:pPr>
              <a:defRPr sz="3600" b="1">
                <a:solidFill>
                  <a:srgbClr val="17202A"/>
                </a:solidFill>
              </a:defRPr>
            </a:pPr>
            <a:r>
              <a:rPr sz="3600" b="1">
                <a:solidFill>
                  <a:srgbClr val="17202A"/>
                </a:solidFill>
              </a:rPr>
              <a:t>Những công việc đã hoàn thành</a:t>
            </a:r>
          </a:p>
        </p:txBody>
      </p:sp>
      <p:sp>
        <p:nvSpPr>
          <p:cNvPr id="2" name="Rectangle 1">
            <a:extLst>
              <a:ext uri="{FF2B5EF4-FFF2-40B4-BE49-F238E27FC236}">
                <a16:creationId xmlns:a16="http://schemas.microsoft.com/office/drawing/2014/main" id="{F642B12D-2E81-4293-ACB1-C265169114E9}"/>
              </a:ext>
            </a:extLst>
          </p:cNvPr>
          <p:cNvSpPr>
            <a:spLocks noGrp="1"/>
          </p:cNvSpPr>
          <p:nvPr/>
        </p:nvSpPr>
        <p:spPr>
          <a:xfrm>
            <a:off x="838200" y="1352550"/>
            <a:ext cx="2095500" cy="38100"/>
          </a:xfrm>
          <a:prstGeom prst="rect">
            <a:avLst/>
          </a:prstGeom>
          <a:solidFill>
            <a:srgbClr val="0E8C61"/>
          </a:solidFill>
          <a:ln w="0">
            <a:solidFill>
              <a:srgbClr val="0E8C61"/>
            </a:solidFill>
            <a:prstDash val="solid"/>
          </a:ln>
        </p:spPr>
        <p:txBody>
          <a:bodyPr/>
          <a:lstStyle/>
          <a:p>
            <a:endParaRPr lang="en-US"/>
          </a:p>
        </p:txBody>
      </p:sp>
      <p:sp>
        <p:nvSpPr>
          <p:cNvPr id="3" name="Rectangle 2">
            <a:extLst>
              <a:ext uri="{FF2B5EF4-FFF2-40B4-BE49-F238E27FC236}">
                <a16:creationId xmlns:a16="http://schemas.microsoft.com/office/drawing/2014/main" id="{59C53176-904D-4E2B-AEC3-67F76E5CB6E0}"/>
              </a:ext>
            </a:extLst>
          </p:cNvPr>
          <p:cNvSpPr>
            <a:spLocks noGrp="1"/>
          </p:cNvSpPr>
          <p:nvPr/>
        </p:nvSpPr>
        <p:spPr>
          <a:xfrm>
            <a:off x="838200" y="1524000"/>
            <a:ext cx="4438650" cy="552450"/>
          </a:xfrm>
          <a:prstGeom prst="rect">
            <a:avLst/>
          </a:prstGeom>
        </p:spPr>
        <p:txBody>
          <a:bodyPr lIns="0" tIns="0" rIns="0" bIns="0"/>
          <a:lstStyle/>
          <a:p>
            <a:pPr>
              <a:defRPr sz="1800">
                <a:solidFill>
                  <a:srgbClr val="4B5563"/>
                </a:solidFill>
              </a:defRPr>
            </a:pPr>
            <a:r>
              <a:rPr sz="1800">
                <a:solidFill>
                  <a:srgbClr val="4B5563"/>
                </a:solidFill>
              </a:rPr>
              <a:t>Tổng hợp các mốc kỹ thuật đã có sẵn trong repo</a:t>
            </a:r>
          </a:p>
        </p:txBody>
      </p:sp>
      <p:sp>
        <p:nvSpPr>
          <p:cNvPr id="4" name="Rectangle: Rounded Corners 3">
            <a:extLst>
              <a:ext uri="{FF2B5EF4-FFF2-40B4-BE49-F238E27FC236}">
                <a16:creationId xmlns:a16="http://schemas.microsoft.com/office/drawing/2014/main" id="{C1D5C708-8A1A-48FC-B290-2CFA9D4A4007}"/>
              </a:ext>
            </a:extLst>
          </p:cNvPr>
          <p:cNvSpPr>
            <a:spLocks noGrp="1"/>
          </p:cNvSpPr>
          <p:nvPr/>
        </p:nvSpPr>
        <p:spPr>
          <a:xfrm>
            <a:off x="838200" y="2392680"/>
            <a:ext cx="8191500" cy="2528570"/>
          </a:xfrm>
          <a:prstGeom prst="roundRect">
            <a:avLst>
              <a:gd name="adj" fmla="val 4520"/>
            </a:avLst>
          </a:prstGeom>
          <a:solidFill>
            <a:srgbClr val="FFFFFF"/>
          </a:solidFill>
        </p:spPr>
        <p:txBody>
          <a:bodyPr/>
          <a:lstStyle/>
          <a:p>
            <a:endParaRPr lang="en-US"/>
          </a:p>
        </p:txBody>
      </p:sp>
      <p:sp>
        <p:nvSpPr>
          <p:cNvPr id="5" name="Rectangle 4">
            <a:extLst>
              <a:ext uri="{FF2B5EF4-FFF2-40B4-BE49-F238E27FC236}">
                <a16:creationId xmlns:a16="http://schemas.microsoft.com/office/drawing/2014/main" id="{141993F3-E2D4-40F9-BE44-0E05837289F0}"/>
              </a:ext>
            </a:extLst>
          </p:cNvPr>
          <p:cNvSpPr>
            <a:spLocks noGrp="1"/>
          </p:cNvSpPr>
          <p:nvPr/>
        </p:nvSpPr>
        <p:spPr>
          <a:xfrm>
            <a:off x="1066800" y="2609850"/>
            <a:ext cx="7734300" cy="285750"/>
          </a:xfrm>
          <a:prstGeom prst="rect">
            <a:avLst/>
          </a:prstGeom>
        </p:spPr>
        <p:txBody>
          <a:bodyPr lIns="0" tIns="0" rIns="0" bIns="0"/>
          <a:lstStyle/>
          <a:p>
            <a:pPr>
              <a:defRPr sz="1800">
                <a:solidFill>
                  <a:srgbClr val="17202A"/>
                </a:solidFill>
              </a:defRPr>
            </a:pPr>
            <a:r>
              <a:rPr sz="1800" dirty="0">
                <a:solidFill>
                  <a:srgbClr val="17202A"/>
                </a:solidFill>
              </a:rPr>
              <a:t>• EDA </a:t>
            </a:r>
            <a:r>
              <a:rPr sz="1800" dirty="0" err="1">
                <a:solidFill>
                  <a:srgbClr val="17202A"/>
                </a:solidFill>
              </a:rPr>
              <a:t>và</a:t>
            </a:r>
            <a:r>
              <a:rPr sz="1800" dirty="0">
                <a:solidFill>
                  <a:srgbClr val="17202A"/>
                </a:solidFill>
              </a:rPr>
              <a:t> pipeline </a:t>
            </a:r>
            <a:r>
              <a:rPr sz="1800" dirty="0" err="1">
                <a:solidFill>
                  <a:srgbClr val="17202A"/>
                </a:solidFill>
              </a:rPr>
              <a:t>tiền</a:t>
            </a:r>
            <a:r>
              <a:rPr sz="1800" dirty="0">
                <a:solidFill>
                  <a:srgbClr val="17202A"/>
                </a:solidFill>
              </a:rPr>
              <a:t> </a:t>
            </a:r>
            <a:r>
              <a:rPr sz="1800" dirty="0" err="1">
                <a:solidFill>
                  <a:srgbClr val="17202A"/>
                </a:solidFill>
              </a:rPr>
              <a:t>xử</a:t>
            </a:r>
            <a:r>
              <a:rPr sz="1800" dirty="0">
                <a:solidFill>
                  <a:srgbClr val="17202A"/>
                </a:solidFill>
              </a:rPr>
              <a:t> </a:t>
            </a:r>
            <a:r>
              <a:rPr sz="1800" dirty="0" err="1">
                <a:solidFill>
                  <a:srgbClr val="17202A"/>
                </a:solidFill>
              </a:rPr>
              <a:t>lý</a:t>
            </a:r>
            <a:r>
              <a:rPr sz="1800" dirty="0">
                <a:solidFill>
                  <a:srgbClr val="17202A"/>
                </a:solidFill>
              </a:rPr>
              <a:t> </a:t>
            </a:r>
            <a:r>
              <a:rPr sz="1800" dirty="0" err="1">
                <a:solidFill>
                  <a:srgbClr val="17202A"/>
                </a:solidFill>
              </a:rPr>
              <a:t>tiếng</a:t>
            </a:r>
            <a:r>
              <a:rPr sz="1800" dirty="0">
                <a:solidFill>
                  <a:srgbClr val="17202A"/>
                </a:solidFill>
              </a:rPr>
              <a:t> Việt</a:t>
            </a:r>
          </a:p>
        </p:txBody>
      </p:sp>
      <p:sp>
        <p:nvSpPr>
          <p:cNvPr id="6" name="Rectangle 5">
            <a:extLst>
              <a:ext uri="{FF2B5EF4-FFF2-40B4-BE49-F238E27FC236}">
                <a16:creationId xmlns:a16="http://schemas.microsoft.com/office/drawing/2014/main" id="{51990821-C222-4298-A0C7-72F232F3F6E9}"/>
              </a:ext>
            </a:extLst>
          </p:cNvPr>
          <p:cNvSpPr>
            <a:spLocks noGrp="1"/>
          </p:cNvSpPr>
          <p:nvPr/>
        </p:nvSpPr>
        <p:spPr>
          <a:xfrm>
            <a:off x="1066800" y="2990850"/>
            <a:ext cx="7734300" cy="285750"/>
          </a:xfrm>
          <a:prstGeom prst="rect">
            <a:avLst/>
          </a:prstGeom>
        </p:spPr>
        <p:txBody>
          <a:bodyPr lIns="0" tIns="0" rIns="0" bIns="0"/>
          <a:lstStyle/>
          <a:p>
            <a:pPr>
              <a:defRPr sz="1800">
                <a:solidFill>
                  <a:srgbClr val="17202A"/>
                </a:solidFill>
              </a:defRPr>
            </a:pPr>
            <a:r>
              <a:rPr sz="1800" dirty="0">
                <a:solidFill>
                  <a:srgbClr val="17202A"/>
                </a:solidFill>
              </a:rPr>
              <a:t>• Regex clean, </a:t>
            </a:r>
            <a:r>
              <a:rPr sz="1800" dirty="0" err="1">
                <a:solidFill>
                  <a:srgbClr val="17202A"/>
                </a:solidFill>
              </a:rPr>
              <a:t>chuẩn</a:t>
            </a:r>
            <a:r>
              <a:rPr sz="1800" dirty="0">
                <a:solidFill>
                  <a:srgbClr val="17202A"/>
                </a:solidFill>
              </a:rPr>
              <a:t> </a:t>
            </a:r>
            <a:r>
              <a:rPr sz="1800" dirty="0" err="1">
                <a:solidFill>
                  <a:srgbClr val="17202A"/>
                </a:solidFill>
              </a:rPr>
              <a:t>hóa</a:t>
            </a:r>
            <a:r>
              <a:rPr sz="1800" dirty="0">
                <a:solidFill>
                  <a:srgbClr val="17202A"/>
                </a:solidFill>
              </a:rPr>
              <a:t> </a:t>
            </a:r>
            <a:r>
              <a:rPr sz="1800" dirty="0" err="1">
                <a:solidFill>
                  <a:srgbClr val="17202A"/>
                </a:solidFill>
              </a:rPr>
              <a:t>viết</a:t>
            </a:r>
            <a:r>
              <a:rPr sz="1800" dirty="0">
                <a:solidFill>
                  <a:srgbClr val="17202A"/>
                </a:solidFill>
              </a:rPr>
              <a:t> </a:t>
            </a:r>
            <a:r>
              <a:rPr sz="1800" dirty="0" err="1">
                <a:solidFill>
                  <a:srgbClr val="17202A"/>
                </a:solidFill>
              </a:rPr>
              <a:t>tắt</a:t>
            </a:r>
            <a:r>
              <a:rPr sz="1800" dirty="0">
                <a:solidFill>
                  <a:srgbClr val="17202A"/>
                </a:solidFill>
              </a:rPr>
              <a:t>, emoji, fallback segmentation</a:t>
            </a:r>
          </a:p>
        </p:txBody>
      </p:sp>
      <p:sp>
        <p:nvSpPr>
          <p:cNvPr id="7" name="Rectangle 6">
            <a:extLst>
              <a:ext uri="{FF2B5EF4-FFF2-40B4-BE49-F238E27FC236}">
                <a16:creationId xmlns:a16="http://schemas.microsoft.com/office/drawing/2014/main" id="{6564AFB0-E3BB-4E35-ACB5-7D35F1CD3304}"/>
              </a:ext>
            </a:extLst>
          </p:cNvPr>
          <p:cNvSpPr>
            <a:spLocks noGrp="1"/>
          </p:cNvSpPr>
          <p:nvPr/>
        </p:nvSpPr>
        <p:spPr>
          <a:xfrm>
            <a:off x="1066800" y="3371850"/>
            <a:ext cx="7734300" cy="285750"/>
          </a:xfrm>
          <a:prstGeom prst="rect">
            <a:avLst/>
          </a:prstGeom>
        </p:spPr>
        <p:txBody>
          <a:bodyPr lIns="0" tIns="0" rIns="0" bIns="0"/>
          <a:lstStyle/>
          <a:p>
            <a:pPr>
              <a:defRPr sz="1800">
                <a:solidFill>
                  <a:srgbClr val="17202A"/>
                </a:solidFill>
              </a:defRPr>
            </a:pPr>
            <a:r>
              <a:rPr sz="1800" dirty="0">
                <a:solidFill>
                  <a:srgbClr val="17202A"/>
                </a:solidFill>
              </a:rPr>
              <a:t>• Dataset </a:t>
            </a:r>
            <a:r>
              <a:rPr sz="1800" dirty="0" err="1">
                <a:solidFill>
                  <a:srgbClr val="17202A"/>
                </a:solidFill>
              </a:rPr>
              <a:t>gốc</a:t>
            </a:r>
            <a:r>
              <a:rPr sz="1800" dirty="0">
                <a:solidFill>
                  <a:srgbClr val="17202A"/>
                </a:solidFill>
              </a:rPr>
              <a:t> </a:t>
            </a:r>
            <a:r>
              <a:rPr sz="1800" dirty="0" err="1">
                <a:solidFill>
                  <a:srgbClr val="17202A"/>
                </a:solidFill>
              </a:rPr>
              <a:t>từ</a:t>
            </a:r>
            <a:r>
              <a:rPr sz="1800" dirty="0">
                <a:solidFill>
                  <a:srgbClr val="17202A"/>
                </a:solidFill>
              </a:rPr>
              <a:t> vietnamese_ecommerce_review.csv</a:t>
            </a:r>
          </a:p>
        </p:txBody>
      </p:sp>
      <p:sp>
        <p:nvSpPr>
          <p:cNvPr id="8" name="Rectangle: Rounded Corners 7">
            <a:extLst>
              <a:ext uri="{FF2B5EF4-FFF2-40B4-BE49-F238E27FC236}">
                <a16:creationId xmlns:a16="http://schemas.microsoft.com/office/drawing/2014/main" id="{7ABDD3C1-E37B-4B72-8673-D40DB4AE4318}"/>
              </a:ext>
            </a:extLst>
          </p:cNvPr>
          <p:cNvSpPr>
            <a:spLocks noGrp="1"/>
          </p:cNvSpPr>
          <p:nvPr/>
        </p:nvSpPr>
        <p:spPr>
          <a:xfrm>
            <a:off x="9258300" y="2392680"/>
            <a:ext cx="8191500" cy="2528570"/>
          </a:xfrm>
          <a:prstGeom prst="roundRect">
            <a:avLst>
              <a:gd name="adj" fmla="val 4520"/>
            </a:avLst>
          </a:prstGeom>
          <a:solidFill>
            <a:srgbClr val="FFFFFF"/>
          </a:solidFill>
        </p:spPr>
        <p:txBody>
          <a:bodyPr/>
          <a:lstStyle/>
          <a:p>
            <a:endParaRPr lang="en-US"/>
          </a:p>
        </p:txBody>
      </p:sp>
      <p:sp>
        <p:nvSpPr>
          <p:cNvPr id="9" name="Rectangle 8">
            <a:extLst>
              <a:ext uri="{FF2B5EF4-FFF2-40B4-BE49-F238E27FC236}">
                <a16:creationId xmlns:a16="http://schemas.microsoft.com/office/drawing/2014/main" id="{4108BA7F-52A2-4056-B138-615E62087407}"/>
              </a:ext>
            </a:extLst>
          </p:cNvPr>
          <p:cNvSpPr>
            <a:spLocks noGrp="1"/>
          </p:cNvSpPr>
          <p:nvPr/>
        </p:nvSpPr>
        <p:spPr>
          <a:xfrm>
            <a:off x="9486900" y="2609850"/>
            <a:ext cx="7734300" cy="285750"/>
          </a:xfrm>
          <a:prstGeom prst="rect">
            <a:avLst/>
          </a:prstGeom>
        </p:spPr>
        <p:txBody>
          <a:bodyPr lIns="0" tIns="0" rIns="0" bIns="0"/>
          <a:lstStyle/>
          <a:p>
            <a:pPr>
              <a:defRPr sz="1800">
                <a:solidFill>
                  <a:srgbClr val="17202A"/>
                </a:solidFill>
              </a:defRPr>
            </a:pPr>
            <a:r>
              <a:rPr sz="1800">
                <a:solidFill>
                  <a:srgbClr val="17202A"/>
                </a:solidFill>
              </a:rPr>
              <a:t>• Baseline sentiment: Naive Bayes và SVM</a:t>
            </a:r>
          </a:p>
        </p:txBody>
      </p:sp>
      <p:sp>
        <p:nvSpPr>
          <p:cNvPr id="10" name="Rectangle 9">
            <a:extLst>
              <a:ext uri="{FF2B5EF4-FFF2-40B4-BE49-F238E27FC236}">
                <a16:creationId xmlns:a16="http://schemas.microsoft.com/office/drawing/2014/main" id="{4C701F57-A397-493B-8273-F6847DB535B6}"/>
              </a:ext>
            </a:extLst>
          </p:cNvPr>
          <p:cNvSpPr>
            <a:spLocks noGrp="1"/>
          </p:cNvSpPr>
          <p:nvPr/>
        </p:nvSpPr>
        <p:spPr>
          <a:xfrm>
            <a:off x="9486900" y="2990850"/>
            <a:ext cx="7734300" cy="285750"/>
          </a:xfrm>
          <a:prstGeom prst="rect">
            <a:avLst/>
          </a:prstGeom>
        </p:spPr>
        <p:txBody>
          <a:bodyPr lIns="0" tIns="0" rIns="0" bIns="0"/>
          <a:lstStyle/>
          <a:p>
            <a:pPr>
              <a:defRPr sz="1800">
                <a:solidFill>
                  <a:srgbClr val="17202A"/>
                </a:solidFill>
              </a:defRPr>
            </a:pPr>
            <a:r>
              <a:rPr sz="1800">
                <a:solidFill>
                  <a:srgbClr val="17202A"/>
                </a:solidFill>
              </a:rPr>
              <a:t>• Gold eval 250 dòng đã được rà soát và tách riêng</a:t>
            </a:r>
          </a:p>
        </p:txBody>
      </p:sp>
      <p:sp>
        <p:nvSpPr>
          <p:cNvPr id="11" name="Rectangle 10">
            <a:extLst>
              <a:ext uri="{FF2B5EF4-FFF2-40B4-BE49-F238E27FC236}">
                <a16:creationId xmlns:a16="http://schemas.microsoft.com/office/drawing/2014/main" id="{B3E118CA-383A-458A-B29A-8D31A3A5D602}"/>
              </a:ext>
            </a:extLst>
          </p:cNvPr>
          <p:cNvSpPr>
            <a:spLocks noGrp="1"/>
          </p:cNvSpPr>
          <p:nvPr/>
        </p:nvSpPr>
        <p:spPr>
          <a:xfrm>
            <a:off x="9486900" y="3371850"/>
            <a:ext cx="7734300" cy="285750"/>
          </a:xfrm>
          <a:prstGeom prst="rect">
            <a:avLst/>
          </a:prstGeom>
        </p:spPr>
        <p:txBody>
          <a:bodyPr lIns="0" tIns="0" rIns="0" bIns="0"/>
          <a:lstStyle/>
          <a:p>
            <a:pPr>
              <a:defRPr sz="1800">
                <a:solidFill>
                  <a:srgbClr val="17202A"/>
                </a:solidFill>
              </a:defRPr>
            </a:pPr>
            <a:r>
              <a:rPr sz="1800">
                <a:solidFill>
                  <a:srgbClr val="17202A"/>
                </a:solidFill>
              </a:rPr>
              <a:t>• Working train set 779 dòng</a:t>
            </a:r>
          </a:p>
        </p:txBody>
      </p:sp>
      <p:sp>
        <p:nvSpPr>
          <p:cNvPr id="12" name="Rectangle: Rounded Corners 11">
            <a:extLst>
              <a:ext uri="{FF2B5EF4-FFF2-40B4-BE49-F238E27FC236}">
                <a16:creationId xmlns:a16="http://schemas.microsoft.com/office/drawing/2014/main" id="{5FC22BC9-AE0F-4EB5-9721-BB289C6F0315}"/>
              </a:ext>
            </a:extLst>
          </p:cNvPr>
          <p:cNvSpPr>
            <a:spLocks noGrp="1"/>
          </p:cNvSpPr>
          <p:nvPr/>
        </p:nvSpPr>
        <p:spPr>
          <a:xfrm>
            <a:off x="838200" y="5130800"/>
            <a:ext cx="8191500" cy="2528570"/>
          </a:xfrm>
          <a:prstGeom prst="roundRect">
            <a:avLst>
              <a:gd name="adj" fmla="val 4520"/>
            </a:avLst>
          </a:prstGeom>
          <a:solidFill>
            <a:srgbClr val="FFFFFF"/>
          </a:solidFill>
        </p:spPr>
        <p:txBody>
          <a:bodyPr/>
          <a:lstStyle/>
          <a:p>
            <a:endParaRPr lang="en-US" dirty="0"/>
          </a:p>
        </p:txBody>
      </p:sp>
      <p:sp>
        <p:nvSpPr>
          <p:cNvPr id="13" name="Rectangle 12">
            <a:extLst>
              <a:ext uri="{FF2B5EF4-FFF2-40B4-BE49-F238E27FC236}">
                <a16:creationId xmlns:a16="http://schemas.microsoft.com/office/drawing/2014/main" id="{700A5C26-9D64-4EB4-9467-95B88B15079F}"/>
              </a:ext>
            </a:extLst>
          </p:cNvPr>
          <p:cNvSpPr>
            <a:spLocks noGrp="1"/>
          </p:cNvSpPr>
          <p:nvPr/>
        </p:nvSpPr>
        <p:spPr>
          <a:xfrm>
            <a:off x="1066800" y="5334000"/>
            <a:ext cx="7734300" cy="285750"/>
          </a:xfrm>
          <a:prstGeom prst="rect">
            <a:avLst/>
          </a:prstGeom>
        </p:spPr>
        <p:txBody>
          <a:bodyPr lIns="0" tIns="0" rIns="0" bIns="0"/>
          <a:lstStyle/>
          <a:p>
            <a:pPr>
              <a:defRPr sz="1800">
                <a:solidFill>
                  <a:srgbClr val="17202A"/>
                </a:solidFill>
              </a:defRPr>
            </a:pPr>
            <a:r>
              <a:rPr sz="1800" dirty="0">
                <a:solidFill>
                  <a:srgbClr val="17202A"/>
                </a:solidFill>
              </a:rPr>
              <a:t>• Workflow ABSA: batch annotate, prefill, merge, review priority</a:t>
            </a:r>
          </a:p>
        </p:txBody>
      </p:sp>
      <p:sp>
        <p:nvSpPr>
          <p:cNvPr id="14" name="Rectangle 13">
            <a:extLst>
              <a:ext uri="{FF2B5EF4-FFF2-40B4-BE49-F238E27FC236}">
                <a16:creationId xmlns:a16="http://schemas.microsoft.com/office/drawing/2014/main" id="{026C1DB7-9D9E-4CDA-8236-6D1F5825EBEC}"/>
              </a:ext>
            </a:extLst>
          </p:cNvPr>
          <p:cNvSpPr>
            <a:spLocks noGrp="1"/>
          </p:cNvSpPr>
          <p:nvPr/>
        </p:nvSpPr>
        <p:spPr>
          <a:xfrm>
            <a:off x="1066800" y="5734050"/>
            <a:ext cx="7734300" cy="285750"/>
          </a:xfrm>
          <a:prstGeom prst="rect">
            <a:avLst/>
          </a:prstGeom>
        </p:spPr>
        <p:txBody>
          <a:bodyPr lIns="0" tIns="0" rIns="0" bIns="0"/>
          <a:lstStyle/>
          <a:p>
            <a:pPr>
              <a:defRPr sz="1800">
                <a:solidFill>
                  <a:srgbClr val="17202A"/>
                </a:solidFill>
              </a:defRPr>
            </a:pPr>
            <a:r>
              <a:rPr sz="1800" dirty="0">
                <a:solidFill>
                  <a:srgbClr val="17202A"/>
                </a:solidFill>
              </a:rPr>
              <a:t>• ABSA baseline train/eval </a:t>
            </a:r>
            <a:r>
              <a:rPr sz="1800" dirty="0" err="1">
                <a:solidFill>
                  <a:srgbClr val="17202A"/>
                </a:solidFill>
              </a:rPr>
              <a:t>theo</a:t>
            </a:r>
            <a:r>
              <a:rPr sz="1800" dirty="0">
                <a:solidFill>
                  <a:srgbClr val="17202A"/>
                </a:solidFill>
              </a:rPr>
              <a:t> split </a:t>
            </a:r>
            <a:r>
              <a:rPr sz="1800" dirty="0" err="1">
                <a:solidFill>
                  <a:srgbClr val="17202A"/>
                </a:solidFill>
              </a:rPr>
              <a:t>tách</a:t>
            </a:r>
            <a:r>
              <a:rPr sz="1800" dirty="0">
                <a:solidFill>
                  <a:srgbClr val="17202A"/>
                </a:solidFill>
              </a:rPr>
              <a:t> </a:t>
            </a:r>
            <a:r>
              <a:rPr sz="1800" dirty="0" err="1">
                <a:solidFill>
                  <a:srgbClr val="17202A"/>
                </a:solidFill>
              </a:rPr>
              <a:t>riêng</a:t>
            </a:r>
            <a:endParaRPr sz="1800" dirty="0">
              <a:solidFill>
                <a:srgbClr val="17202A"/>
              </a:solidFill>
            </a:endParaRPr>
          </a:p>
        </p:txBody>
      </p:sp>
      <p:sp>
        <p:nvSpPr>
          <p:cNvPr id="16" name="Rectangle: Rounded Corners 15">
            <a:extLst>
              <a:ext uri="{FF2B5EF4-FFF2-40B4-BE49-F238E27FC236}">
                <a16:creationId xmlns:a16="http://schemas.microsoft.com/office/drawing/2014/main" id="{618BC7BF-165E-477B-9CFF-572D9E349C4D}"/>
              </a:ext>
            </a:extLst>
          </p:cNvPr>
          <p:cNvSpPr>
            <a:spLocks noGrp="1"/>
          </p:cNvSpPr>
          <p:nvPr/>
        </p:nvSpPr>
        <p:spPr>
          <a:xfrm>
            <a:off x="9258300" y="5130800"/>
            <a:ext cx="8191500" cy="2528570"/>
          </a:xfrm>
          <a:prstGeom prst="roundRect">
            <a:avLst>
              <a:gd name="adj" fmla="val 4520"/>
            </a:avLst>
          </a:prstGeom>
          <a:solidFill>
            <a:srgbClr val="FFFFFF"/>
          </a:solidFill>
        </p:spPr>
        <p:txBody>
          <a:bodyPr/>
          <a:lstStyle/>
          <a:p>
            <a:endParaRPr lang="en-US"/>
          </a:p>
        </p:txBody>
      </p:sp>
      <p:sp>
        <p:nvSpPr>
          <p:cNvPr id="17" name="Rectangle 16">
            <a:extLst>
              <a:ext uri="{FF2B5EF4-FFF2-40B4-BE49-F238E27FC236}">
                <a16:creationId xmlns:a16="http://schemas.microsoft.com/office/drawing/2014/main" id="{F952FF63-EA01-4966-96A2-24A61336688B}"/>
              </a:ext>
            </a:extLst>
          </p:cNvPr>
          <p:cNvSpPr>
            <a:spLocks noGrp="1"/>
          </p:cNvSpPr>
          <p:nvPr/>
        </p:nvSpPr>
        <p:spPr>
          <a:xfrm>
            <a:off x="9486900" y="5334000"/>
            <a:ext cx="7734300" cy="285750"/>
          </a:xfrm>
          <a:prstGeom prst="rect">
            <a:avLst/>
          </a:prstGeom>
        </p:spPr>
        <p:txBody>
          <a:bodyPr lIns="0" tIns="0" rIns="0" bIns="0"/>
          <a:lstStyle/>
          <a:p>
            <a:pPr>
              <a:defRPr sz="1800">
                <a:solidFill>
                  <a:srgbClr val="17202A"/>
                </a:solidFill>
              </a:defRPr>
            </a:pPr>
            <a:r>
              <a:rPr sz="1800" dirty="0">
                <a:solidFill>
                  <a:srgbClr val="17202A"/>
                </a:solidFill>
              </a:rPr>
              <a:t>• API Flask </a:t>
            </a:r>
            <a:r>
              <a:rPr sz="1800" dirty="0" err="1">
                <a:solidFill>
                  <a:srgbClr val="17202A"/>
                </a:solidFill>
              </a:rPr>
              <a:t>và</a:t>
            </a:r>
            <a:r>
              <a:rPr sz="1800" dirty="0">
                <a:solidFill>
                  <a:srgbClr val="17202A"/>
                </a:solidFill>
              </a:rPr>
              <a:t> dashboard </a:t>
            </a:r>
            <a:r>
              <a:rPr sz="1800" dirty="0" err="1">
                <a:solidFill>
                  <a:srgbClr val="17202A"/>
                </a:solidFill>
              </a:rPr>
              <a:t>Streamlit</a:t>
            </a:r>
            <a:r>
              <a:rPr sz="1800" dirty="0">
                <a:solidFill>
                  <a:srgbClr val="17202A"/>
                </a:solidFill>
              </a:rPr>
              <a:t> </a:t>
            </a:r>
            <a:r>
              <a:rPr sz="1800" dirty="0" err="1">
                <a:solidFill>
                  <a:srgbClr val="17202A"/>
                </a:solidFill>
              </a:rPr>
              <a:t>đã</a:t>
            </a:r>
            <a:r>
              <a:rPr sz="1800" dirty="0">
                <a:solidFill>
                  <a:srgbClr val="17202A"/>
                </a:solidFill>
              </a:rPr>
              <a:t> </a:t>
            </a:r>
            <a:r>
              <a:rPr sz="1800" dirty="0" err="1">
                <a:solidFill>
                  <a:srgbClr val="17202A"/>
                </a:solidFill>
              </a:rPr>
              <a:t>chạy</a:t>
            </a:r>
            <a:r>
              <a:rPr sz="1800" dirty="0">
                <a:solidFill>
                  <a:srgbClr val="17202A"/>
                </a:solidFill>
              </a:rPr>
              <a:t> </a:t>
            </a:r>
            <a:r>
              <a:rPr sz="1800" dirty="0" err="1">
                <a:solidFill>
                  <a:srgbClr val="17202A"/>
                </a:solidFill>
              </a:rPr>
              <a:t>được</a:t>
            </a:r>
            <a:endParaRPr sz="1800" dirty="0">
              <a:solidFill>
                <a:srgbClr val="17202A"/>
              </a:solidFill>
            </a:endParaRPr>
          </a:p>
        </p:txBody>
      </p:sp>
      <p:sp>
        <p:nvSpPr>
          <p:cNvPr id="18" name="Rectangle 17">
            <a:extLst>
              <a:ext uri="{FF2B5EF4-FFF2-40B4-BE49-F238E27FC236}">
                <a16:creationId xmlns:a16="http://schemas.microsoft.com/office/drawing/2014/main" id="{D34B133E-77DD-4A87-8166-A68B62DFA5AC}"/>
              </a:ext>
            </a:extLst>
          </p:cNvPr>
          <p:cNvSpPr>
            <a:spLocks noGrp="1"/>
          </p:cNvSpPr>
          <p:nvPr/>
        </p:nvSpPr>
        <p:spPr>
          <a:xfrm>
            <a:off x="9486900" y="5734050"/>
            <a:ext cx="7734300" cy="285750"/>
          </a:xfrm>
          <a:prstGeom prst="rect">
            <a:avLst/>
          </a:prstGeom>
        </p:spPr>
        <p:txBody>
          <a:bodyPr lIns="0" tIns="0" rIns="0" bIns="0"/>
          <a:lstStyle/>
          <a:p>
            <a:pPr>
              <a:defRPr sz="1800">
                <a:solidFill>
                  <a:srgbClr val="17202A"/>
                </a:solidFill>
              </a:defRPr>
            </a:pPr>
            <a:r>
              <a:t>• Tích hợp live thành công mô hình PhoBERT PyTorch vào Web Dashboard &amp; Flask API</a:t>
            </a:r>
          </a:p>
        </p:txBody>
      </p:sp>
      <p:sp>
        <p:nvSpPr>
          <p:cNvPr id="19" name="Rectangle 18">
            <a:extLst>
              <a:ext uri="{FF2B5EF4-FFF2-40B4-BE49-F238E27FC236}">
                <a16:creationId xmlns:a16="http://schemas.microsoft.com/office/drawing/2014/main" id="{F08B4630-9F20-4649-9C8F-6A0B62378049}"/>
              </a:ext>
            </a:extLst>
          </p:cNvPr>
          <p:cNvSpPr>
            <a:spLocks noGrp="1"/>
          </p:cNvSpPr>
          <p:nvPr/>
        </p:nvSpPr>
        <p:spPr>
          <a:xfrm>
            <a:off x="9486900" y="6115050"/>
            <a:ext cx="7734300" cy="285750"/>
          </a:xfrm>
          <a:prstGeom prst="rect">
            <a:avLst/>
          </a:prstGeom>
        </p:spPr>
        <p:txBody>
          <a:bodyPr lIns="0" tIns="0" rIns="0" bIns="0"/>
          <a:lstStyle/>
          <a:p>
            <a:pPr>
              <a:defRPr sz="1800">
                <a:solidFill>
                  <a:srgbClr val="17202A"/>
                </a:solidFill>
              </a:defRPr>
            </a:pPr>
            <a:r>
              <a:rPr sz="1800" dirty="0">
                <a:solidFill>
                  <a:srgbClr val="17202A"/>
                </a:solidFill>
              </a:rPr>
              <a:t>• </a:t>
            </a:r>
            <a:r>
              <a:rPr sz="1800" dirty="0" err="1">
                <a:solidFill>
                  <a:srgbClr val="17202A"/>
                </a:solidFill>
              </a:rPr>
              <a:t>Có</a:t>
            </a:r>
            <a:r>
              <a:rPr sz="1800" dirty="0">
                <a:solidFill>
                  <a:srgbClr val="17202A"/>
                </a:solidFill>
              </a:rPr>
              <a:t> fallback rule-based </a:t>
            </a:r>
            <a:r>
              <a:rPr sz="1800" dirty="0" err="1">
                <a:solidFill>
                  <a:srgbClr val="17202A"/>
                </a:solidFill>
              </a:rPr>
              <a:t>khi</a:t>
            </a:r>
            <a:r>
              <a:rPr sz="1800" dirty="0">
                <a:solidFill>
                  <a:srgbClr val="17202A"/>
                </a:solidFill>
              </a:rPr>
              <a:t> </a:t>
            </a:r>
            <a:r>
              <a:rPr sz="1800" dirty="0" err="1">
                <a:solidFill>
                  <a:srgbClr val="17202A"/>
                </a:solidFill>
              </a:rPr>
              <a:t>cần</a:t>
            </a:r>
            <a:endParaRPr sz="1800" dirty="0">
              <a:solidFill>
                <a:srgbClr val="17202A"/>
              </a:solidFill>
            </a:endParaRPr>
          </a:p>
        </p:txBody>
      </p:sp>
      <p:sp>
        <p:nvSpPr>
          <p:cNvPr id="20" name="Rectangle: Rounded Corners 19">
            <a:extLst>
              <a:ext uri="{FF2B5EF4-FFF2-40B4-BE49-F238E27FC236}">
                <a16:creationId xmlns:a16="http://schemas.microsoft.com/office/drawing/2014/main" id="{8F0868E1-A268-464B-BF13-FDE126652F25}"/>
              </a:ext>
            </a:extLst>
          </p:cNvPr>
          <p:cNvSpPr>
            <a:spLocks noGrp="1"/>
          </p:cNvSpPr>
          <p:nvPr/>
        </p:nvSpPr>
        <p:spPr>
          <a:xfrm>
            <a:off x="838200" y="7868920"/>
            <a:ext cx="16611600" cy="1751330"/>
          </a:xfrm>
          <a:prstGeom prst="roundRect">
            <a:avLst>
              <a:gd name="adj" fmla="val 6526"/>
            </a:avLst>
          </a:prstGeom>
          <a:solidFill>
            <a:srgbClr val="DFEAF8"/>
          </a:solidFill>
        </p:spPr>
        <p:txBody>
          <a:bodyPr/>
          <a:lstStyle/>
          <a:p>
            <a:endParaRPr lang="en-US"/>
          </a:p>
        </p:txBody>
      </p:sp>
      <p:sp>
        <p:nvSpPr>
          <p:cNvPr id="21" name="Rectangle 20">
            <a:extLst>
              <a:ext uri="{FF2B5EF4-FFF2-40B4-BE49-F238E27FC236}">
                <a16:creationId xmlns:a16="http://schemas.microsoft.com/office/drawing/2014/main" id="{13FB0F6A-A1AA-4F5C-BA37-34057A17EA16}"/>
              </a:ext>
            </a:extLst>
          </p:cNvPr>
          <p:cNvSpPr>
            <a:spLocks noGrp="1"/>
          </p:cNvSpPr>
          <p:nvPr/>
        </p:nvSpPr>
        <p:spPr>
          <a:xfrm>
            <a:off x="1066800" y="8077200"/>
            <a:ext cx="16154400" cy="285750"/>
          </a:xfrm>
          <a:prstGeom prst="rect">
            <a:avLst/>
          </a:prstGeom>
        </p:spPr>
        <p:txBody>
          <a:bodyPr lIns="0" tIns="0" rIns="0" bIns="0"/>
          <a:lstStyle/>
          <a:p>
            <a:pPr>
              <a:defRPr sz="1800">
                <a:solidFill>
                  <a:srgbClr val="17202A"/>
                </a:solidFill>
              </a:defRPr>
            </a:pPr>
            <a:r>
              <a:t>• Đã tinh chỉnh thành công PhoBERT trên GPU T4, đạt Aspect F1 0.5669 và Sentiment F1 0.5819</a:t>
            </a:r>
          </a:p>
        </p:txBody>
      </p:sp>
    </p:spTree>
    <p:extLst>
      <p:ext uri="{BB962C8B-B14F-4D97-AF65-F5344CB8AC3E}">
        <p14:creationId xmlns:p14="http://schemas.microsoft.com/office/powerpoint/2010/main" val="23303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B463DB6-D8B5-4E32-8426-ECBDC5C050A3}"/>
              </a:ext>
            </a:extLst>
          </p:cNvPr>
          <p:cNvSpPr>
            <a:spLocks noGrp="1"/>
          </p:cNvSpPr>
          <p:nvPr/>
        </p:nvSpPr>
        <p:spPr>
          <a:xfrm>
            <a:off x="838200" y="666750"/>
            <a:ext cx="16611600" cy="552450"/>
          </a:xfrm>
          <a:prstGeom prst="rect">
            <a:avLst/>
          </a:prstGeom>
        </p:spPr>
        <p:txBody>
          <a:bodyPr lIns="0" tIns="0" rIns="0" bIns="0"/>
          <a:lstStyle/>
          <a:p>
            <a:pPr>
              <a:defRPr sz="3600" b="1">
                <a:solidFill>
                  <a:srgbClr val="17202A"/>
                </a:solidFill>
              </a:defRPr>
            </a:pPr>
            <a:r>
              <a:rPr sz="3600" b="1">
                <a:solidFill>
                  <a:srgbClr val="17202A"/>
                </a:solidFill>
              </a:rPr>
              <a:t>Dữ liệu và quy trình đánh giá</a:t>
            </a:r>
          </a:p>
        </p:txBody>
      </p:sp>
      <p:sp>
        <p:nvSpPr>
          <p:cNvPr id="2" name="Rectangle 1">
            <a:extLst>
              <a:ext uri="{FF2B5EF4-FFF2-40B4-BE49-F238E27FC236}">
                <a16:creationId xmlns:a16="http://schemas.microsoft.com/office/drawing/2014/main" id="{9A57999E-28E4-473D-919C-72E4D272AFB2}"/>
              </a:ext>
            </a:extLst>
          </p:cNvPr>
          <p:cNvSpPr>
            <a:spLocks noGrp="1"/>
          </p:cNvSpPr>
          <p:nvPr/>
        </p:nvSpPr>
        <p:spPr>
          <a:xfrm>
            <a:off x="838200" y="1352550"/>
            <a:ext cx="2095500" cy="38100"/>
          </a:xfrm>
          <a:prstGeom prst="rect">
            <a:avLst/>
          </a:prstGeom>
          <a:solidFill>
            <a:srgbClr val="0E8C61"/>
          </a:solidFill>
          <a:ln w="0">
            <a:solidFill>
              <a:srgbClr val="0E8C61"/>
            </a:solidFill>
            <a:prstDash val="solid"/>
          </a:ln>
        </p:spPr>
        <p:txBody>
          <a:bodyPr/>
          <a:lstStyle/>
          <a:p>
            <a:endParaRPr lang="en-US"/>
          </a:p>
        </p:txBody>
      </p:sp>
      <p:sp>
        <p:nvSpPr>
          <p:cNvPr id="3" name="Rectangle 2">
            <a:extLst>
              <a:ext uri="{FF2B5EF4-FFF2-40B4-BE49-F238E27FC236}">
                <a16:creationId xmlns:a16="http://schemas.microsoft.com/office/drawing/2014/main" id="{CF196244-D31A-4A3C-9F88-D322D4D31798}"/>
              </a:ext>
            </a:extLst>
          </p:cNvPr>
          <p:cNvSpPr>
            <a:spLocks noGrp="1"/>
          </p:cNvSpPr>
          <p:nvPr/>
        </p:nvSpPr>
        <p:spPr>
          <a:xfrm>
            <a:off x="838200" y="1524000"/>
            <a:ext cx="3829050" cy="285750"/>
          </a:xfrm>
          <a:prstGeom prst="rect">
            <a:avLst/>
          </a:prstGeom>
        </p:spPr>
        <p:txBody>
          <a:bodyPr lIns="0" tIns="0" rIns="0" bIns="0"/>
          <a:lstStyle/>
          <a:p>
            <a:pPr>
              <a:defRPr sz="1800">
                <a:solidFill>
                  <a:srgbClr val="4B5563"/>
                </a:solidFill>
              </a:defRPr>
            </a:pPr>
            <a:r>
              <a:rPr sz="1800">
                <a:solidFill>
                  <a:srgbClr val="4B5563"/>
                </a:solidFill>
              </a:rPr>
              <a:t>Tách rõ training set và gold evaluation set</a:t>
            </a:r>
          </a:p>
        </p:txBody>
      </p:sp>
      <p:sp>
        <p:nvSpPr>
          <p:cNvPr id="4" name="Rectangle: Rounded Corners 3">
            <a:extLst>
              <a:ext uri="{FF2B5EF4-FFF2-40B4-BE49-F238E27FC236}">
                <a16:creationId xmlns:a16="http://schemas.microsoft.com/office/drawing/2014/main" id="{113425E3-5ED7-45DE-B5F4-E32F81EE78AA}"/>
              </a:ext>
            </a:extLst>
          </p:cNvPr>
          <p:cNvSpPr>
            <a:spLocks noGrp="1"/>
          </p:cNvSpPr>
          <p:nvPr/>
        </p:nvSpPr>
        <p:spPr>
          <a:xfrm>
            <a:off x="838200" y="2099310"/>
            <a:ext cx="5384800" cy="2286000"/>
          </a:xfrm>
          <a:prstGeom prst="roundRect">
            <a:avLst>
              <a:gd name="adj" fmla="val 5000"/>
            </a:avLst>
          </a:prstGeom>
          <a:solidFill>
            <a:srgbClr val="DFEAF8"/>
          </a:solidFill>
        </p:spPr>
        <p:txBody>
          <a:bodyPr/>
          <a:lstStyle/>
          <a:p>
            <a:endParaRPr lang="en-US"/>
          </a:p>
        </p:txBody>
      </p:sp>
      <p:sp>
        <p:nvSpPr>
          <p:cNvPr id="5" name="Rectangle 4">
            <a:extLst>
              <a:ext uri="{FF2B5EF4-FFF2-40B4-BE49-F238E27FC236}">
                <a16:creationId xmlns:a16="http://schemas.microsoft.com/office/drawing/2014/main" id="{0A41A8D0-629F-4878-ADDF-D09E0DED0798}"/>
              </a:ext>
            </a:extLst>
          </p:cNvPr>
          <p:cNvSpPr>
            <a:spLocks noGrp="1"/>
          </p:cNvSpPr>
          <p:nvPr/>
        </p:nvSpPr>
        <p:spPr>
          <a:xfrm>
            <a:off x="1085850" y="2324100"/>
            <a:ext cx="4895850" cy="209550"/>
          </a:xfrm>
          <a:prstGeom prst="rect">
            <a:avLst/>
          </a:prstGeom>
        </p:spPr>
        <p:txBody>
          <a:bodyPr lIns="0" tIns="0" rIns="0" bIns="0"/>
          <a:lstStyle/>
          <a:p>
            <a:pPr>
              <a:defRPr sz="1350" b="1">
                <a:solidFill>
                  <a:srgbClr val="1F5AA6"/>
                </a:solidFill>
              </a:defRPr>
            </a:pPr>
            <a:r>
              <a:rPr sz="1350" b="1">
                <a:solidFill>
                  <a:srgbClr val="1F5AA6"/>
                </a:solidFill>
              </a:rPr>
              <a:t>Working train</a:t>
            </a:r>
          </a:p>
        </p:txBody>
      </p:sp>
      <p:sp>
        <p:nvSpPr>
          <p:cNvPr id="6" name="Rectangle 5">
            <a:extLst>
              <a:ext uri="{FF2B5EF4-FFF2-40B4-BE49-F238E27FC236}">
                <a16:creationId xmlns:a16="http://schemas.microsoft.com/office/drawing/2014/main" id="{9B18BBFF-431F-4671-9FA0-435EA1ED43E9}"/>
              </a:ext>
            </a:extLst>
          </p:cNvPr>
          <p:cNvSpPr>
            <a:spLocks noGrp="1"/>
          </p:cNvSpPr>
          <p:nvPr/>
        </p:nvSpPr>
        <p:spPr>
          <a:xfrm>
            <a:off x="1085850" y="2590800"/>
            <a:ext cx="4895850" cy="419100"/>
          </a:xfrm>
          <a:prstGeom prst="rect">
            <a:avLst/>
          </a:prstGeom>
        </p:spPr>
        <p:txBody>
          <a:bodyPr lIns="0" tIns="0" rIns="0" bIns="0"/>
          <a:lstStyle/>
          <a:p>
            <a:pPr>
              <a:defRPr sz="2700" b="1">
                <a:solidFill>
                  <a:srgbClr val="17202A"/>
                </a:solidFill>
              </a:defRPr>
            </a:pPr>
            <a:r>
              <a:rPr sz="2700" b="1">
                <a:solidFill>
                  <a:srgbClr val="17202A"/>
                </a:solidFill>
              </a:rPr>
              <a:t>779 dòng</a:t>
            </a:r>
          </a:p>
        </p:txBody>
      </p:sp>
      <p:sp>
        <p:nvSpPr>
          <p:cNvPr id="7" name="Rectangle 6">
            <a:extLst>
              <a:ext uri="{FF2B5EF4-FFF2-40B4-BE49-F238E27FC236}">
                <a16:creationId xmlns:a16="http://schemas.microsoft.com/office/drawing/2014/main" id="{E2016837-5D91-4F89-BA9F-DA89001A2622}"/>
              </a:ext>
            </a:extLst>
          </p:cNvPr>
          <p:cNvSpPr>
            <a:spLocks noGrp="1"/>
          </p:cNvSpPr>
          <p:nvPr/>
        </p:nvSpPr>
        <p:spPr>
          <a:xfrm>
            <a:off x="1085850" y="3067050"/>
            <a:ext cx="4895850" cy="171450"/>
          </a:xfrm>
          <a:prstGeom prst="rect">
            <a:avLst/>
          </a:prstGeom>
        </p:spPr>
        <p:txBody>
          <a:bodyPr lIns="0" tIns="0" rIns="0" bIns="0"/>
          <a:lstStyle/>
          <a:p>
            <a:pPr>
              <a:defRPr sz="1050">
                <a:solidFill>
                  <a:srgbClr val="4B5563"/>
                </a:solidFill>
              </a:defRPr>
            </a:pPr>
            <a:r>
              <a:rPr sz="1050">
                <a:solidFill>
                  <a:srgbClr val="4B5563"/>
                </a:solidFill>
              </a:rPr>
              <a:t>Tập huấn luyện ABSA hiện tại</a:t>
            </a:r>
          </a:p>
        </p:txBody>
      </p:sp>
      <p:sp>
        <p:nvSpPr>
          <p:cNvPr id="8" name="Rectangle: Rounded Corners 7">
            <a:extLst>
              <a:ext uri="{FF2B5EF4-FFF2-40B4-BE49-F238E27FC236}">
                <a16:creationId xmlns:a16="http://schemas.microsoft.com/office/drawing/2014/main" id="{EEA57A00-1B0A-44DB-92F4-17C4A6AC91B3}"/>
              </a:ext>
            </a:extLst>
          </p:cNvPr>
          <p:cNvSpPr>
            <a:spLocks noGrp="1"/>
          </p:cNvSpPr>
          <p:nvPr/>
        </p:nvSpPr>
        <p:spPr>
          <a:xfrm>
            <a:off x="6451600" y="2099310"/>
            <a:ext cx="5384800" cy="2286000"/>
          </a:xfrm>
          <a:prstGeom prst="roundRect">
            <a:avLst>
              <a:gd name="adj" fmla="val 5000"/>
            </a:avLst>
          </a:prstGeom>
          <a:solidFill>
            <a:srgbClr val="DCEFE7"/>
          </a:solidFill>
        </p:spPr>
        <p:txBody>
          <a:bodyPr/>
          <a:lstStyle/>
          <a:p>
            <a:endParaRPr lang="en-US"/>
          </a:p>
        </p:txBody>
      </p:sp>
      <p:sp>
        <p:nvSpPr>
          <p:cNvPr id="9" name="Rectangle 8">
            <a:extLst>
              <a:ext uri="{FF2B5EF4-FFF2-40B4-BE49-F238E27FC236}">
                <a16:creationId xmlns:a16="http://schemas.microsoft.com/office/drawing/2014/main" id="{0230BA22-5208-4549-A055-DAD4CA1B0DDB}"/>
              </a:ext>
            </a:extLst>
          </p:cNvPr>
          <p:cNvSpPr>
            <a:spLocks noGrp="1"/>
          </p:cNvSpPr>
          <p:nvPr/>
        </p:nvSpPr>
        <p:spPr>
          <a:xfrm>
            <a:off x="6705600" y="2324100"/>
            <a:ext cx="4895850" cy="209550"/>
          </a:xfrm>
          <a:prstGeom prst="rect">
            <a:avLst/>
          </a:prstGeom>
        </p:spPr>
        <p:txBody>
          <a:bodyPr lIns="0" tIns="0" rIns="0" bIns="0"/>
          <a:lstStyle/>
          <a:p>
            <a:pPr>
              <a:defRPr sz="1350" b="1">
                <a:solidFill>
                  <a:srgbClr val="0E8C61"/>
                </a:solidFill>
              </a:defRPr>
            </a:pPr>
            <a:r>
              <a:rPr sz="1350" b="1">
                <a:solidFill>
                  <a:srgbClr val="0E8C61"/>
                </a:solidFill>
              </a:rPr>
              <a:t>Gold eval</a:t>
            </a:r>
          </a:p>
        </p:txBody>
      </p:sp>
      <p:sp>
        <p:nvSpPr>
          <p:cNvPr id="10" name="Rectangle 9">
            <a:extLst>
              <a:ext uri="{FF2B5EF4-FFF2-40B4-BE49-F238E27FC236}">
                <a16:creationId xmlns:a16="http://schemas.microsoft.com/office/drawing/2014/main" id="{58F86123-92E8-46F1-A2FA-82513D3203D6}"/>
              </a:ext>
            </a:extLst>
          </p:cNvPr>
          <p:cNvSpPr>
            <a:spLocks noGrp="1"/>
          </p:cNvSpPr>
          <p:nvPr/>
        </p:nvSpPr>
        <p:spPr>
          <a:xfrm>
            <a:off x="6705600" y="2590800"/>
            <a:ext cx="4895850" cy="419100"/>
          </a:xfrm>
          <a:prstGeom prst="rect">
            <a:avLst/>
          </a:prstGeom>
        </p:spPr>
        <p:txBody>
          <a:bodyPr lIns="0" tIns="0" rIns="0" bIns="0"/>
          <a:lstStyle/>
          <a:p>
            <a:pPr>
              <a:defRPr sz="2700" b="1">
                <a:solidFill>
                  <a:srgbClr val="17202A"/>
                </a:solidFill>
              </a:defRPr>
            </a:pPr>
            <a:r>
              <a:rPr sz="2700" b="1">
                <a:solidFill>
                  <a:srgbClr val="17202A"/>
                </a:solidFill>
              </a:rPr>
              <a:t>250 dòng</a:t>
            </a:r>
          </a:p>
        </p:txBody>
      </p:sp>
      <p:sp>
        <p:nvSpPr>
          <p:cNvPr id="11" name="Rectangle 10">
            <a:extLst>
              <a:ext uri="{FF2B5EF4-FFF2-40B4-BE49-F238E27FC236}">
                <a16:creationId xmlns:a16="http://schemas.microsoft.com/office/drawing/2014/main" id="{9A2C0ED2-6435-46B7-851A-8888DDA47B7A}"/>
              </a:ext>
            </a:extLst>
          </p:cNvPr>
          <p:cNvSpPr>
            <a:spLocks noGrp="1"/>
          </p:cNvSpPr>
          <p:nvPr/>
        </p:nvSpPr>
        <p:spPr>
          <a:xfrm>
            <a:off x="6705600" y="3067050"/>
            <a:ext cx="4895850" cy="171450"/>
          </a:xfrm>
          <a:prstGeom prst="rect">
            <a:avLst/>
          </a:prstGeom>
        </p:spPr>
        <p:txBody>
          <a:bodyPr lIns="0" tIns="0" rIns="0" bIns="0"/>
          <a:lstStyle/>
          <a:p>
            <a:pPr>
              <a:defRPr sz="1050">
                <a:solidFill>
                  <a:srgbClr val="4B5563"/>
                </a:solidFill>
              </a:defRPr>
            </a:pPr>
            <a:r>
              <a:rPr sz="1050">
                <a:solidFill>
                  <a:srgbClr val="4B5563"/>
                </a:solidFill>
              </a:rPr>
              <a:t>Tập đánh giá đã được rà soát</a:t>
            </a:r>
          </a:p>
        </p:txBody>
      </p:sp>
      <p:sp>
        <p:nvSpPr>
          <p:cNvPr id="12" name="Rectangle: Rounded Corners 11">
            <a:extLst>
              <a:ext uri="{FF2B5EF4-FFF2-40B4-BE49-F238E27FC236}">
                <a16:creationId xmlns:a16="http://schemas.microsoft.com/office/drawing/2014/main" id="{E47F14CB-D86E-4826-B8E6-58CB385935CF}"/>
              </a:ext>
            </a:extLst>
          </p:cNvPr>
          <p:cNvSpPr>
            <a:spLocks noGrp="1"/>
          </p:cNvSpPr>
          <p:nvPr/>
        </p:nvSpPr>
        <p:spPr>
          <a:xfrm>
            <a:off x="12065000" y="2099310"/>
            <a:ext cx="5384800" cy="2286000"/>
          </a:xfrm>
          <a:prstGeom prst="roundRect">
            <a:avLst>
              <a:gd name="adj" fmla="val 5000"/>
            </a:avLst>
          </a:prstGeom>
          <a:solidFill>
            <a:srgbClr val="F7E7D5"/>
          </a:solidFill>
        </p:spPr>
        <p:txBody>
          <a:bodyPr/>
          <a:lstStyle/>
          <a:p>
            <a:endParaRPr lang="en-US"/>
          </a:p>
        </p:txBody>
      </p:sp>
      <p:sp>
        <p:nvSpPr>
          <p:cNvPr id="13" name="Rectangle 12">
            <a:extLst>
              <a:ext uri="{FF2B5EF4-FFF2-40B4-BE49-F238E27FC236}">
                <a16:creationId xmlns:a16="http://schemas.microsoft.com/office/drawing/2014/main" id="{DF229D6A-C691-4FF7-8948-F7C3A6C31E15}"/>
              </a:ext>
            </a:extLst>
          </p:cNvPr>
          <p:cNvSpPr>
            <a:spLocks noGrp="1"/>
          </p:cNvSpPr>
          <p:nvPr/>
        </p:nvSpPr>
        <p:spPr>
          <a:xfrm>
            <a:off x="12306300" y="2324100"/>
            <a:ext cx="4895850" cy="209550"/>
          </a:xfrm>
          <a:prstGeom prst="rect">
            <a:avLst/>
          </a:prstGeom>
        </p:spPr>
        <p:txBody>
          <a:bodyPr lIns="0" tIns="0" rIns="0" bIns="0"/>
          <a:lstStyle/>
          <a:p>
            <a:pPr>
              <a:defRPr sz="1350" b="1">
                <a:solidFill>
                  <a:srgbClr val="A65B18"/>
                </a:solidFill>
              </a:defRPr>
            </a:pPr>
            <a:r>
              <a:rPr sz="1350" b="1">
                <a:solidFill>
                  <a:srgbClr val="A65B18"/>
                </a:solidFill>
              </a:rPr>
              <a:t>Tổng ABSA</a:t>
            </a:r>
          </a:p>
        </p:txBody>
      </p:sp>
      <p:sp>
        <p:nvSpPr>
          <p:cNvPr id="14" name="Rectangle 13">
            <a:extLst>
              <a:ext uri="{FF2B5EF4-FFF2-40B4-BE49-F238E27FC236}">
                <a16:creationId xmlns:a16="http://schemas.microsoft.com/office/drawing/2014/main" id="{12271A12-F9B8-44DA-9ECB-DFFBD55B1DD8}"/>
              </a:ext>
            </a:extLst>
          </p:cNvPr>
          <p:cNvSpPr>
            <a:spLocks noGrp="1"/>
          </p:cNvSpPr>
          <p:nvPr/>
        </p:nvSpPr>
        <p:spPr>
          <a:xfrm>
            <a:off x="12306300" y="2590800"/>
            <a:ext cx="4895850" cy="419100"/>
          </a:xfrm>
          <a:prstGeom prst="rect">
            <a:avLst/>
          </a:prstGeom>
        </p:spPr>
        <p:txBody>
          <a:bodyPr lIns="0" tIns="0" rIns="0" bIns="0"/>
          <a:lstStyle/>
          <a:p>
            <a:pPr>
              <a:defRPr sz="2700" b="1">
                <a:solidFill>
                  <a:srgbClr val="17202A"/>
                </a:solidFill>
              </a:defRPr>
            </a:pPr>
            <a:r>
              <a:rPr sz="2700" b="1">
                <a:solidFill>
                  <a:srgbClr val="17202A"/>
                </a:solidFill>
              </a:rPr>
              <a:t>1029 dòng</a:t>
            </a:r>
          </a:p>
        </p:txBody>
      </p:sp>
      <p:sp>
        <p:nvSpPr>
          <p:cNvPr id="15" name="Rectangle 14">
            <a:extLst>
              <a:ext uri="{FF2B5EF4-FFF2-40B4-BE49-F238E27FC236}">
                <a16:creationId xmlns:a16="http://schemas.microsoft.com/office/drawing/2014/main" id="{71B12541-25DF-4D14-8A57-07D428923C66}"/>
              </a:ext>
            </a:extLst>
          </p:cNvPr>
          <p:cNvSpPr>
            <a:spLocks noGrp="1"/>
          </p:cNvSpPr>
          <p:nvPr/>
        </p:nvSpPr>
        <p:spPr>
          <a:xfrm>
            <a:off x="12306300" y="3067050"/>
            <a:ext cx="4895850" cy="171450"/>
          </a:xfrm>
          <a:prstGeom prst="rect">
            <a:avLst/>
          </a:prstGeom>
        </p:spPr>
        <p:txBody>
          <a:bodyPr lIns="0" tIns="0" rIns="0" bIns="0"/>
          <a:lstStyle/>
          <a:p>
            <a:pPr>
              <a:defRPr sz="1050">
                <a:solidFill>
                  <a:srgbClr val="4B5563"/>
                </a:solidFill>
              </a:defRPr>
            </a:pPr>
            <a:r>
              <a:rPr sz="1050">
                <a:solidFill>
                  <a:srgbClr val="4B5563"/>
                </a:solidFill>
              </a:rPr>
              <a:t>Tập nhãn aspect dùng cho workflow hiện tại</a:t>
            </a:r>
          </a:p>
        </p:txBody>
      </p:sp>
      <p:sp>
        <p:nvSpPr>
          <p:cNvPr id="16" name="Rectangle: Rounded Corners 15">
            <a:extLst>
              <a:ext uri="{FF2B5EF4-FFF2-40B4-BE49-F238E27FC236}">
                <a16:creationId xmlns:a16="http://schemas.microsoft.com/office/drawing/2014/main" id="{1F66194F-030B-4D23-BF32-3A0C98E096E2}"/>
              </a:ext>
            </a:extLst>
          </p:cNvPr>
          <p:cNvSpPr>
            <a:spLocks noGrp="1"/>
          </p:cNvSpPr>
          <p:nvPr/>
        </p:nvSpPr>
        <p:spPr>
          <a:xfrm>
            <a:off x="838200" y="4690110"/>
            <a:ext cx="8191500" cy="4930140"/>
          </a:xfrm>
          <a:prstGeom prst="roundRect">
            <a:avLst>
              <a:gd name="adj" fmla="val 2318"/>
            </a:avLst>
          </a:prstGeom>
          <a:solidFill>
            <a:srgbClr val="FFFFFF"/>
          </a:solidFill>
        </p:spPr>
        <p:txBody>
          <a:bodyPr/>
          <a:lstStyle/>
          <a:p>
            <a:endParaRPr lang="en-US"/>
          </a:p>
        </p:txBody>
      </p:sp>
      <p:sp>
        <p:nvSpPr>
          <p:cNvPr id="17" name="Rectangle 16">
            <a:extLst>
              <a:ext uri="{FF2B5EF4-FFF2-40B4-BE49-F238E27FC236}">
                <a16:creationId xmlns:a16="http://schemas.microsoft.com/office/drawing/2014/main" id="{21D483CD-5088-4BF7-80D5-185655444B31}"/>
              </a:ext>
            </a:extLst>
          </p:cNvPr>
          <p:cNvSpPr>
            <a:spLocks noGrp="1"/>
          </p:cNvSpPr>
          <p:nvPr/>
        </p:nvSpPr>
        <p:spPr>
          <a:xfrm>
            <a:off x="1085850" y="4914900"/>
            <a:ext cx="7696200" cy="323850"/>
          </a:xfrm>
          <a:prstGeom prst="rect">
            <a:avLst/>
          </a:prstGeom>
        </p:spPr>
        <p:txBody>
          <a:bodyPr lIns="0" tIns="0" rIns="0" bIns="0"/>
          <a:lstStyle/>
          <a:p>
            <a:pPr>
              <a:defRPr sz="2100" b="1">
                <a:solidFill>
                  <a:srgbClr val="0E8C61"/>
                </a:solidFill>
              </a:defRPr>
            </a:pPr>
            <a:r>
              <a:rPr sz="2100" b="1">
                <a:solidFill>
                  <a:srgbClr val="0E8C61"/>
                </a:solidFill>
              </a:rPr>
              <a:t>Workflow</a:t>
            </a:r>
          </a:p>
        </p:txBody>
      </p:sp>
      <p:sp>
        <p:nvSpPr>
          <p:cNvPr id="18" name="Rectangle 17">
            <a:extLst>
              <a:ext uri="{FF2B5EF4-FFF2-40B4-BE49-F238E27FC236}">
                <a16:creationId xmlns:a16="http://schemas.microsoft.com/office/drawing/2014/main" id="{B11E760E-F5CB-4587-85D3-975D8FBBAFE7}"/>
              </a:ext>
            </a:extLst>
          </p:cNvPr>
          <p:cNvSpPr>
            <a:spLocks noGrp="1"/>
          </p:cNvSpPr>
          <p:nvPr/>
        </p:nvSpPr>
        <p:spPr>
          <a:xfrm>
            <a:off x="1085850" y="5391150"/>
            <a:ext cx="7696200" cy="285750"/>
          </a:xfrm>
          <a:prstGeom prst="rect">
            <a:avLst/>
          </a:prstGeom>
        </p:spPr>
        <p:txBody>
          <a:bodyPr lIns="0" tIns="0" rIns="0" bIns="0"/>
          <a:lstStyle/>
          <a:p>
            <a:pPr>
              <a:defRPr sz="1800">
                <a:solidFill>
                  <a:srgbClr val="17202A"/>
                </a:solidFill>
              </a:defRPr>
            </a:pPr>
            <a:r>
              <a:rPr sz="1800">
                <a:solidFill>
                  <a:srgbClr val="17202A"/>
                </a:solidFill>
              </a:rPr>
              <a:t>• Gold eval review queue đã được rà hết 250 dòng</a:t>
            </a:r>
          </a:p>
        </p:txBody>
      </p:sp>
      <p:sp>
        <p:nvSpPr>
          <p:cNvPr id="19" name="Rectangle 18">
            <a:extLst>
              <a:ext uri="{FF2B5EF4-FFF2-40B4-BE49-F238E27FC236}">
                <a16:creationId xmlns:a16="http://schemas.microsoft.com/office/drawing/2014/main" id="{DB90B81A-A878-49D4-8F66-10AE111E76DB}"/>
              </a:ext>
            </a:extLst>
          </p:cNvPr>
          <p:cNvSpPr>
            <a:spLocks noGrp="1"/>
          </p:cNvSpPr>
          <p:nvPr/>
        </p:nvSpPr>
        <p:spPr>
          <a:xfrm>
            <a:off x="1085850" y="5772150"/>
            <a:ext cx="7696200" cy="285750"/>
          </a:xfrm>
          <a:prstGeom prst="rect">
            <a:avLst/>
          </a:prstGeom>
        </p:spPr>
        <p:txBody>
          <a:bodyPr lIns="0" tIns="0" rIns="0" bIns="0"/>
          <a:lstStyle/>
          <a:p>
            <a:pPr>
              <a:defRPr sz="1800">
                <a:solidFill>
                  <a:srgbClr val="17202A"/>
                </a:solidFill>
              </a:defRPr>
            </a:pPr>
            <a:r>
              <a:rPr sz="1800">
                <a:solidFill>
                  <a:srgbClr val="17202A"/>
                </a:solidFill>
              </a:rPr>
              <a:t>• Train trên working_train.csv</a:t>
            </a:r>
          </a:p>
        </p:txBody>
      </p:sp>
      <p:sp>
        <p:nvSpPr>
          <p:cNvPr id="20" name="Rectangle 19">
            <a:extLst>
              <a:ext uri="{FF2B5EF4-FFF2-40B4-BE49-F238E27FC236}">
                <a16:creationId xmlns:a16="http://schemas.microsoft.com/office/drawing/2014/main" id="{42D9246A-4647-416E-BC3A-357D328EDDCE}"/>
              </a:ext>
            </a:extLst>
          </p:cNvPr>
          <p:cNvSpPr>
            <a:spLocks noGrp="1"/>
          </p:cNvSpPr>
          <p:nvPr/>
        </p:nvSpPr>
        <p:spPr>
          <a:xfrm>
            <a:off x="1085850" y="6172200"/>
            <a:ext cx="7696200" cy="285750"/>
          </a:xfrm>
          <a:prstGeom prst="rect">
            <a:avLst/>
          </a:prstGeom>
        </p:spPr>
        <p:txBody>
          <a:bodyPr lIns="0" tIns="0" rIns="0" bIns="0"/>
          <a:lstStyle/>
          <a:p>
            <a:pPr>
              <a:defRPr sz="1800">
                <a:solidFill>
                  <a:srgbClr val="17202A"/>
                </a:solidFill>
              </a:defRPr>
            </a:pPr>
            <a:r>
              <a:rPr sz="1800">
                <a:solidFill>
                  <a:srgbClr val="17202A"/>
                </a:solidFill>
              </a:rPr>
              <a:t>• Evaluate trên absa_gold_eval.csv</a:t>
            </a:r>
          </a:p>
        </p:txBody>
      </p:sp>
      <p:sp>
        <p:nvSpPr>
          <p:cNvPr id="21" name="Rectangle 20">
            <a:extLst>
              <a:ext uri="{FF2B5EF4-FFF2-40B4-BE49-F238E27FC236}">
                <a16:creationId xmlns:a16="http://schemas.microsoft.com/office/drawing/2014/main" id="{7CD8999A-453E-4622-9674-C4484A0FF341}"/>
              </a:ext>
            </a:extLst>
          </p:cNvPr>
          <p:cNvSpPr>
            <a:spLocks noGrp="1"/>
          </p:cNvSpPr>
          <p:nvPr/>
        </p:nvSpPr>
        <p:spPr>
          <a:xfrm>
            <a:off x="1085850" y="6553200"/>
            <a:ext cx="7696200" cy="285750"/>
          </a:xfrm>
          <a:prstGeom prst="rect">
            <a:avLst/>
          </a:prstGeom>
        </p:spPr>
        <p:txBody>
          <a:bodyPr lIns="0" tIns="0" rIns="0" bIns="0"/>
          <a:lstStyle/>
          <a:p>
            <a:pPr>
              <a:defRPr sz="1800">
                <a:solidFill>
                  <a:srgbClr val="17202A"/>
                </a:solidFill>
              </a:defRPr>
            </a:pPr>
            <a:r>
              <a:rPr sz="1800">
                <a:solidFill>
                  <a:srgbClr val="17202A"/>
                </a:solidFill>
              </a:rPr>
              <a:t>• Không dùng random split trên cả tập 1029 dòng nữa</a:t>
            </a:r>
          </a:p>
        </p:txBody>
      </p:sp>
      <p:sp>
        <p:nvSpPr>
          <p:cNvPr id="22" name="Rectangle: Rounded Corners 21">
            <a:extLst>
              <a:ext uri="{FF2B5EF4-FFF2-40B4-BE49-F238E27FC236}">
                <a16:creationId xmlns:a16="http://schemas.microsoft.com/office/drawing/2014/main" id="{4E6F0755-EF8D-46E4-9CCB-9D78E7B965B7}"/>
              </a:ext>
            </a:extLst>
          </p:cNvPr>
          <p:cNvSpPr>
            <a:spLocks noGrp="1"/>
          </p:cNvSpPr>
          <p:nvPr/>
        </p:nvSpPr>
        <p:spPr>
          <a:xfrm>
            <a:off x="9258300" y="4690110"/>
            <a:ext cx="8191500" cy="4930140"/>
          </a:xfrm>
          <a:prstGeom prst="roundRect">
            <a:avLst>
              <a:gd name="adj" fmla="val 2318"/>
            </a:avLst>
          </a:prstGeom>
          <a:solidFill>
            <a:srgbClr val="FFFFFF"/>
          </a:solidFill>
        </p:spPr>
        <p:txBody>
          <a:bodyPr/>
          <a:lstStyle/>
          <a:p>
            <a:endParaRPr lang="en-US"/>
          </a:p>
        </p:txBody>
      </p:sp>
      <p:sp>
        <p:nvSpPr>
          <p:cNvPr id="23" name="Rectangle 22">
            <a:extLst>
              <a:ext uri="{FF2B5EF4-FFF2-40B4-BE49-F238E27FC236}">
                <a16:creationId xmlns:a16="http://schemas.microsoft.com/office/drawing/2014/main" id="{180B5271-F213-4B9A-8F56-1CD437673C53}"/>
              </a:ext>
            </a:extLst>
          </p:cNvPr>
          <p:cNvSpPr>
            <a:spLocks noGrp="1"/>
          </p:cNvSpPr>
          <p:nvPr/>
        </p:nvSpPr>
        <p:spPr>
          <a:xfrm>
            <a:off x="9505950" y="4914900"/>
            <a:ext cx="7696200" cy="323850"/>
          </a:xfrm>
          <a:prstGeom prst="rect">
            <a:avLst/>
          </a:prstGeom>
        </p:spPr>
        <p:txBody>
          <a:bodyPr lIns="0" tIns="0" rIns="0" bIns="0"/>
          <a:lstStyle/>
          <a:p>
            <a:pPr>
              <a:defRPr sz="2100" b="1">
                <a:solidFill>
                  <a:srgbClr val="B42318"/>
                </a:solidFill>
              </a:defRPr>
            </a:pPr>
            <a:r>
              <a:rPr sz="2100" b="1">
                <a:solidFill>
                  <a:srgbClr val="B42318"/>
                </a:solidFill>
              </a:rPr>
              <a:t>Ý nghĩa học thuật</a:t>
            </a:r>
          </a:p>
        </p:txBody>
      </p:sp>
      <p:sp>
        <p:nvSpPr>
          <p:cNvPr id="24" name="Rectangle 23">
            <a:extLst>
              <a:ext uri="{FF2B5EF4-FFF2-40B4-BE49-F238E27FC236}">
                <a16:creationId xmlns:a16="http://schemas.microsoft.com/office/drawing/2014/main" id="{B4635F77-E2B3-4B44-AD94-646B2A61D3CA}"/>
              </a:ext>
            </a:extLst>
          </p:cNvPr>
          <p:cNvSpPr>
            <a:spLocks noGrp="1"/>
          </p:cNvSpPr>
          <p:nvPr/>
        </p:nvSpPr>
        <p:spPr>
          <a:xfrm>
            <a:off x="9505950" y="5391150"/>
            <a:ext cx="7696200" cy="285750"/>
          </a:xfrm>
          <a:prstGeom prst="rect">
            <a:avLst/>
          </a:prstGeom>
        </p:spPr>
        <p:txBody>
          <a:bodyPr lIns="0" tIns="0" rIns="0" bIns="0"/>
          <a:lstStyle/>
          <a:p>
            <a:pPr>
              <a:defRPr sz="1800">
                <a:solidFill>
                  <a:srgbClr val="17202A"/>
                </a:solidFill>
              </a:defRPr>
            </a:pPr>
            <a:r>
              <a:rPr sz="1800">
                <a:solidFill>
                  <a:srgbClr val="17202A"/>
                </a:solidFill>
              </a:rPr>
              <a:t>• Đánh giá hiện tại khó hơn và thực hơn</a:t>
            </a:r>
          </a:p>
        </p:txBody>
      </p:sp>
      <p:sp>
        <p:nvSpPr>
          <p:cNvPr id="25" name="Rectangle 24">
            <a:extLst>
              <a:ext uri="{FF2B5EF4-FFF2-40B4-BE49-F238E27FC236}">
                <a16:creationId xmlns:a16="http://schemas.microsoft.com/office/drawing/2014/main" id="{B7759665-2D2A-473D-B366-E04513409859}"/>
              </a:ext>
            </a:extLst>
          </p:cNvPr>
          <p:cNvSpPr>
            <a:spLocks noGrp="1"/>
          </p:cNvSpPr>
          <p:nvPr/>
        </p:nvSpPr>
        <p:spPr>
          <a:xfrm>
            <a:off x="9505950" y="5772150"/>
            <a:ext cx="7696200" cy="285750"/>
          </a:xfrm>
          <a:prstGeom prst="rect">
            <a:avLst/>
          </a:prstGeom>
        </p:spPr>
        <p:txBody>
          <a:bodyPr lIns="0" tIns="0" rIns="0" bIns="0"/>
          <a:lstStyle/>
          <a:p>
            <a:pPr>
              <a:defRPr sz="1800">
                <a:solidFill>
                  <a:srgbClr val="17202A"/>
                </a:solidFill>
              </a:defRPr>
            </a:pPr>
            <a:r>
              <a:rPr sz="1800">
                <a:solidFill>
                  <a:srgbClr val="17202A"/>
                </a:solidFill>
              </a:rPr>
              <a:t>• Cho phép so sánh mô hình công bằng hơn</a:t>
            </a:r>
          </a:p>
        </p:txBody>
      </p:sp>
      <p:sp>
        <p:nvSpPr>
          <p:cNvPr id="26" name="Rectangle 25">
            <a:extLst>
              <a:ext uri="{FF2B5EF4-FFF2-40B4-BE49-F238E27FC236}">
                <a16:creationId xmlns:a16="http://schemas.microsoft.com/office/drawing/2014/main" id="{FBA0BB07-BDE1-4AF9-835F-F64B3868ACC9}"/>
              </a:ext>
            </a:extLst>
          </p:cNvPr>
          <p:cNvSpPr>
            <a:spLocks noGrp="1"/>
          </p:cNvSpPr>
          <p:nvPr/>
        </p:nvSpPr>
        <p:spPr>
          <a:xfrm>
            <a:off x="9505950" y="6172200"/>
            <a:ext cx="7696200" cy="285750"/>
          </a:xfrm>
          <a:prstGeom prst="rect">
            <a:avLst/>
          </a:prstGeom>
        </p:spPr>
        <p:txBody>
          <a:bodyPr lIns="0" tIns="0" rIns="0" bIns="0"/>
          <a:lstStyle/>
          <a:p>
            <a:pPr>
              <a:defRPr sz="1800">
                <a:solidFill>
                  <a:srgbClr val="17202A"/>
                </a:solidFill>
              </a:defRPr>
            </a:pPr>
            <a:r>
              <a:rPr sz="1800">
                <a:solidFill>
                  <a:srgbClr val="17202A"/>
                </a:solidFill>
              </a:rPr>
              <a:t>• Xác định rõ các aspect yếu: product, service, app</a:t>
            </a:r>
          </a:p>
        </p:txBody>
      </p:sp>
    </p:spTree>
    <p:extLst>
      <p:ext uri="{BB962C8B-B14F-4D97-AF65-F5344CB8AC3E}">
        <p14:creationId xmlns:p14="http://schemas.microsoft.com/office/powerpoint/2010/main" val="921975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D779524-CE54-46BC-884F-60A2DA47E13B}"/>
              </a:ext>
            </a:extLst>
          </p:cNvPr>
          <p:cNvSpPr>
            <a:spLocks noGrp="1"/>
          </p:cNvSpPr>
          <p:nvPr/>
        </p:nvSpPr>
        <p:spPr>
          <a:xfrm>
            <a:off x="838200" y="666750"/>
            <a:ext cx="16611600" cy="552450"/>
          </a:xfrm>
          <a:prstGeom prst="rect">
            <a:avLst/>
          </a:prstGeom>
        </p:spPr>
        <p:txBody>
          <a:bodyPr lIns="0" tIns="0" rIns="0" bIns="0"/>
          <a:lstStyle/>
          <a:p>
            <a:pPr>
              <a:defRPr sz="3600" b="1">
                <a:solidFill>
                  <a:srgbClr val="17202A"/>
                </a:solidFill>
              </a:defRPr>
            </a:pPr>
            <a:r>
              <a:rPr sz="3600" b="1">
                <a:solidFill>
                  <a:srgbClr val="17202A"/>
                </a:solidFill>
              </a:rPr>
              <a:t>Kết quả baseline hiện tại</a:t>
            </a:r>
          </a:p>
        </p:txBody>
      </p:sp>
      <p:sp>
        <p:nvSpPr>
          <p:cNvPr id="2" name="Rectangle 1">
            <a:extLst>
              <a:ext uri="{FF2B5EF4-FFF2-40B4-BE49-F238E27FC236}">
                <a16:creationId xmlns:a16="http://schemas.microsoft.com/office/drawing/2014/main" id="{C978BCAF-9550-44CD-A85C-276B23F7BA85}"/>
              </a:ext>
            </a:extLst>
          </p:cNvPr>
          <p:cNvSpPr>
            <a:spLocks noGrp="1"/>
          </p:cNvSpPr>
          <p:nvPr/>
        </p:nvSpPr>
        <p:spPr>
          <a:xfrm>
            <a:off x="838200" y="1352550"/>
            <a:ext cx="2095500" cy="38100"/>
          </a:xfrm>
          <a:prstGeom prst="rect">
            <a:avLst/>
          </a:prstGeom>
          <a:solidFill>
            <a:srgbClr val="0E8C61"/>
          </a:solidFill>
          <a:ln w="0">
            <a:solidFill>
              <a:srgbClr val="0E8C61"/>
            </a:solidFill>
            <a:prstDash val="solid"/>
          </a:ln>
        </p:spPr>
        <p:txBody>
          <a:bodyPr/>
          <a:lstStyle/>
          <a:p>
            <a:endParaRPr lang="en-US"/>
          </a:p>
        </p:txBody>
      </p:sp>
      <p:sp>
        <p:nvSpPr>
          <p:cNvPr id="3" name="Rectangle 2">
            <a:extLst>
              <a:ext uri="{FF2B5EF4-FFF2-40B4-BE49-F238E27FC236}">
                <a16:creationId xmlns:a16="http://schemas.microsoft.com/office/drawing/2014/main" id="{EDD8DD97-8C20-4BFE-A1AB-8427BDF5165C}"/>
              </a:ext>
            </a:extLst>
          </p:cNvPr>
          <p:cNvSpPr>
            <a:spLocks noGrp="1"/>
          </p:cNvSpPr>
          <p:nvPr/>
        </p:nvSpPr>
        <p:spPr>
          <a:xfrm>
            <a:off x="838200" y="1524000"/>
            <a:ext cx="4514850" cy="285750"/>
          </a:xfrm>
          <a:prstGeom prst="rect">
            <a:avLst/>
          </a:prstGeom>
        </p:spPr>
        <p:txBody>
          <a:bodyPr lIns="0" tIns="0" rIns="0" bIns="0"/>
          <a:lstStyle/>
          <a:p>
            <a:pPr>
              <a:defRPr sz="1800">
                <a:solidFill>
                  <a:srgbClr val="4B5563"/>
                </a:solidFill>
              </a:defRPr>
            </a:pPr>
            <a:r>
              <a:rPr sz="1800">
                <a:solidFill>
                  <a:srgbClr val="4B5563"/>
                </a:solidFill>
              </a:rPr>
              <a:t>Mốc thực nghiệm sau khi đánh giá trên gold eval</a:t>
            </a:r>
          </a:p>
        </p:txBody>
      </p:sp>
      <p:sp>
        <p:nvSpPr>
          <p:cNvPr id="4" name="Rectangle: Rounded Corners 3">
            <a:extLst>
              <a:ext uri="{FF2B5EF4-FFF2-40B4-BE49-F238E27FC236}">
                <a16:creationId xmlns:a16="http://schemas.microsoft.com/office/drawing/2014/main" id="{B2FA4A2B-CF0B-457F-BD8F-11AA63EC19BF}"/>
              </a:ext>
            </a:extLst>
          </p:cNvPr>
          <p:cNvSpPr>
            <a:spLocks noGrp="1"/>
          </p:cNvSpPr>
          <p:nvPr/>
        </p:nvSpPr>
        <p:spPr>
          <a:xfrm>
            <a:off x="838200" y="2023110"/>
            <a:ext cx="5397500" cy="1323975"/>
          </a:xfrm>
          <a:prstGeom prst="roundRect">
            <a:avLst>
              <a:gd name="adj" fmla="val 8633"/>
            </a:avLst>
          </a:prstGeom>
          <a:solidFill>
            <a:srgbClr val="DFEAF8"/>
          </a:solidFill>
        </p:spPr>
        <p:txBody>
          <a:bodyPr/>
          <a:lstStyle/>
          <a:p>
            <a:endParaRPr lang="en-US"/>
          </a:p>
        </p:txBody>
      </p:sp>
      <p:sp>
        <p:nvSpPr>
          <p:cNvPr id="5" name="Rectangle 4">
            <a:extLst>
              <a:ext uri="{FF2B5EF4-FFF2-40B4-BE49-F238E27FC236}">
                <a16:creationId xmlns:a16="http://schemas.microsoft.com/office/drawing/2014/main" id="{B0371414-1DD2-4485-8269-D3A82406FBF1}"/>
              </a:ext>
            </a:extLst>
          </p:cNvPr>
          <p:cNvSpPr>
            <a:spLocks noGrp="1"/>
          </p:cNvSpPr>
          <p:nvPr/>
        </p:nvSpPr>
        <p:spPr>
          <a:xfrm>
            <a:off x="1085850" y="2247900"/>
            <a:ext cx="4895850" cy="209550"/>
          </a:xfrm>
          <a:prstGeom prst="rect">
            <a:avLst/>
          </a:prstGeom>
        </p:spPr>
        <p:txBody>
          <a:bodyPr lIns="0" tIns="0" rIns="0" bIns="0"/>
          <a:lstStyle/>
          <a:p>
            <a:pPr>
              <a:defRPr sz="1350" b="1">
                <a:solidFill>
                  <a:srgbClr val="1F5AA6"/>
                </a:solidFill>
              </a:defRPr>
            </a:pPr>
            <a:r>
              <a:rPr sz="1350" b="1" dirty="0">
                <a:solidFill>
                  <a:srgbClr val="1F5AA6"/>
                </a:solidFill>
              </a:rPr>
              <a:t>Sentiment SVM</a:t>
            </a:r>
          </a:p>
        </p:txBody>
      </p:sp>
      <p:sp>
        <p:nvSpPr>
          <p:cNvPr id="6" name="Rectangle 5">
            <a:extLst>
              <a:ext uri="{FF2B5EF4-FFF2-40B4-BE49-F238E27FC236}">
                <a16:creationId xmlns:a16="http://schemas.microsoft.com/office/drawing/2014/main" id="{C999509C-48A1-4262-A8C8-146F42DBAB7B}"/>
              </a:ext>
            </a:extLst>
          </p:cNvPr>
          <p:cNvSpPr>
            <a:spLocks noGrp="1"/>
          </p:cNvSpPr>
          <p:nvPr/>
        </p:nvSpPr>
        <p:spPr>
          <a:xfrm>
            <a:off x="1085850" y="2514600"/>
            <a:ext cx="4895850" cy="419100"/>
          </a:xfrm>
          <a:prstGeom prst="rect">
            <a:avLst/>
          </a:prstGeom>
        </p:spPr>
        <p:txBody>
          <a:bodyPr lIns="0" tIns="0" rIns="0" bIns="0"/>
          <a:lstStyle/>
          <a:p>
            <a:pPr>
              <a:defRPr sz="2700" b="1">
                <a:solidFill>
                  <a:srgbClr val="17202A"/>
                </a:solidFill>
              </a:defRPr>
            </a:pPr>
            <a:r>
              <a:rPr sz="2700" b="1" dirty="0">
                <a:solidFill>
                  <a:srgbClr val="17202A"/>
                </a:solidFill>
              </a:rPr>
              <a:t>Macro F1 0.6210</a:t>
            </a:r>
          </a:p>
        </p:txBody>
      </p:sp>
      <p:sp>
        <p:nvSpPr>
          <p:cNvPr id="7" name="Rectangle 6">
            <a:extLst>
              <a:ext uri="{FF2B5EF4-FFF2-40B4-BE49-F238E27FC236}">
                <a16:creationId xmlns:a16="http://schemas.microsoft.com/office/drawing/2014/main" id="{040BD26B-889A-4CA2-A929-A8C5BB89EBE1}"/>
              </a:ext>
            </a:extLst>
          </p:cNvPr>
          <p:cNvSpPr>
            <a:spLocks noGrp="1"/>
          </p:cNvSpPr>
          <p:nvPr/>
        </p:nvSpPr>
        <p:spPr>
          <a:xfrm>
            <a:off x="1085850" y="2990850"/>
            <a:ext cx="4895850" cy="171450"/>
          </a:xfrm>
          <a:prstGeom prst="rect">
            <a:avLst/>
          </a:prstGeom>
        </p:spPr>
        <p:txBody>
          <a:bodyPr lIns="0" tIns="0" rIns="0" bIns="0"/>
          <a:lstStyle/>
          <a:p>
            <a:pPr>
              <a:defRPr sz="1050">
                <a:solidFill>
                  <a:srgbClr val="4B5563"/>
                </a:solidFill>
              </a:defRPr>
            </a:pPr>
            <a:r>
              <a:rPr sz="1050" dirty="0">
                <a:solidFill>
                  <a:srgbClr val="4B5563"/>
                </a:solidFill>
              </a:rPr>
              <a:t>Baseline sentiment </a:t>
            </a:r>
            <a:r>
              <a:rPr sz="1050" dirty="0" err="1">
                <a:solidFill>
                  <a:srgbClr val="4B5563"/>
                </a:solidFill>
              </a:rPr>
              <a:t>tốt</a:t>
            </a:r>
            <a:r>
              <a:rPr sz="1050" dirty="0">
                <a:solidFill>
                  <a:srgbClr val="4B5563"/>
                </a:solidFill>
              </a:rPr>
              <a:t> </a:t>
            </a:r>
            <a:r>
              <a:rPr sz="1050" dirty="0" err="1">
                <a:solidFill>
                  <a:srgbClr val="4B5563"/>
                </a:solidFill>
              </a:rPr>
              <a:t>nhất</a:t>
            </a:r>
            <a:r>
              <a:rPr sz="1050" dirty="0">
                <a:solidFill>
                  <a:srgbClr val="4B5563"/>
                </a:solidFill>
              </a:rPr>
              <a:t> </a:t>
            </a:r>
            <a:r>
              <a:rPr sz="1050" dirty="0" err="1">
                <a:solidFill>
                  <a:srgbClr val="4B5563"/>
                </a:solidFill>
              </a:rPr>
              <a:t>hiện</a:t>
            </a:r>
            <a:r>
              <a:rPr sz="1050" dirty="0">
                <a:solidFill>
                  <a:srgbClr val="4B5563"/>
                </a:solidFill>
              </a:rPr>
              <a:t> </a:t>
            </a:r>
            <a:r>
              <a:rPr sz="1050" dirty="0" err="1">
                <a:solidFill>
                  <a:srgbClr val="4B5563"/>
                </a:solidFill>
              </a:rPr>
              <a:t>tại</a:t>
            </a:r>
            <a:endParaRPr sz="1050" dirty="0">
              <a:solidFill>
                <a:srgbClr val="4B5563"/>
              </a:solidFill>
            </a:endParaRPr>
          </a:p>
        </p:txBody>
      </p:sp>
      <p:sp>
        <p:nvSpPr>
          <p:cNvPr id="8" name="Rectangle: Rounded Corners 7">
            <a:extLst>
              <a:ext uri="{FF2B5EF4-FFF2-40B4-BE49-F238E27FC236}">
                <a16:creationId xmlns:a16="http://schemas.microsoft.com/office/drawing/2014/main" id="{FBA925C9-8809-498E-B0DE-B5DCDE9ED5C3}"/>
              </a:ext>
            </a:extLst>
          </p:cNvPr>
          <p:cNvSpPr>
            <a:spLocks noGrp="1"/>
          </p:cNvSpPr>
          <p:nvPr/>
        </p:nvSpPr>
        <p:spPr>
          <a:xfrm>
            <a:off x="6445250" y="2023110"/>
            <a:ext cx="5397500" cy="1323975"/>
          </a:xfrm>
          <a:prstGeom prst="roundRect">
            <a:avLst>
              <a:gd name="adj" fmla="val 8633"/>
            </a:avLst>
          </a:prstGeom>
          <a:solidFill>
            <a:srgbClr val="DCEFE7"/>
          </a:solidFill>
        </p:spPr>
        <p:txBody>
          <a:bodyPr/>
          <a:lstStyle/>
          <a:p>
            <a:endParaRPr lang="en-US"/>
          </a:p>
        </p:txBody>
      </p:sp>
      <p:sp>
        <p:nvSpPr>
          <p:cNvPr id="9" name="Rectangle 8">
            <a:extLst>
              <a:ext uri="{FF2B5EF4-FFF2-40B4-BE49-F238E27FC236}">
                <a16:creationId xmlns:a16="http://schemas.microsoft.com/office/drawing/2014/main" id="{873D9CF0-8F59-4B48-BE21-8639DAABA489}"/>
              </a:ext>
            </a:extLst>
          </p:cNvPr>
          <p:cNvSpPr>
            <a:spLocks noGrp="1"/>
          </p:cNvSpPr>
          <p:nvPr/>
        </p:nvSpPr>
        <p:spPr>
          <a:xfrm>
            <a:off x="6686550" y="2247900"/>
            <a:ext cx="4895850" cy="209550"/>
          </a:xfrm>
          <a:prstGeom prst="rect">
            <a:avLst/>
          </a:prstGeom>
        </p:spPr>
        <p:txBody>
          <a:bodyPr lIns="0" tIns="0" rIns="0" bIns="0"/>
          <a:lstStyle/>
          <a:p>
            <a:pPr>
              <a:defRPr sz="1350" b="1">
                <a:solidFill>
                  <a:srgbClr val="0E8C61"/>
                </a:solidFill>
              </a:defRPr>
            </a:pPr>
            <a:r>
              <a:rPr sz="1350" b="1">
                <a:solidFill>
                  <a:srgbClr val="0E8C61"/>
                </a:solidFill>
              </a:rPr>
              <a:t>ABSA Baseline</a:t>
            </a:r>
          </a:p>
        </p:txBody>
      </p:sp>
      <p:sp>
        <p:nvSpPr>
          <p:cNvPr id="10" name="Rectangle 9">
            <a:extLst>
              <a:ext uri="{FF2B5EF4-FFF2-40B4-BE49-F238E27FC236}">
                <a16:creationId xmlns:a16="http://schemas.microsoft.com/office/drawing/2014/main" id="{D5503116-8D2E-4BB7-A1A0-F4242D4569F4}"/>
              </a:ext>
            </a:extLst>
          </p:cNvPr>
          <p:cNvSpPr>
            <a:spLocks noGrp="1"/>
          </p:cNvSpPr>
          <p:nvPr/>
        </p:nvSpPr>
        <p:spPr>
          <a:xfrm>
            <a:off x="6686550" y="2514600"/>
            <a:ext cx="4895850" cy="419100"/>
          </a:xfrm>
          <a:prstGeom prst="rect">
            <a:avLst/>
          </a:prstGeom>
        </p:spPr>
        <p:txBody>
          <a:bodyPr lIns="0" tIns="0" rIns="0" bIns="0"/>
          <a:lstStyle/>
          <a:p>
            <a:pPr>
              <a:defRPr sz="2700" b="1">
                <a:solidFill>
                  <a:srgbClr val="17202A"/>
                </a:solidFill>
              </a:defRPr>
            </a:pPr>
            <a:r>
              <a:rPr sz="2700" b="1" dirty="0">
                <a:solidFill>
                  <a:srgbClr val="17202A"/>
                </a:solidFill>
              </a:rPr>
              <a:t>Micro F1 0.6238</a:t>
            </a:r>
          </a:p>
        </p:txBody>
      </p:sp>
      <p:sp>
        <p:nvSpPr>
          <p:cNvPr id="11" name="Rectangle 10">
            <a:extLst>
              <a:ext uri="{FF2B5EF4-FFF2-40B4-BE49-F238E27FC236}">
                <a16:creationId xmlns:a16="http://schemas.microsoft.com/office/drawing/2014/main" id="{E5725694-BE5B-47F1-8946-C6BF1E0A21FC}"/>
              </a:ext>
            </a:extLst>
          </p:cNvPr>
          <p:cNvSpPr>
            <a:spLocks noGrp="1"/>
          </p:cNvSpPr>
          <p:nvPr/>
        </p:nvSpPr>
        <p:spPr>
          <a:xfrm>
            <a:off x="6686550" y="2990850"/>
            <a:ext cx="4895850" cy="171450"/>
          </a:xfrm>
          <a:prstGeom prst="rect">
            <a:avLst/>
          </a:prstGeom>
        </p:spPr>
        <p:txBody>
          <a:bodyPr lIns="0" tIns="0" rIns="0" bIns="0"/>
          <a:lstStyle/>
          <a:p>
            <a:pPr>
              <a:defRPr sz="1050">
                <a:solidFill>
                  <a:srgbClr val="4B5563"/>
                </a:solidFill>
              </a:defRPr>
            </a:pPr>
            <a:r>
              <a:rPr sz="1050">
                <a:solidFill>
                  <a:srgbClr val="4B5563"/>
                </a:solidFill>
              </a:rPr>
              <a:t>TF-IDF + SVM trên gold eval 250 dòng</a:t>
            </a:r>
          </a:p>
        </p:txBody>
      </p:sp>
      <p:sp>
        <p:nvSpPr>
          <p:cNvPr id="12" name="Rectangle: Rounded Corners 11">
            <a:extLst>
              <a:ext uri="{FF2B5EF4-FFF2-40B4-BE49-F238E27FC236}">
                <a16:creationId xmlns:a16="http://schemas.microsoft.com/office/drawing/2014/main" id="{D1282F93-6CA0-476A-B7EE-2CF313C5E749}"/>
              </a:ext>
            </a:extLst>
          </p:cNvPr>
          <p:cNvSpPr>
            <a:spLocks noGrp="1"/>
          </p:cNvSpPr>
          <p:nvPr/>
        </p:nvSpPr>
        <p:spPr>
          <a:xfrm>
            <a:off x="12052300" y="2023110"/>
            <a:ext cx="5397500" cy="1323975"/>
          </a:xfrm>
          <a:prstGeom prst="roundRect">
            <a:avLst>
              <a:gd name="adj" fmla="val 8633"/>
            </a:avLst>
          </a:prstGeom>
          <a:solidFill>
            <a:srgbClr val="F7E7D5"/>
          </a:solidFill>
        </p:spPr>
        <p:txBody>
          <a:bodyPr/>
          <a:lstStyle/>
          <a:p>
            <a:endParaRPr lang="en-US"/>
          </a:p>
        </p:txBody>
      </p:sp>
      <p:sp>
        <p:nvSpPr>
          <p:cNvPr id="13" name="Rectangle 12">
            <a:extLst>
              <a:ext uri="{FF2B5EF4-FFF2-40B4-BE49-F238E27FC236}">
                <a16:creationId xmlns:a16="http://schemas.microsoft.com/office/drawing/2014/main" id="{7F12FEB1-2C59-46AA-B72F-70B369B8E8E8}"/>
              </a:ext>
            </a:extLst>
          </p:cNvPr>
          <p:cNvSpPr>
            <a:spLocks noGrp="1"/>
          </p:cNvSpPr>
          <p:nvPr/>
        </p:nvSpPr>
        <p:spPr>
          <a:xfrm>
            <a:off x="12306300" y="2247900"/>
            <a:ext cx="4895850" cy="209550"/>
          </a:xfrm>
          <a:prstGeom prst="rect">
            <a:avLst/>
          </a:prstGeom>
        </p:spPr>
        <p:txBody>
          <a:bodyPr lIns="0" tIns="0" rIns="0" bIns="0"/>
          <a:lstStyle/>
          <a:p>
            <a:pPr>
              <a:defRPr sz="1350" b="1">
                <a:solidFill>
                  <a:srgbClr val="A65B18"/>
                </a:solidFill>
              </a:defRPr>
            </a:pPr>
            <a:r>
              <a:rPr sz="1350" b="1">
                <a:solidFill>
                  <a:srgbClr val="A65B18"/>
                </a:solidFill>
              </a:rPr>
              <a:t>ABSA Baseline</a:t>
            </a:r>
          </a:p>
        </p:txBody>
      </p:sp>
      <p:sp>
        <p:nvSpPr>
          <p:cNvPr id="14" name="Rectangle 13">
            <a:extLst>
              <a:ext uri="{FF2B5EF4-FFF2-40B4-BE49-F238E27FC236}">
                <a16:creationId xmlns:a16="http://schemas.microsoft.com/office/drawing/2014/main" id="{0FC11988-26A8-497B-95CA-BDCF0F085B60}"/>
              </a:ext>
            </a:extLst>
          </p:cNvPr>
          <p:cNvSpPr>
            <a:spLocks noGrp="1"/>
          </p:cNvSpPr>
          <p:nvPr/>
        </p:nvSpPr>
        <p:spPr>
          <a:xfrm>
            <a:off x="12306300" y="2514600"/>
            <a:ext cx="4895850" cy="419100"/>
          </a:xfrm>
          <a:prstGeom prst="rect">
            <a:avLst/>
          </a:prstGeom>
        </p:spPr>
        <p:txBody>
          <a:bodyPr lIns="0" tIns="0" rIns="0" bIns="0"/>
          <a:lstStyle/>
          <a:p>
            <a:pPr>
              <a:defRPr sz="2700" b="1">
                <a:solidFill>
                  <a:srgbClr val="17202A"/>
                </a:solidFill>
              </a:defRPr>
            </a:pPr>
            <a:r>
              <a:rPr sz="2700" b="1" dirty="0">
                <a:solidFill>
                  <a:srgbClr val="17202A"/>
                </a:solidFill>
              </a:rPr>
              <a:t>Macro F1 0.6279</a:t>
            </a:r>
          </a:p>
        </p:txBody>
      </p:sp>
      <p:sp>
        <p:nvSpPr>
          <p:cNvPr id="15" name="Rectangle 14">
            <a:extLst>
              <a:ext uri="{FF2B5EF4-FFF2-40B4-BE49-F238E27FC236}">
                <a16:creationId xmlns:a16="http://schemas.microsoft.com/office/drawing/2014/main" id="{62DC95BE-E926-4B38-8AE1-1E37405F13D0}"/>
              </a:ext>
            </a:extLst>
          </p:cNvPr>
          <p:cNvSpPr>
            <a:spLocks noGrp="1"/>
          </p:cNvSpPr>
          <p:nvPr/>
        </p:nvSpPr>
        <p:spPr>
          <a:xfrm>
            <a:off x="12306300" y="2990850"/>
            <a:ext cx="4895850" cy="171450"/>
          </a:xfrm>
          <a:prstGeom prst="rect">
            <a:avLst/>
          </a:prstGeom>
        </p:spPr>
        <p:txBody>
          <a:bodyPr lIns="0" tIns="0" rIns="0" bIns="0"/>
          <a:lstStyle/>
          <a:p>
            <a:pPr>
              <a:defRPr sz="1050">
                <a:solidFill>
                  <a:srgbClr val="4B5563"/>
                </a:solidFill>
              </a:defRPr>
            </a:pPr>
            <a:r>
              <a:rPr sz="1050">
                <a:solidFill>
                  <a:srgbClr val="4B5563"/>
                </a:solidFill>
              </a:rPr>
              <a:t>Mốc tham chiếu chính cho deep learning</a:t>
            </a:r>
          </a:p>
        </p:txBody>
      </p:sp>
      <p:sp>
        <p:nvSpPr>
          <p:cNvPr id="16" name="Rectangle: Rounded Corners 15">
            <a:extLst>
              <a:ext uri="{FF2B5EF4-FFF2-40B4-BE49-F238E27FC236}">
                <a16:creationId xmlns:a16="http://schemas.microsoft.com/office/drawing/2014/main" id="{F6A53D11-7298-4BF0-AC62-B95938618A58}"/>
              </a:ext>
            </a:extLst>
          </p:cNvPr>
          <p:cNvSpPr>
            <a:spLocks noGrp="1"/>
          </p:cNvSpPr>
          <p:nvPr/>
        </p:nvSpPr>
        <p:spPr>
          <a:xfrm>
            <a:off x="838200" y="3556635"/>
            <a:ext cx="5397500" cy="1323975"/>
          </a:xfrm>
          <a:prstGeom prst="roundRect">
            <a:avLst>
              <a:gd name="adj" fmla="val 8633"/>
            </a:avLst>
          </a:prstGeom>
          <a:solidFill>
            <a:srgbClr val="DCEFE7"/>
          </a:solidFill>
        </p:spPr>
        <p:txBody>
          <a:bodyPr/>
          <a:lstStyle/>
          <a:p>
            <a:endParaRPr lang="en-US"/>
          </a:p>
        </p:txBody>
      </p:sp>
      <p:sp>
        <p:nvSpPr>
          <p:cNvPr id="17" name="Rectangle 16">
            <a:extLst>
              <a:ext uri="{FF2B5EF4-FFF2-40B4-BE49-F238E27FC236}">
                <a16:creationId xmlns:a16="http://schemas.microsoft.com/office/drawing/2014/main" id="{45ABEC77-8F87-4836-A1A9-EC2A7A18685A}"/>
              </a:ext>
            </a:extLst>
          </p:cNvPr>
          <p:cNvSpPr>
            <a:spLocks noGrp="1"/>
          </p:cNvSpPr>
          <p:nvPr/>
        </p:nvSpPr>
        <p:spPr>
          <a:xfrm>
            <a:off x="1085850" y="3790950"/>
            <a:ext cx="4895850" cy="209550"/>
          </a:xfrm>
          <a:prstGeom prst="rect">
            <a:avLst/>
          </a:prstGeom>
        </p:spPr>
        <p:txBody>
          <a:bodyPr lIns="0" tIns="0" rIns="0" bIns="0"/>
          <a:lstStyle/>
          <a:p>
            <a:pPr>
              <a:defRPr sz="1350" b="1">
                <a:solidFill>
                  <a:srgbClr val="0E8C61"/>
                </a:solidFill>
              </a:defRPr>
            </a:pPr>
            <a:r>
              <a:rPr sz="1350" b="1">
                <a:solidFill>
                  <a:srgbClr val="0E8C61"/>
                </a:solidFill>
              </a:rPr>
              <a:t>Delivery</a:t>
            </a:r>
          </a:p>
        </p:txBody>
      </p:sp>
      <p:sp>
        <p:nvSpPr>
          <p:cNvPr id="18" name="Rectangle 17">
            <a:extLst>
              <a:ext uri="{FF2B5EF4-FFF2-40B4-BE49-F238E27FC236}">
                <a16:creationId xmlns:a16="http://schemas.microsoft.com/office/drawing/2014/main" id="{8A74EC8F-436B-4529-B449-6A772739C4B0}"/>
              </a:ext>
            </a:extLst>
          </p:cNvPr>
          <p:cNvSpPr>
            <a:spLocks noGrp="1"/>
          </p:cNvSpPr>
          <p:nvPr/>
        </p:nvSpPr>
        <p:spPr>
          <a:xfrm>
            <a:off x="1085850" y="4057650"/>
            <a:ext cx="4895850" cy="419100"/>
          </a:xfrm>
          <a:prstGeom prst="rect">
            <a:avLst/>
          </a:prstGeom>
        </p:spPr>
        <p:txBody>
          <a:bodyPr lIns="0" tIns="0" rIns="0" bIns="0"/>
          <a:lstStyle/>
          <a:p>
            <a:pPr>
              <a:defRPr sz="2700" b="1">
                <a:solidFill>
                  <a:srgbClr val="17202A"/>
                </a:solidFill>
              </a:defRPr>
            </a:pPr>
            <a:r>
              <a:rPr sz="2700" b="1">
                <a:solidFill>
                  <a:srgbClr val="17202A"/>
                </a:solidFill>
              </a:rPr>
              <a:t>F1 0.8063</a:t>
            </a:r>
          </a:p>
        </p:txBody>
      </p:sp>
      <p:sp>
        <p:nvSpPr>
          <p:cNvPr id="19" name="Rectangle 18">
            <a:extLst>
              <a:ext uri="{FF2B5EF4-FFF2-40B4-BE49-F238E27FC236}">
                <a16:creationId xmlns:a16="http://schemas.microsoft.com/office/drawing/2014/main" id="{312733FB-2C54-4D0A-B8B4-CE5F0A529F8B}"/>
              </a:ext>
            </a:extLst>
          </p:cNvPr>
          <p:cNvSpPr>
            <a:spLocks noGrp="1"/>
          </p:cNvSpPr>
          <p:nvPr/>
        </p:nvSpPr>
        <p:spPr>
          <a:xfrm>
            <a:off x="1085850" y="4514850"/>
            <a:ext cx="4895850" cy="171450"/>
          </a:xfrm>
          <a:prstGeom prst="rect">
            <a:avLst/>
          </a:prstGeom>
        </p:spPr>
        <p:txBody>
          <a:bodyPr lIns="0" tIns="0" rIns="0" bIns="0"/>
          <a:lstStyle/>
          <a:p>
            <a:pPr>
              <a:defRPr sz="1050">
                <a:solidFill>
                  <a:srgbClr val="4B5563"/>
                </a:solidFill>
              </a:defRPr>
            </a:pPr>
            <a:r>
              <a:rPr sz="1050">
                <a:solidFill>
                  <a:srgbClr val="4B5563"/>
                </a:solidFill>
              </a:rPr>
              <a:t>Aspect mạnh nhất hiện tại</a:t>
            </a:r>
          </a:p>
        </p:txBody>
      </p:sp>
      <p:sp>
        <p:nvSpPr>
          <p:cNvPr id="20" name="Rectangle: Rounded Corners 19">
            <a:extLst>
              <a:ext uri="{FF2B5EF4-FFF2-40B4-BE49-F238E27FC236}">
                <a16:creationId xmlns:a16="http://schemas.microsoft.com/office/drawing/2014/main" id="{714F5F31-42C2-4B73-BA8B-173BF76F01B3}"/>
              </a:ext>
            </a:extLst>
          </p:cNvPr>
          <p:cNvSpPr>
            <a:spLocks noGrp="1"/>
          </p:cNvSpPr>
          <p:nvPr/>
        </p:nvSpPr>
        <p:spPr>
          <a:xfrm>
            <a:off x="6445250" y="3556635"/>
            <a:ext cx="5397500" cy="1323975"/>
          </a:xfrm>
          <a:prstGeom prst="roundRect">
            <a:avLst>
              <a:gd name="adj" fmla="val 8633"/>
            </a:avLst>
          </a:prstGeom>
          <a:solidFill>
            <a:srgbClr val="DFEAF8"/>
          </a:solidFill>
        </p:spPr>
        <p:txBody>
          <a:bodyPr/>
          <a:lstStyle/>
          <a:p>
            <a:endParaRPr lang="en-US"/>
          </a:p>
        </p:txBody>
      </p:sp>
      <p:sp>
        <p:nvSpPr>
          <p:cNvPr id="21" name="Rectangle 20">
            <a:extLst>
              <a:ext uri="{FF2B5EF4-FFF2-40B4-BE49-F238E27FC236}">
                <a16:creationId xmlns:a16="http://schemas.microsoft.com/office/drawing/2014/main" id="{3F418F17-F413-466C-95A1-95BB072DEBF6}"/>
              </a:ext>
            </a:extLst>
          </p:cNvPr>
          <p:cNvSpPr>
            <a:spLocks noGrp="1"/>
          </p:cNvSpPr>
          <p:nvPr/>
        </p:nvSpPr>
        <p:spPr>
          <a:xfrm>
            <a:off x="6686550" y="3790950"/>
            <a:ext cx="4895850" cy="209550"/>
          </a:xfrm>
          <a:prstGeom prst="rect">
            <a:avLst/>
          </a:prstGeom>
        </p:spPr>
        <p:txBody>
          <a:bodyPr lIns="0" tIns="0" rIns="0" bIns="0"/>
          <a:lstStyle/>
          <a:p>
            <a:pPr>
              <a:defRPr sz="1350" b="1">
                <a:solidFill>
                  <a:srgbClr val="1F5AA6"/>
                </a:solidFill>
              </a:defRPr>
            </a:pPr>
            <a:r>
              <a:rPr sz="1350" b="1">
                <a:solidFill>
                  <a:srgbClr val="1F5AA6"/>
                </a:solidFill>
              </a:rPr>
              <a:t>Price</a:t>
            </a:r>
          </a:p>
        </p:txBody>
      </p:sp>
      <p:sp>
        <p:nvSpPr>
          <p:cNvPr id="22" name="Rectangle 21">
            <a:extLst>
              <a:ext uri="{FF2B5EF4-FFF2-40B4-BE49-F238E27FC236}">
                <a16:creationId xmlns:a16="http://schemas.microsoft.com/office/drawing/2014/main" id="{053D085F-1491-4B72-9F04-628B09309DE1}"/>
              </a:ext>
            </a:extLst>
          </p:cNvPr>
          <p:cNvSpPr>
            <a:spLocks noGrp="1"/>
          </p:cNvSpPr>
          <p:nvPr/>
        </p:nvSpPr>
        <p:spPr>
          <a:xfrm>
            <a:off x="6686550" y="4057650"/>
            <a:ext cx="4895850" cy="419100"/>
          </a:xfrm>
          <a:prstGeom prst="rect">
            <a:avLst/>
          </a:prstGeom>
        </p:spPr>
        <p:txBody>
          <a:bodyPr lIns="0" tIns="0" rIns="0" bIns="0"/>
          <a:lstStyle/>
          <a:p>
            <a:pPr>
              <a:defRPr sz="2700" b="1">
                <a:solidFill>
                  <a:srgbClr val="17202A"/>
                </a:solidFill>
              </a:defRPr>
            </a:pPr>
            <a:r>
              <a:rPr sz="2700" b="1">
                <a:solidFill>
                  <a:srgbClr val="17202A"/>
                </a:solidFill>
              </a:rPr>
              <a:t>F1 0.7327</a:t>
            </a:r>
          </a:p>
        </p:txBody>
      </p:sp>
      <p:sp>
        <p:nvSpPr>
          <p:cNvPr id="23" name="Rectangle 22">
            <a:extLst>
              <a:ext uri="{FF2B5EF4-FFF2-40B4-BE49-F238E27FC236}">
                <a16:creationId xmlns:a16="http://schemas.microsoft.com/office/drawing/2014/main" id="{8E32815B-BC5E-4C0A-B0C4-CCFFD83327DB}"/>
              </a:ext>
            </a:extLst>
          </p:cNvPr>
          <p:cNvSpPr>
            <a:spLocks noGrp="1"/>
          </p:cNvSpPr>
          <p:nvPr/>
        </p:nvSpPr>
        <p:spPr>
          <a:xfrm>
            <a:off x="6686550" y="4514850"/>
            <a:ext cx="4895850" cy="171450"/>
          </a:xfrm>
          <a:prstGeom prst="rect">
            <a:avLst/>
          </a:prstGeom>
        </p:spPr>
        <p:txBody>
          <a:bodyPr lIns="0" tIns="0" rIns="0" bIns="0"/>
          <a:lstStyle/>
          <a:p>
            <a:pPr>
              <a:defRPr sz="1050">
                <a:solidFill>
                  <a:srgbClr val="4B5563"/>
                </a:solidFill>
              </a:defRPr>
            </a:pPr>
            <a:r>
              <a:rPr sz="1050">
                <a:solidFill>
                  <a:srgbClr val="4B5563"/>
                </a:solidFill>
              </a:rPr>
              <a:t>Mức trung bình khá</a:t>
            </a:r>
          </a:p>
        </p:txBody>
      </p:sp>
      <p:sp>
        <p:nvSpPr>
          <p:cNvPr id="24" name="Rectangle: Rounded Corners 23">
            <a:extLst>
              <a:ext uri="{FF2B5EF4-FFF2-40B4-BE49-F238E27FC236}">
                <a16:creationId xmlns:a16="http://schemas.microsoft.com/office/drawing/2014/main" id="{677F49B6-B0FF-4F69-B707-4758DF124818}"/>
              </a:ext>
            </a:extLst>
          </p:cNvPr>
          <p:cNvSpPr>
            <a:spLocks noGrp="1"/>
          </p:cNvSpPr>
          <p:nvPr/>
        </p:nvSpPr>
        <p:spPr>
          <a:xfrm>
            <a:off x="12052300" y="3556635"/>
            <a:ext cx="5397500" cy="1323975"/>
          </a:xfrm>
          <a:prstGeom prst="roundRect">
            <a:avLst>
              <a:gd name="adj" fmla="val 8633"/>
            </a:avLst>
          </a:prstGeom>
          <a:solidFill>
            <a:srgbClr val="FCE7E5"/>
          </a:solidFill>
        </p:spPr>
        <p:txBody>
          <a:bodyPr/>
          <a:lstStyle/>
          <a:p>
            <a:endParaRPr lang="en-US"/>
          </a:p>
        </p:txBody>
      </p:sp>
      <p:sp>
        <p:nvSpPr>
          <p:cNvPr id="25" name="Rectangle 24">
            <a:extLst>
              <a:ext uri="{FF2B5EF4-FFF2-40B4-BE49-F238E27FC236}">
                <a16:creationId xmlns:a16="http://schemas.microsoft.com/office/drawing/2014/main" id="{1D5AFE44-854D-428C-BFFB-16C9FC0B0220}"/>
              </a:ext>
            </a:extLst>
          </p:cNvPr>
          <p:cNvSpPr>
            <a:spLocks noGrp="1"/>
          </p:cNvSpPr>
          <p:nvPr/>
        </p:nvSpPr>
        <p:spPr>
          <a:xfrm>
            <a:off x="12306300" y="3790950"/>
            <a:ext cx="4895850" cy="209550"/>
          </a:xfrm>
          <a:prstGeom prst="rect">
            <a:avLst/>
          </a:prstGeom>
        </p:spPr>
        <p:txBody>
          <a:bodyPr lIns="0" tIns="0" rIns="0" bIns="0"/>
          <a:lstStyle/>
          <a:p>
            <a:pPr>
              <a:defRPr sz="1350" b="1">
                <a:solidFill>
                  <a:srgbClr val="B42318"/>
                </a:solidFill>
              </a:defRPr>
            </a:pPr>
            <a:r>
              <a:rPr sz="1350" b="1">
                <a:solidFill>
                  <a:srgbClr val="B42318"/>
                </a:solidFill>
              </a:rPr>
              <a:t>Service</a:t>
            </a:r>
          </a:p>
        </p:txBody>
      </p:sp>
      <p:sp>
        <p:nvSpPr>
          <p:cNvPr id="26" name="Rectangle 25">
            <a:extLst>
              <a:ext uri="{FF2B5EF4-FFF2-40B4-BE49-F238E27FC236}">
                <a16:creationId xmlns:a16="http://schemas.microsoft.com/office/drawing/2014/main" id="{B57E4CAC-3322-4584-A932-B9D237E2B388}"/>
              </a:ext>
            </a:extLst>
          </p:cNvPr>
          <p:cNvSpPr>
            <a:spLocks noGrp="1"/>
          </p:cNvSpPr>
          <p:nvPr/>
        </p:nvSpPr>
        <p:spPr>
          <a:xfrm>
            <a:off x="12306300" y="4057650"/>
            <a:ext cx="4895850" cy="419100"/>
          </a:xfrm>
          <a:prstGeom prst="rect">
            <a:avLst/>
          </a:prstGeom>
        </p:spPr>
        <p:txBody>
          <a:bodyPr lIns="0" tIns="0" rIns="0" bIns="0"/>
          <a:lstStyle/>
          <a:p>
            <a:pPr>
              <a:defRPr sz="2700" b="1">
                <a:solidFill>
                  <a:srgbClr val="17202A"/>
                </a:solidFill>
              </a:defRPr>
            </a:pPr>
            <a:r>
              <a:rPr sz="2700" b="1" dirty="0">
                <a:solidFill>
                  <a:srgbClr val="17202A"/>
                </a:solidFill>
              </a:rPr>
              <a:t>F1 0.4138</a:t>
            </a:r>
          </a:p>
        </p:txBody>
      </p:sp>
      <p:sp>
        <p:nvSpPr>
          <p:cNvPr id="27" name="Rectangle 26">
            <a:extLst>
              <a:ext uri="{FF2B5EF4-FFF2-40B4-BE49-F238E27FC236}">
                <a16:creationId xmlns:a16="http://schemas.microsoft.com/office/drawing/2014/main" id="{6533A405-AB66-47BE-9EDA-5563F830F897}"/>
              </a:ext>
            </a:extLst>
          </p:cNvPr>
          <p:cNvSpPr>
            <a:spLocks noGrp="1"/>
          </p:cNvSpPr>
          <p:nvPr/>
        </p:nvSpPr>
        <p:spPr>
          <a:xfrm>
            <a:off x="12306300" y="4514850"/>
            <a:ext cx="4895850" cy="171450"/>
          </a:xfrm>
          <a:prstGeom prst="rect">
            <a:avLst/>
          </a:prstGeom>
        </p:spPr>
        <p:txBody>
          <a:bodyPr lIns="0" tIns="0" rIns="0" bIns="0"/>
          <a:lstStyle/>
          <a:p>
            <a:pPr>
              <a:defRPr sz="1050">
                <a:solidFill>
                  <a:srgbClr val="4B5563"/>
                </a:solidFill>
              </a:defRPr>
            </a:pPr>
            <a:r>
              <a:rPr sz="1050">
                <a:solidFill>
                  <a:srgbClr val="4B5563"/>
                </a:solidFill>
              </a:rPr>
              <a:t>Aspect yếu nhất cần tập trung</a:t>
            </a:r>
          </a:p>
        </p:txBody>
      </p:sp>
      <p:sp>
        <p:nvSpPr>
          <p:cNvPr id="28" name="Rectangle: Rounded Corners 27">
            <a:extLst>
              <a:ext uri="{FF2B5EF4-FFF2-40B4-BE49-F238E27FC236}">
                <a16:creationId xmlns:a16="http://schemas.microsoft.com/office/drawing/2014/main" id="{95C01F1E-A886-4661-B1E1-126253A68D25}"/>
              </a:ext>
            </a:extLst>
          </p:cNvPr>
          <p:cNvSpPr>
            <a:spLocks noGrp="1"/>
          </p:cNvSpPr>
          <p:nvPr/>
        </p:nvSpPr>
        <p:spPr>
          <a:xfrm>
            <a:off x="838200" y="5109210"/>
            <a:ext cx="16611600" cy="4511040"/>
          </a:xfrm>
          <a:prstGeom prst="roundRect">
            <a:avLst>
              <a:gd name="adj" fmla="val 2534"/>
            </a:avLst>
          </a:prstGeom>
          <a:solidFill>
            <a:srgbClr val="FFFFFF"/>
          </a:solidFill>
        </p:spPr>
        <p:txBody>
          <a:bodyPr/>
          <a:lstStyle/>
          <a:p>
            <a:endParaRPr lang="en-US"/>
          </a:p>
        </p:txBody>
      </p:sp>
      <p:sp>
        <p:nvSpPr>
          <p:cNvPr id="29" name="Rectangle 28">
            <a:extLst>
              <a:ext uri="{FF2B5EF4-FFF2-40B4-BE49-F238E27FC236}">
                <a16:creationId xmlns:a16="http://schemas.microsoft.com/office/drawing/2014/main" id="{50E61F7E-8CD9-4597-83E5-0FAA4A952D20}"/>
              </a:ext>
            </a:extLst>
          </p:cNvPr>
          <p:cNvSpPr>
            <a:spLocks noGrp="1"/>
          </p:cNvSpPr>
          <p:nvPr/>
        </p:nvSpPr>
        <p:spPr>
          <a:xfrm>
            <a:off x="1085850" y="5314950"/>
            <a:ext cx="16116300" cy="285750"/>
          </a:xfrm>
          <a:prstGeom prst="rect">
            <a:avLst/>
          </a:prstGeom>
        </p:spPr>
        <p:txBody>
          <a:bodyPr lIns="0" tIns="0" rIns="0" bIns="0"/>
          <a:lstStyle/>
          <a:p>
            <a:pPr>
              <a:defRPr sz="1800">
                <a:solidFill>
                  <a:srgbClr val="17202A"/>
                </a:solidFill>
              </a:defRPr>
            </a:pPr>
            <a:r>
              <a:rPr sz="1800">
                <a:solidFill>
                  <a:srgbClr val="17202A"/>
                </a:solidFill>
              </a:rPr>
              <a:t>• Gold eval phản ánh khó khăn thật của bài toán hơn tập pha trộn</a:t>
            </a:r>
          </a:p>
        </p:txBody>
      </p:sp>
      <p:sp>
        <p:nvSpPr>
          <p:cNvPr id="30" name="Rectangle 29">
            <a:extLst>
              <a:ext uri="{FF2B5EF4-FFF2-40B4-BE49-F238E27FC236}">
                <a16:creationId xmlns:a16="http://schemas.microsoft.com/office/drawing/2014/main" id="{82F1DD3E-071A-4F80-B03D-1FB0453FC8F6}"/>
              </a:ext>
            </a:extLst>
          </p:cNvPr>
          <p:cNvSpPr>
            <a:spLocks noGrp="1"/>
          </p:cNvSpPr>
          <p:nvPr/>
        </p:nvSpPr>
        <p:spPr>
          <a:xfrm>
            <a:off x="1085850" y="5715000"/>
            <a:ext cx="16116300" cy="285750"/>
          </a:xfrm>
          <a:prstGeom prst="rect">
            <a:avLst/>
          </a:prstGeom>
        </p:spPr>
        <p:txBody>
          <a:bodyPr lIns="0" tIns="0" rIns="0" bIns="0"/>
          <a:lstStyle/>
          <a:p>
            <a:pPr>
              <a:defRPr sz="1800">
                <a:solidFill>
                  <a:srgbClr val="17202A"/>
                </a:solidFill>
              </a:defRPr>
            </a:pPr>
            <a:r>
              <a:rPr sz="1800">
                <a:solidFill>
                  <a:srgbClr val="17202A"/>
                </a:solidFill>
              </a:rPr>
              <a:t>• Aspect khó nhất hiện tại: product, service, app</a:t>
            </a:r>
          </a:p>
        </p:txBody>
      </p:sp>
    </p:spTree>
    <p:extLst>
      <p:ext uri="{BB962C8B-B14F-4D97-AF65-F5344CB8AC3E}">
        <p14:creationId xmlns:p14="http://schemas.microsoft.com/office/powerpoint/2010/main" val="966790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Kiến trúc &amp; Phương pháp Học Sâu (Deep Learning)</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Tiếp cận mô hình tuần tự Bi-LSTM và kiến trúc học máy đa nhiệm Transformer (PhoBERT)</a:t>
            </a:r>
          </a:p>
        </p:txBody>
      </p:sp>
      <p:sp>
        <p:nvSpPr>
          <p:cNvPr id="5" name="Rounded Rectangle 4"/>
          <p:cNvSpPr/>
          <p:nvPr/>
        </p:nvSpPr>
        <p:spPr>
          <a:xfrm>
            <a:off x="822960" y="2011680"/>
            <a:ext cx="8046720" cy="7132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2000"/>
              </a:spcAft>
              <a:defRPr sz="1600" b="1">
                <a:solidFill>
                  <a:srgbClr val="0E8C61"/>
                </a:solidFill>
                <a:latin typeface="Arial"/>
              </a:defRPr>
            </a:pPr>
            <a:r>
              <a:t>MÔ HÌNH TUẦN TỰ BI-LSTM &amp; WORD2VEC</a:t>
            </a:r>
          </a:p>
          <a:p>
            <a:pPr>
              <a:spcAft>
                <a:spcPts val="600"/>
              </a:spcAft>
              <a:defRPr sz="1300">
                <a:solidFill>
                  <a:srgbClr val="0F172A"/>
                </a:solidFill>
                <a:latin typeface="Arial"/>
              </a:defRPr>
            </a:pPr>
            <a:r>
              <a:t>• Kiến trúc tuần tự hai chiều (Bidirectional LSTM):</a:t>
            </a:r>
          </a:p>
          <a:p>
            <a:pPr>
              <a:spcAft>
                <a:spcPts val="600"/>
              </a:spcAft>
              <a:defRPr sz="1300">
                <a:solidFill>
                  <a:srgbClr val="0F172A"/>
                </a:solidFill>
                <a:latin typeface="Arial"/>
              </a:defRPr>
            </a:pPr>
            <a:r>
              <a:t>  Cho phép mô hình học được ngữ cảnh từ cả hai hướng (trái qua phải và phải qua trái), giúp ghi nhớ các phụ thuộc từ ngữ cự ly xa trong câu review dài.</a:t>
            </a:r>
          </a:p>
          <a:p>
            <a:pPr>
              <a:spcAft>
                <a:spcPts val="600"/>
              </a:spcAft>
              <a:defRPr sz="1300">
                <a:solidFill>
                  <a:srgbClr val="0F172A"/>
                </a:solidFill>
                <a:latin typeface="Arial"/>
              </a:defRPr>
            </a:pPr>
          </a:p>
          <a:p>
            <a:pPr>
              <a:spcAft>
                <a:spcPts val="600"/>
              </a:spcAft>
              <a:defRPr sz="1300">
                <a:solidFill>
                  <a:srgbClr val="0F172A"/>
                </a:solidFill>
                <a:latin typeface="Arial"/>
              </a:defRPr>
            </a:pPr>
            <a:r>
              <a:t>• Biểu diễn từ vector hóa (Word2Vec Embedding):</a:t>
            </a:r>
          </a:p>
          <a:p>
            <a:pPr>
              <a:spcAft>
                <a:spcPts val="600"/>
              </a:spcAft>
              <a:defRPr sz="1300">
                <a:solidFill>
                  <a:srgbClr val="0F172A"/>
                </a:solidFill>
                <a:latin typeface="Arial"/>
              </a:defRPr>
            </a:pPr>
            <a:r>
              <a:t>  Sử dụng mô hình Word2Vec để ánh xạ từ vựng sang không gian vector liên tục, nắm bắt tốt sắc thái biểu cảm của teencode, từ viết tắt E-commerce.</a:t>
            </a:r>
          </a:p>
          <a:p>
            <a:pPr>
              <a:spcAft>
                <a:spcPts val="600"/>
              </a:spcAft>
              <a:defRPr sz="1300">
                <a:solidFill>
                  <a:srgbClr val="0F172A"/>
                </a:solidFill>
                <a:latin typeface="Arial"/>
              </a:defRPr>
            </a:pPr>
          </a:p>
          <a:p>
            <a:pPr>
              <a:spcAft>
                <a:spcPts val="600"/>
              </a:spcAft>
              <a:defRPr sz="1300">
                <a:solidFill>
                  <a:srgbClr val="0F172A"/>
                </a:solidFill>
                <a:latin typeface="Arial"/>
              </a:defRPr>
            </a:pPr>
            <a:r>
              <a:t>• Huấn luyện thử nghiệm:</a:t>
            </a:r>
          </a:p>
          <a:p>
            <a:pPr>
              <a:spcAft>
                <a:spcPts val="600"/>
              </a:spcAft>
              <a:defRPr sz="1300">
                <a:solidFill>
                  <a:srgbClr val="0F172A"/>
                </a:solidFill>
                <a:latin typeface="Arial"/>
              </a:defRPr>
            </a:pPr>
            <a:r>
              <a:t>  Huấn luyện 8 epochs trên CPU cục bộ làm mốc so sánh (Baseline Deep Learning) trước khi chuyển giao sang các kiến trúc Transformer phức tạp.</a:t>
            </a:r>
          </a:p>
        </p:txBody>
      </p:sp>
      <p:sp>
        <p:nvSpPr>
          <p:cNvPr id="6" name="Rounded Rectangle 5"/>
          <p:cNvSpPr/>
          <p:nvPr/>
        </p:nvSpPr>
        <p:spPr>
          <a:xfrm>
            <a:off x="9418320" y="2011680"/>
            <a:ext cx="8046720" cy="7132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2000"/>
              </a:spcAft>
              <a:defRPr sz="1600" b="1">
                <a:solidFill>
                  <a:srgbClr val="0E8C61"/>
                </a:solidFill>
                <a:latin typeface="Arial"/>
              </a:defRPr>
            </a:pPr>
            <a:r>
              <a:t>MÔ HÌNH PHOBERT ĐA NHIỆM (MULTI-TASK)</a:t>
            </a:r>
          </a:p>
          <a:p>
            <a:pPr>
              <a:spcAft>
                <a:spcPts val="600"/>
              </a:spcAft>
              <a:defRPr sz="1300">
                <a:solidFill>
                  <a:srgbClr val="0F172A"/>
                </a:solidFill>
                <a:latin typeface="Arial"/>
              </a:defRPr>
            </a:pPr>
            <a:r>
              <a:t>• SOTA Transformer cho tiếng Việt (PhoBERT):</a:t>
            </a:r>
          </a:p>
          <a:p>
            <a:pPr>
              <a:spcAft>
                <a:spcPts val="600"/>
              </a:spcAft>
              <a:defRPr sz="1300">
                <a:solidFill>
                  <a:srgbClr val="0F172A"/>
                </a:solidFill>
                <a:latin typeface="Arial"/>
              </a:defRPr>
            </a:pPr>
            <a:r>
              <a:t>  Sử dụng mô hình PhoBERT pre-trained tối ưu hóa riêng cho tiếng Việt nhằm tận dụng tối đa khả năng nắm bắt ngữ pháp và quan hệ ngữ nghĩa câu phức tạp.</a:t>
            </a:r>
          </a:p>
          <a:p>
            <a:pPr>
              <a:spcAft>
                <a:spcPts val="600"/>
              </a:spcAft>
              <a:defRPr sz="1300">
                <a:solidFill>
                  <a:srgbClr val="0F172A"/>
                </a:solidFill>
                <a:latin typeface="Arial"/>
              </a:defRPr>
            </a:pPr>
          </a:p>
          <a:p>
            <a:pPr>
              <a:spcAft>
                <a:spcPts val="600"/>
              </a:spcAft>
              <a:defRPr sz="1300">
                <a:solidFill>
                  <a:srgbClr val="0F172A"/>
                </a:solidFill>
                <a:latin typeface="Arial"/>
              </a:defRPr>
            </a:pPr>
            <a:r>
              <a:t>• Học máy đa nhiệm (Multi-task Learning):</a:t>
            </a:r>
          </a:p>
          <a:p>
            <a:pPr>
              <a:spcAft>
                <a:spcPts val="600"/>
              </a:spcAft>
              <a:defRPr sz="1300">
                <a:solidFill>
                  <a:srgbClr val="0F172A"/>
                </a:solidFill>
                <a:latin typeface="Arial"/>
              </a:defRPr>
            </a:pPr>
            <a:r>
              <a:t>  Thiết kế đầu ra song song (Sigmoid cho Aspect và Softmax cho Sentiment) giúp mô hình tối ưu hóa đồng thời cả hai tác vụ trong một lượt forward pass.</a:t>
            </a:r>
          </a:p>
          <a:p>
            <a:pPr>
              <a:spcAft>
                <a:spcPts val="600"/>
              </a:spcAft>
              <a:defRPr sz="1300">
                <a:solidFill>
                  <a:srgbClr val="0F172A"/>
                </a:solidFill>
                <a:latin typeface="Arial"/>
              </a:defRPr>
            </a:pPr>
          </a:p>
          <a:p>
            <a:pPr>
              <a:spcAft>
                <a:spcPts val="600"/>
              </a:spcAft>
              <a:defRPr sz="1300">
                <a:solidFill>
                  <a:srgbClr val="0F172A"/>
                </a:solidFill>
                <a:latin typeface="Arial"/>
              </a:defRPr>
            </a:pPr>
            <a:r>
              <a:t>• Hạ tầng Cloud GPU T4 x2 (Kaggle):</a:t>
            </a:r>
          </a:p>
          <a:p>
            <a:pPr>
              <a:spcAft>
                <a:spcPts val="600"/>
              </a:spcAft>
              <a:defRPr sz="1300">
                <a:solidFill>
                  <a:srgbClr val="0F172A"/>
                </a:solidFill>
                <a:latin typeface="Arial"/>
              </a:defRPr>
            </a:pPr>
            <a:r>
              <a:t>  Huấn luyện 5 epochs bằng kỹ thuật FP16 Mixed Precision giúp giảm 50% bộ nhớ GPU và tăng tốc tính toán gấp đôi mà không giảm độ chính xác.</a:t>
            </a:r>
          </a:p>
        </p:txBody>
      </p:sp>
    </p:spTree>
    <p:extLst>
      <p:ext uri="{BB962C8B-B14F-4D97-AF65-F5344CB8AC3E}">
        <p14:creationId xmlns:p14="http://schemas.microsoft.com/office/powerpoint/2010/main" val="376826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So sánh tổng quan hiệu năng các mô hình ABSA</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Đánh giá thực nghiệm khách quan trên tập kiểm thử chuẩn hóa cao (Gold Eval - 721 dòng)</a:t>
            </a:r>
          </a:p>
        </p:txBody>
      </p:sp>
      <p:graphicFrame>
        <p:nvGraphicFramePr>
          <p:cNvPr id="5" name="Table 4"/>
          <p:cNvGraphicFramePr>
            <a:graphicFrameLocks noGrp="1"/>
          </p:cNvGraphicFramePr>
          <p:nvPr/>
        </p:nvGraphicFramePr>
        <p:xfrm>
          <a:off x="822960" y="2011680"/>
          <a:ext cx="10241280" cy="2926080"/>
        </p:xfrm>
        <a:graphic>
          <a:graphicData uri="http://schemas.openxmlformats.org/drawingml/2006/table">
            <a:tbl>
              <a:tblPr firstRow="1" bandRow="1">
                <a:tableStyleId>{5C22544A-7EE6-4342-B048-85BDC9FD1C3A}</a:tableStyleId>
              </a:tblPr>
              <a:tblGrid>
                <a:gridCol w="1706880"/>
                <a:gridCol w="1706880"/>
                <a:gridCol w="1706880"/>
                <a:gridCol w="1706880"/>
                <a:gridCol w="1706880"/>
                <a:gridCol w="1706880"/>
              </a:tblGrid>
              <a:tr h="731520">
                <a:tc>
                  <a:txBody>
                    <a:bodyPr/>
                    <a:lstStyle/>
                    <a:p>
                      <a:pPr algn="ctr">
                        <a:defRPr sz="1250" b="1">
                          <a:solidFill>
                            <a:srgbClr val="FFFFFF"/>
                          </a:solidFill>
                          <a:latin typeface="Arial"/>
                        </a:defRPr>
                      </a:pPr>
                      <a:r>
                        <a:t>Mô hình / Thuật toán</a:t>
                      </a:r>
                    </a:p>
                  </a:txBody>
                  <a:tcPr>
                    <a:solidFill>
                      <a:srgbClr val="0E8C61"/>
                    </a:solidFill>
                  </a:tcPr>
                </a:tc>
                <a:tc>
                  <a:txBody>
                    <a:bodyPr/>
                    <a:lstStyle/>
                    <a:p>
                      <a:pPr algn="ctr">
                        <a:defRPr sz="1250" b="1">
                          <a:solidFill>
                            <a:srgbClr val="FFFFFF"/>
                          </a:solidFill>
                          <a:latin typeface="Arial"/>
                        </a:defRPr>
                      </a:pPr>
                      <a:r>
                        <a:t>Aspect F1-micro</a:t>
                      </a:r>
                    </a:p>
                  </a:txBody>
                  <a:tcPr>
                    <a:solidFill>
                      <a:srgbClr val="0E8C61"/>
                    </a:solidFill>
                  </a:tcPr>
                </a:tc>
                <a:tc>
                  <a:txBody>
                    <a:bodyPr/>
                    <a:lstStyle/>
                    <a:p>
                      <a:pPr algn="ctr">
                        <a:defRPr sz="1250" b="1">
                          <a:solidFill>
                            <a:srgbClr val="FFFFFF"/>
                          </a:solidFill>
                          <a:latin typeface="Arial"/>
                        </a:defRPr>
                      </a:pPr>
                      <a:r>
                        <a:t>Aspect F1-macro</a:t>
                      </a:r>
                    </a:p>
                  </a:txBody>
                  <a:tcPr>
                    <a:solidFill>
                      <a:srgbClr val="0E8C61"/>
                    </a:solidFill>
                  </a:tcPr>
                </a:tc>
                <a:tc>
                  <a:txBody>
                    <a:bodyPr/>
                    <a:lstStyle/>
                    <a:p>
                      <a:pPr algn="ctr">
                        <a:defRPr sz="1250" b="1">
                          <a:solidFill>
                            <a:srgbClr val="FFFFFF"/>
                          </a:solidFill>
                          <a:latin typeface="Arial"/>
                        </a:defRPr>
                      </a:pPr>
                      <a:r>
                        <a:t>Aspect Hamming Loss</a:t>
                      </a:r>
                    </a:p>
                  </a:txBody>
                  <a:tcPr>
                    <a:solidFill>
                      <a:srgbClr val="0E8C61"/>
                    </a:solidFill>
                  </a:tcPr>
                </a:tc>
                <a:tc>
                  <a:txBody>
                    <a:bodyPr/>
                    <a:lstStyle/>
                    <a:p>
                      <a:pPr algn="ctr">
                        <a:defRPr sz="1250" b="1">
                          <a:solidFill>
                            <a:srgbClr val="FFFFFF"/>
                          </a:solidFill>
                          <a:latin typeface="Arial"/>
                        </a:defRPr>
                      </a:pPr>
                      <a:r>
                        <a:t>Sentiment F1-macro</a:t>
                      </a:r>
                    </a:p>
                  </a:txBody>
                  <a:tcPr>
                    <a:solidFill>
                      <a:srgbClr val="0E8C61"/>
                    </a:solidFill>
                  </a:tcPr>
                </a:tc>
                <a:tc>
                  <a:txBody>
                    <a:bodyPr/>
                    <a:lstStyle/>
                    <a:p>
                      <a:pPr algn="ctr">
                        <a:defRPr sz="1250" b="1">
                          <a:solidFill>
                            <a:srgbClr val="FFFFFF"/>
                          </a:solidFill>
                          <a:latin typeface="Arial"/>
                        </a:defRPr>
                      </a:pPr>
                      <a:r>
                        <a:t>Sentiment Accuracy</a:t>
                      </a:r>
                    </a:p>
                  </a:txBody>
                  <a:tcPr>
                    <a:solidFill>
                      <a:srgbClr val="0E8C61"/>
                    </a:solidFill>
                  </a:tcPr>
                </a:tc>
              </a:tr>
              <a:tr h="731520">
                <a:tc>
                  <a:txBody>
                    <a:bodyPr/>
                    <a:lstStyle/>
                    <a:p>
                      <a:pPr algn="l">
                        <a:defRPr sz="1250">
                          <a:solidFill>
                            <a:srgbClr val="0F172A"/>
                          </a:solidFill>
                          <a:latin typeface="Arial"/>
                        </a:defRPr>
                      </a:pPr>
                      <a:r>
                        <a:t>Baseline TF-IDF + SVM</a:t>
                      </a:r>
                    </a:p>
                  </a:txBody>
                  <a:tcPr>
                    <a:solidFill>
                      <a:srgbClr val="FFFFFF"/>
                    </a:solidFill>
                  </a:tcPr>
                </a:tc>
                <a:tc>
                  <a:txBody>
                    <a:bodyPr/>
                    <a:lstStyle/>
                    <a:p>
                      <a:pPr algn="ctr">
                        <a:defRPr sz="1250">
                          <a:solidFill>
                            <a:srgbClr val="0F172A"/>
                          </a:solidFill>
                          <a:latin typeface="Arial"/>
                        </a:defRPr>
                      </a:pPr>
                      <a:r>
                        <a:t>85.25%</a:t>
                      </a:r>
                    </a:p>
                  </a:txBody>
                  <a:tcPr>
                    <a:solidFill>
                      <a:srgbClr val="FFFFFF"/>
                    </a:solidFill>
                  </a:tcPr>
                </a:tc>
                <a:tc>
                  <a:txBody>
                    <a:bodyPr/>
                    <a:lstStyle/>
                    <a:p>
                      <a:pPr algn="ctr">
                        <a:defRPr sz="1250">
                          <a:solidFill>
                            <a:srgbClr val="0F172A"/>
                          </a:solidFill>
                          <a:latin typeface="Arial"/>
                        </a:defRPr>
                      </a:pPr>
                      <a:r>
                        <a:t>78.37%</a:t>
                      </a:r>
                    </a:p>
                  </a:txBody>
                  <a:tcPr>
                    <a:solidFill>
                      <a:srgbClr val="FFFFFF"/>
                    </a:solidFill>
                  </a:tcPr>
                </a:tc>
                <a:tc>
                  <a:txBody>
                    <a:bodyPr/>
                    <a:lstStyle/>
                    <a:p>
                      <a:pPr algn="ctr">
                        <a:defRPr sz="1250">
                          <a:solidFill>
                            <a:srgbClr val="0F172A"/>
                          </a:solidFill>
                          <a:latin typeface="Arial"/>
                        </a:defRPr>
                      </a:pPr>
                      <a:r>
                        <a:t>0.0680</a:t>
                      </a:r>
                    </a:p>
                  </a:txBody>
                  <a:tcPr>
                    <a:solidFill>
                      <a:srgbClr val="FFFFFF"/>
                    </a:solidFill>
                  </a:tcPr>
                </a:tc>
                <a:tc>
                  <a:txBody>
                    <a:bodyPr/>
                    <a:lstStyle/>
                    <a:p>
                      <a:pPr algn="ctr">
                        <a:defRPr sz="1250">
                          <a:solidFill>
                            <a:srgbClr val="0F172A"/>
                          </a:solidFill>
                          <a:latin typeface="Arial"/>
                        </a:defRPr>
                      </a:pPr>
                      <a:r>
                        <a:t>N/A</a:t>
                      </a:r>
                    </a:p>
                  </a:txBody>
                  <a:tcPr>
                    <a:solidFill>
                      <a:srgbClr val="FFFFFF"/>
                    </a:solidFill>
                  </a:tcPr>
                </a:tc>
                <a:tc>
                  <a:txBody>
                    <a:bodyPr/>
                    <a:lstStyle/>
                    <a:p>
                      <a:pPr algn="ctr">
                        <a:defRPr sz="1250">
                          <a:solidFill>
                            <a:srgbClr val="0F172A"/>
                          </a:solidFill>
                          <a:latin typeface="Arial"/>
                        </a:defRPr>
                      </a:pPr>
                      <a:r>
                        <a:t>N/A</a:t>
                      </a:r>
                    </a:p>
                  </a:txBody>
                  <a:tcPr>
                    <a:solidFill>
                      <a:srgbClr val="FFFFFF"/>
                    </a:solidFill>
                  </a:tcPr>
                </a:tc>
              </a:tr>
              <a:tr h="731520">
                <a:tc>
                  <a:txBody>
                    <a:bodyPr/>
                    <a:lstStyle/>
                    <a:p>
                      <a:pPr algn="l">
                        <a:defRPr sz="1250">
                          <a:solidFill>
                            <a:srgbClr val="0F172A"/>
                          </a:solidFill>
                          <a:latin typeface="Arial"/>
                        </a:defRPr>
                      </a:pPr>
                      <a:r>
                        <a:t>Bi-LSTM + Word2Vec</a:t>
                      </a:r>
                    </a:p>
                  </a:txBody>
                  <a:tcPr>
                    <a:solidFill>
                      <a:srgbClr val="F8FAFC"/>
                    </a:solidFill>
                  </a:tcPr>
                </a:tc>
                <a:tc>
                  <a:txBody>
                    <a:bodyPr/>
                    <a:lstStyle/>
                    <a:p>
                      <a:pPr algn="ctr">
                        <a:defRPr sz="1250">
                          <a:solidFill>
                            <a:srgbClr val="0F172A"/>
                          </a:solidFill>
                          <a:latin typeface="Arial"/>
                        </a:defRPr>
                      </a:pPr>
                      <a:r>
                        <a:t>74.87%</a:t>
                      </a:r>
                    </a:p>
                  </a:txBody>
                  <a:tcPr>
                    <a:solidFill>
                      <a:srgbClr val="F8FAFC"/>
                    </a:solidFill>
                  </a:tcPr>
                </a:tc>
                <a:tc>
                  <a:txBody>
                    <a:bodyPr/>
                    <a:lstStyle/>
                    <a:p>
                      <a:pPr algn="ctr">
                        <a:defRPr sz="1250">
                          <a:solidFill>
                            <a:srgbClr val="0F172A"/>
                          </a:solidFill>
                          <a:latin typeface="Arial"/>
                        </a:defRPr>
                      </a:pPr>
                      <a:r>
                        <a:t>68.16%</a:t>
                      </a:r>
                    </a:p>
                  </a:txBody>
                  <a:tcPr>
                    <a:solidFill>
                      <a:srgbClr val="F8FAFC"/>
                    </a:solidFill>
                  </a:tcPr>
                </a:tc>
                <a:tc>
                  <a:txBody>
                    <a:bodyPr/>
                    <a:lstStyle/>
                    <a:p>
                      <a:pPr algn="ctr">
                        <a:defRPr sz="1250">
                          <a:solidFill>
                            <a:srgbClr val="0F172A"/>
                          </a:solidFill>
                          <a:latin typeface="Arial"/>
                        </a:defRPr>
                      </a:pPr>
                      <a:r>
                        <a:t>0.1315</a:t>
                      </a:r>
                    </a:p>
                  </a:txBody>
                  <a:tcPr>
                    <a:solidFill>
                      <a:srgbClr val="F8FAFC"/>
                    </a:solidFill>
                  </a:tcPr>
                </a:tc>
                <a:tc>
                  <a:txBody>
                    <a:bodyPr/>
                    <a:lstStyle/>
                    <a:p>
                      <a:pPr algn="ctr">
                        <a:defRPr sz="1250">
                          <a:solidFill>
                            <a:srgbClr val="0F172A"/>
                          </a:solidFill>
                          <a:latin typeface="Arial"/>
                        </a:defRPr>
                      </a:pPr>
                      <a:r>
                        <a:t>N/A</a:t>
                      </a:r>
                    </a:p>
                  </a:txBody>
                  <a:tcPr>
                    <a:solidFill>
                      <a:srgbClr val="F8FAFC"/>
                    </a:solidFill>
                  </a:tcPr>
                </a:tc>
                <a:tc>
                  <a:txBody>
                    <a:bodyPr/>
                    <a:lstStyle/>
                    <a:p>
                      <a:pPr algn="ctr">
                        <a:defRPr sz="1250">
                          <a:solidFill>
                            <a:srgbClr val="0F172A"/>
                          </a:solidFill>
                          <a:latin typeface="Arial"/>
                        </a:defRPr>
                      </a:pPr>
                      <a:r>
                        <a:t>N/A</a:t>
                      </a:r>
                    </a:p>
                  </a:txBody>
                  <a:tcPr>
                    <a:solidFill>
                      <a:srgbClr val="F8FAFC"/>
                    </a:solidFill>
                  </a:tcPr>
                </a:tc>
              </a:tr>
              <a:tr h="731520">
                <a:tc>
                  <a:txBody>
                    <a:bodyPr/>
                    <a:lstStyle/>
                    <a:p>
                      <a:pPr algn="l">
                        <a:defRPr sz="1250">
                          <a:solidFill>
                            <a:srgbClr val="0F172A"/>
                          </a:solidFill>
                          <a:latin typeface="Arial"/>
                        </a:defRPr>
                      </a:pPr>
                      <a:r>
                        <a:t>PhoBERT Multi-task (Fine-tuned)</a:t>
                      </a:r>
                    </a:p>
                  </a:txBody>
                  <a:tcPr>
                    <a:solidFill>
                      <a:srgbClr val="FFFFFF"/>
                    </a:solidFill>
                  </a:tcPr>
                </a:tc>
                <a:tc>
                  <a:txBody>
                    <a:bodyPr/>
                    <a:lstStyle/>
                    <a:p>
                      <a:pPr algn="ctr">
                        <a:defRPr sz="1250">
                          <a:solidFill>
                            <a:srgbClr val="0F172A"/>
                          </a:solidFill>
                          <a:latin typeface="Arial"/>
                        </a:defRPr>
                      </a:pPr>
                      <a:r>
                        <a:t>97.37%</a:t>
                      </a:r>
                    </a:p>
                  </a:txBody>
                  <a:tcPr>
                    <a:solidFill>
                      <a:srgbClr val="FFFFFF"/>
                    </a:solidFill>
                  </a:tcPr>
                </a:tc>
                <a:tc>
                  <a:txBody>
                    <a:bodyPr/>
                    <a:lstStyle/>
                    <a:p>
                      <a:pPr algn="ctr">
                        <a:defRPr sz="1250">
                          <a:solidFill>
                            <a:srgbClr val="0F172A"/>
                          </a:solidFill>
                          <a:latin typeface="Arial"/>
                        </a:defRPr>
                      </a:pPr>
                      <a:r>
                        <a:t>97.51%</a:t>
                      </a:r>
                    </a:p>
                  </a:txBody>
                  <a:tcPr>
                    <a:solidFill>
                      <a:srgbClr val="FFFFFF"/>
                    </a:solidFill>
                  </a:tcPr>
                </a:tc>
                <a:tc>
                  <a:txBody>
                    <a:bodyPr/>
                    <a:lstStyle/>
                    <a:p>
                      <a:pPr algn="ctr">
                        <a:defRPr sz="1250">
                          <a:solidFill>
                            <a:srgbClr val="0F172A"/>
                          </a:solidFill>
                          <a:latin typeface="Arial"/>
                        </a:defRPr>
                      </a:pPr>
                      <a:r>
                        <a:t>0.0125</a:t>
                      </a:r>
                    </a:p>
                  </a:txBody>
                  <a:tcPr>
                    <a:solidFill>
                      <a:srgbClr val="FFFFFF"/>
                    </a:solidFill>
                  </a:tcPr>
                </a:tc>
                <a:tc>
                  <a:txBody>
                    <a:bodyPr/>
                    <a:lstStyle/>
                    <a:p>
                      <a:pPr algn="ctr">
                        <a:defRPr sz="1250">
                          <a:solidFill>
                            <a:srgbClr val="0F172A"/>
                          </a:solidFill>
                          <a:latin typeface="Arial"/>
                        </a:defRPr>
                      </a:pPr>
                      <a:r>
                        <a:t>73.47%</a:t>
                      </a:r>
                    </a:p>
                  </a:txBody>
                  <a:tcPr>
                    <a:solidFill>
                      <a:srgbClr val="FFFFFF"/>
                    </a:solidFill>
                  </a:tcPr>
                </a:tc>
                <a:tc>
                  <a:txBody>
                    <a:bodyPr/>
                    <a:lstStyle/>
                    <a:p>
                      <a:pPr algn="ctr">
                        <a:defRPr sz="1250">
                          <a:solidFill>
                            <a:srgbClr val="0F172A"/>
                          </a:solidFill>
                          <a:latin typeface="Arial"/>
                        </a:defRPr>
                      </a:pPr>
                      <a:r>
                        <a:t>73.65%</a:t>
                      </a:r>
                    </a:p>
                  </a:txBody>
                  <a:tcPr>
                    <a:solidFill>
                      <a:srgbClr val="FFFFFF"/>
                    </a:solidFill>
                  </a:tcPr>
                </a:tc>
              </a:tr>
            </a:tbl>
          </a:graphicData>
        </a:graphic>
      </p:graphicFrame>
      <p:sp>
        <p:nvSpPr>
          <p:cNvPr id="6" name="Rounded Rectangle 5"/>
          <p:cNvSpPr/>
          <p:nvPr/>
        </p:nvSpPr>
        <p:spPr>
          <a:xfrm>
            <a:off x="822960" y="5303520"/>
            <a:ext cx="10241280"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600" b="1">
                <a:solidFill>
                  <a:srgbClr val="0E8C61"/>
                </a:solidFill>
                <a:latin typeface="Arial"/>
              </a:defRPr>
            </a:pPr>
            <a:r>
              <a:t>Biện luận khoa học &amp; Định hướng nghiên cứu</a:t>
            </a:r>
          </a:p>
          <a:p>
            <a:pPr>
              <a:spcAft>
                <a:spcPts val="800"/>
              </a:spcAft>
              <a:defRPr sz="1350">
                <a:solidFill>
                  <a:srgbClr val="0F172A"/>
                </a:solidFill>
                <a:latin typeface="Arial"/>
              </a:defRPr>
            </a:pPr>
            <a:r>
              <a:t>• Giải thích khoa học: PhoBERT Multi-task vượt trội hoàn toàn so với Baseline SVM và Bi-LSTM khi được mở rộng quy mô dữ liệu huấn luyện lên 70% (~910k dòng). Điều này chứng minh hiệu quả cực kỳ lớn của kỹ thuật Data Scaling đối với mô hình Transformer sâu sắc.</a:t>
            </a:r>
          </a:p>
          <a:p>
            <a:pPr>
              <a:spcAft>
                <a:spcPts val="800"/>
              </a:spcAft>
              <a:defRPr sz="1350">
                <a:solidFill>
                  <a:srgbClr val="0F172A"/>
                </a:solidFill>
                <a:latin typeface="Arial"/>
              </a:defRPr>
            </a:pPr>
            <a:r>
              <a:t>• Ưu thế đa nhiệm (Multi-task): PhoBERT giải quyết đồng thời cả 2 nhiệm vụ (Nhận diện khía cạnh &amp; Phân loại cảm xúc) trong một lượt truyền xuôi duy nhất (single forward pass), giúp tối ưu hóa thời gian và tránh sai số tích lũy.</a:t>
            </a:r>
          </a:p>
          <a:p>
            <a:pPr>
              <a:spcAft>
                <a:spcPts val="800"/>
              </a:spcAft>
              <a:defRPr sz="1350">
                <a:solidFill>
                  <a:srgbClr val="0F172A"/>
                </a:solidFill>
                <a:latin typeface="Arial"/>
              </a:defRPr>
            </a:pPr>
            <a:r>
              <a:t>• Hiệu suất tối ưu hóa: Việc áp dụng kỹ thuật Pre-tokenization và Mixed Precision (FP16) trên GPU T4 x2 giúp giảm thời gian huấn luyện từ 7 giờ xuống 25 phút.</a:t>
            </a:r>
          </a:p>
        </p:txBody>
      </p:sp>
      <p:graphicFrame>
        <p:nvGraphicFramePr>
          <p:cNvPr id="7" name="Chart 6"/>
          <p:cNvGraphicFramePr>
            <a:graphicFrameLocks noGrp="1"/>
          </p:cNvGraphicFramePr>
          <p:nvPr/>
        </p:nvGraphicFramePr>
        <p:xfrm>
          <a:off x="11521440" y="2011680"/>
          <a:ext cx="5943600" cy="4114800"/>
        </p:xfrm>
        <a:graphic>
          <a:graphicData uri="http://schemas.openxmlformats.org/drawingml/2006/chart">
            <c:chart xmlns:c="http://schemas.openxmlformats.org/drawingml/2006/chart" r:id="rId5"/>
          </a:graphicData>
        </a:graphic>
      </p:graphicFrame>
      <p:pic>
        <p:nvPicPr>
          <p:cNvPr id="8" name="Picture 7" descr="image.png"/>
          <p:cNvPicPr>
            <a:picLocks noChangeAspect="1"/>
          </p:cNvPicPr>
          <p:nvPr/>
        </p:nvPicPr>
        <p:blipFill>
          <a:blip r:embed="rId4"/>
          <a:stretch>
            <a:fillRect/>
          </a:stretch>
        </p:blipFill>
        <p:spPr>
          <a:xfrm>
            <a:off x="11521440" y="6400800"/>
            <a:ext cx="5943600" cy="3200400"/>
          </a:xfrm>
          <a:prstGeom prst="rect">
            <a:avLst/>
          </a:prstGeom>
        </p:spPr>
      </p:pic>
    </p:spTree>
    <p:extLst>
      <p:ext uri="{BB962C8B-B14F-4D97-AF65-F5344CB8AC3E}">
        <p14:creationId xmlns:p14="http://schemas.microsoft.com/office/powerpoint/2010/main" val="136011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Đánh giá hiệu năng Aspect-specific F1-score</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So sánh độ chính xác F1-score của các mô hình trên từng khía cạnh cụ thể</a:t>
            </a:r>
          </a:p>
        </p:txBody>
      </p:sp>
      <p:graphicFrame>
        <p:nvGraphicFramePr>
          <p:cNvPr id="5" name="Table 4"/>
          <p:cNvGraphicFramePr>
            <a:graphicFrameLocks noGrp="1"/>
          </p:cNvGraphicFramePr>
          <p:nvPr/>
        </p:nvGraphicFramePr>
        <p:xfrm>
          <a:off x="822960" y="2011680"/>
          <a:ext cx="10241280" cy="3657600"/>
        </p:xfrm>
        <a:graphic>
          <a:graphicData uri="http://schemas.openxmlformats.org/drawingml/2006/table">
            <a:tbl>
              <a:tblPr firstRow="1" bandRow="1">
                <a:tableStyleId>{5C22544A-7EE6-4342-B048-85BDC9FD1C3A}</a:tableStyleId>
              </a:tblPr>
              <a:tblGrid>
                <a:gridCol w="2048256"/>
                <a:gridCol w="2048256"/>
                <a:gridCol w="2048256"/>
                <a:gridCol w="2048256"/>
                <a:gridCol w="2048256"/>
              </a:tblGrid>
              <a:tr h="609600">
                <a:tc>
                  <a:txBody>
                    <a:bodyPr/>
                    <a:lstStyle/>
                    <a:p>
                      <a:pPr algn="ctr">
                        <a:defRPr sz="1250" b="1">
                          <a:solidFill>
                            <a:srgbClr val="FFFFFF"/>
                          </a:solidFill>
                          <a:latin typeface="Arial"/>
                        </a:defRPr>
                      </a:pPr>
                      <a:r>
                        <a:t>Khía cạnh (Aspect)</a:t>
                      </a:r>
                    </a:p>
                  </a:txBody>
                  <a:tcPr>
                    <a:solidFill>
                      <a:srgbClr val="0E8C61"/>
                    </a:solidFill>
                  </a:tcPr>
                </a:tc>
                <a:tc>
                  <a:txBody>
                    <a:bodyPr/>
                    <a:lstStyle/>
                    <a:p>
                      <a:pPr algn="ctr">
                        <a:defRPr sz="1250" b="1">
                          <a:solidFill>
                            <a:srgbClr val="FFFFFF"/>
                          </a:solidFill>
                          <a:latin typeface="Arial"/>
                        </a:defRPr>
                      </a:pPr>
                      <a:r>
                        <a:t>Số mẫu</a:t>
                      </a:r>
                    </a:p>
                  </a:txBody>
                  <a:tcPr>
                    <a:solidFill>
                      <a:srgbClr val="0E8C61"/>
                    </a:solidFill>
                  </a:tcPr>
                </a:tc>
                <a:tc>
                  <a:txBody>
                    <a:bodyPr/>
                    <a:lstStyle/>
                    <a:p>
                      <a:pPr algn="ctr">
                        <a:defRPr sz="1250" b="1">
                          <a:solidFill>
                            <a:srgbClr val="FFFFFF"/>
                          </a:solidFill>
                          <a:latin typeface="Arial"/>
                        </a:defRPr>
                      </a:pPr>
                      <a:r>
                        <a:t>Baseline TF-IDF + SVM</a:t>
                      </a:r>
                    </a:p>
                  </a:txBody>
                  <a:tcPr>
                    <a:solidFill>
                      <a:srgbClr val="0E8C61"/>
                    </a:solidFill>
                  </a:tcPr>
                </a:tc>
                <a:tc>
                  <a:txBody>
                    <a:bodyPr/>
                    <a:lstStyle/>
                    <a:p>
                      <a:pPr algn="ctr">
                        <a:defRPr sz="1250" b="1">
                          <a:solidFill>
                            <a:srgbClr val="FFFFFF"/>
                          </a:solidFill>
                          <a:latin typeface="Arial"/>
                        </a:defRPr>
                      </a:pPr>
                      <a:r>
                        <a:t>Bi-LSTM + Word2Vec</a:t>
                      </a:r>
                    </a:p>
                  </a:txBody>
                  <a:tcPr>
                    <a:solidFill>
                      <a:srgbClr val="0E8C61"/>
                    </a:solidFill>
                  </a:tcPr>
                </a:tc>
                <a:tc>
                  <a:txBody>
                    <a:bodyPr/>
                    <a:lstStyle/>
                    <a:p>
                      <a:pPr algn="ctr">
                        <a:defRPr sz="1250" b="1">
                          <a:solidFill>
                            <a:srgbClr val="FFFFFF"/>
                          </a:solidFill>
                          <a:latin typeface="Arial"/>
                        </a:defRPr>
                      </a:pPr>
                      <a:r>
                        <a:t>PhoBERT Multi-task</a:t>
                      </a:r>
                    </a:p>
                  </a:txBody>
                  <a:tcPr>
                    <a:solidFill>
                      <a:srgbClr val="0E8C61"/>
                    </a:solidFill>
                  </a:tcPr>
                </a:tc>
              </a:tr>
              <a:tr h="609600">
                <a:tc>
                  <a:txBody>
                    <a:bodyPr/>
                    <a:lstStyle/>
                    <a:p>
                      <a:pPr algn="l">
                        <a:defRPr sz="1250">
                          <a:solidFill>
                            <a:srgbClr val="0F172A"/>
                          </a:solidFill>
                          <a:latin typeface="Arial"/>
                        </a:defRPr>
                      </a:pPr>
                      <a:r>
                        <a:t>Delivery (Giao hàng)</a:t>
                      </a:r>
                    </a:p>
                  </a:txBody>
                  <a:tcPr>
                    <a:solidFill>
                      <a:srgbClr val="FFFFFF"/>
                    </a:solidFill>
                  </a:tcPr>
                </a:tc>
                <a:tc>
                  <a:txBody>
                    <a:bodyPr/>
                    <a:lstStyle/>
                    <a:p>
                      <a:pPr algn="ctr">
                        <a:defRPr sz="1250">
                          <a:solidFill>
                            <a:srgbClr val="0F172A"/>
                          </a:solidFill>
                          <a:latin typeface="Arial"/>
                        </a:defRPr>
                      </a:pPr>
                      <a:r>
                        <a:t>146</a:t>
                      </a:r>
                    </a:p>
                  </a:txBody>
                  <a:tcPr>
                    <a:solidFill>
                      <a:srgbClr val="FFFFFF"/>
                    </a:solidFill>
                  </a:tcPr>
                </a:tc>
                <a:tc>
                  <a:txBody>
                    <a:bodyPr/>
                    <a:lstStyle/>
                    <a:p>
                      <a:pPr algn="ctr">
                        <a:defRPr sz="1250">
                          <a:solidFill>
                            <a:srgbClr val="0F172A"/>
                          </a:solidFill>
                          <a:latin typeface="Arial"/>
                        </a:defRPr>
                      </a:pPr>
                      <a:r>
                        <a:t>89.36%</a:t>
                      </a:r>
                    </a:p>
                  </a:txBody>
                  <a:tcPr>
                    <a:solidFill>
                      <a:srgbClr val="FFFFFF"/>
                    </a:solidFill>
                  </a:tcPr>
                </a:tc>
                <a:tc>
                  <a:txBody>
                    <a:bodyPr/>
                    <a:lstStyle/>
                    <a:p>
                      <a:pPr algn="ctr">
                        <a:defRPr sz="1250">
                          <a:solidFill>
                            <a:srgbClr val="0F172A"/>
                          </a:solidFill>
                          <a:latin typeface="Arial"/>
                        </a:defRPr>
                      </a:pPr>
                      <a:r>
                        <a:t>76.57%</a:t>
                      </a:r>
                    </a:p>
                  </a:txBody>
                  <a:tcPr>
                    <a:solidFill>
                      <a:srgbClr val="FFFFFF"/>
                    </a:solidFill>
                  </a:tcPr>
                </a:tc>
                <a:tc>
                  <a:txBody>
                    <a:bodyPr/>
                    <a:lstStyle/>
                    <a:p>
                      <a:pPr algn="ctr">
                        <a:defRPr sz="1250">
                          <a:solidFill>
                            <a:srgbClr val="0F172A"/>
                          </a:solidFill>
                          <a:latin typeface="Arial"/>
                        </a:defRPr>
                      </a:pPr>
                      <a:r>
                        <a:t>98.62%</a:t>
                      </a:r>
                    </a:p>
                  </a:txBody>
                  <a:tcPr>
                    <a:solidFill>
                      <a:srgbClr val="FFFFFF"/>
                    </a:solidFill>
                  </a:tcPr>
                </a:tc>
              </a:tr>
              <a:tr h="609600">
                <a:tc>
                  <a:txBody>
                    <a:bodyPr/>
                    <a:lstStyle/>
                    <a:p>
                      <a:pPr algn="l">
                        <a:defRPr sz="1250">
                          <a:solidFill>
                            <a:srgbClr val="0F172A"/>
                          </a:solidFill>
                          <a:latin typeface="Arial"/>
                        </a:defRPr>
                      </a:pPr>
                      <a:r>
                        <a:t>Price (Giá cả)</a:t>
                      </a:r>
                    </a:p>
                  </a:txBody>
                  <a:tcPr>
                    <a:solidFill>
                      <a:srgbClr val="F8FAFC"/>
                    </a:solidFill>
                  </a:tcPr>
                </a:tc>
                <a:tc>
                  <a:txBody>
                    <a:bodyPr/>
                    <a:lstStyle/>
                    <a:p>
                      <a:pPr algn="ctr">
                        <a:defRPr sz="1250">
                          <a:solidFill>
                            <a:srgbClr val="0F172A"/>
                          </a:solidFill>
                          <a:latin typeface="Arial"/>
                        </a:defRPr>
                      </a:pPr>
                      <a:r>
                        <a:t>100</a:t>
                      </a:r>
                    </a:p>
                  </a:txBody>
                  <a:tcPr>
                    <a:solidFill>
                      <a:srgbClr val="F8FAFC"/>
                    </a:solidFill>
                  </a:tcPr>
                </a:tc>
                <a:tc>
                  <a:txBody>
                    <a:bodyPr/>
                    <a:lstStyle/>
                    <a:p>
                      <a:pPr algn="ctr">
                        <a:defRPr sz="1250">
                          <a:solidFill>
                            <a:srgbClr val="0F172A"/>
                          </a:solidFill>
                          <a:latin typeface="Arial"/>
                        </a:defRPr>
                      </a:pPr>
                      <a:r>
                        <a:t>70.18%</a:t>
                      </a:r>
                    </a:p>
                  </a:txBody>
                  <a:tcPr>
                    <a:solidFill>
                      <a:srgbClr val="F8FAFC"/>
                    </a:solidFill>
                  </a:tcPr>
                </a:tc>
                <a:tc>
                  <a:txBody>
                    <a:bodyPr/>
                    <a:lstStyle/>
                    <a:p>
                      <a:pPr algn="ctr">
                        <a:defRPr sz="1250">
                          <a:solidFill>
                            <a:srgbClr val="0F172A"/>
                          </a:solidFill>
                          <a:latin typeface="Arial"/>
                        </a:defRPr>
                      </a:pPr>
                      <a:r>
                        <a:t>53.24%</a:t>
                      </a:r>
                    </a:p>
                  </a:txBody>
                  <a:tcPr>
                    <a:solidFill>
                      <a:srgbClr val="F8FAFC"/>
                    </a:solidFill>
                  </a:tcPr>
                </a:tc>
                <a:tc>
                  <a:txBody>
                    <a:bodyPr/>
                    <a:lstStyle/>
                    <a:p>
                      <a:pPr algn="ctr">
                        <a:defRPr sz="1250">
                          <a:solidFill>
                            <a:srgbClr val="0F172A"/>
                          </a:solidFill>
                          <a:latin typeface="Arial"/>
                        </a:defRPr>
                      </a:pPr>
                      <a:r>
                        <a:t>99.50%</a:t>
                      </a:r>
                    </a:p>
                  </a:txBody>
                  <a:tcPr>
                    <a:solidFill>
                      <a:srgbClr val="F8FAFC"/>
                    </a:solidFill>
                  </a:tcPr>
                </a:tc>
              </a:tr>
              <a:tr h="609600">
                <a:tc>
                  <a:txBody>
                    <a:bodyPr/>
                    <a:lstStyle/>
                    <a:p>
                      <a:pPr algn="l">
                        <a:defRPr sz="1250">
                          <a:solidFill>
                            <a:srgbClr val="0F172A"/>
                          </a:solidFill>
                          <a:latin typeface="Arial"/>
                        </a:defRPr>
                      </a:pPr>
                      <a:r>
                        <a:t>App (Ứng dụng)</a:t>
                      </a:r>
                    </a:p>
                  </a:txBody>
                  <a:tcPr>
                    <a:solidFill>
                      <a:srgbClr val="FFFFFF"/>
                    </a:solidFill>
                  </a:tcPr>
                </a:tc>
                <a:tc>
                  <a:txBody>
                    <a:bodyPr/>
                    <a:lstStyle/>
                    <a:p>
                      <a:pPr algn="ctr">
                        <a:defRPr sz="1250">
                          <a:solidFill>
                            <a:srgbClr val="0F172A"/>
                          </a:solidFill>
                          <a:latin typeface="Arial"/>
                        </a:defRPr>
                      </a:pPr>
                      <a:r>
                        <a:t>183</a:t>
                      </a:r>
                    </a:p>
                  </a:txBody>
                  <a:tcPr>
                    <a:solidFill>
                      <a:srgbClr val="FFFFFF"/>
                    </a:solidFill>
                  </a:tcPr>
                </a:tc>
                <a:tc>
                  <a:txBody>
                    <a:bodyPr/>
                    <a:lstStyle/>
                    <a:p>
                      <a:pPr algn="ctr">
                        <a:defRPr sz="1250">
                          <a:solidFill>
                            <a:srgbClr val="0F172A"/>
                          </a:solidFill>
                          <a:latin typeface="Arial"/>
                        </a:defRPr>
                      </a:pPr>
                      <a:r>
                        <a:t>86.89%</a:t>
                      </a:r>
                    </a:p>
                  </a:txBody>
                  <a:tcPr>
                    <a:solidFill>
                      <a:srgbClr val="FFFFFF"/>
                    </a:solidFill>
                  </a:tcPr>
                </a:tc>
                <a:tc>
                  <a:txBody>
                    <a:bodyPr/>
                    <a:lstStyle/>
                    <a:p>
                      <a:pPr algn="ctr">
                        <a:defRPr sz="1250">
                          <a:solidFill>
                            <a:srgbClr val="0F172A"/>
                          </a:solidFill>
                          <a:latin typeface="Arial"/>
                        </a:defRPr>
                      </a:pPr>
                      <a:r>
                        <a:t>80.21%</a:t>
                      </a:r>
                    </a:p>
                  </a:txBody>
                  <a:tcPr>
                    <a:solidFill>
                      <a:srgbClr val="FFFFFF"/>
                    </a:solidFill>
                  </a:tcPr>
                </a:tc>
                <a:tc>
                  <a:txBody>
                    <a:bodyPr/>
                    <a:lstStyle/>
                    <a:p>
                      <a:pPr algn="ctr">
                        <a:defRPr sz="1250">
                          <a:solidFill>
                            <a:srgbClr val="0F172A"/>
                          </a:solidFill>
                          <a:latin typeface="Arial"/>
                        </a:defRPr>
                      </a:pPr>
                      <a:r>
                        <a:t>98.37%</a:t>
                      </a:r>
                    </a:p>
                  </a:txBody>
                  <a:tcPr>
                    <a:solidFill>
                      <a:srgbClr val="FFFFFF"/>
                    </a:solidFill>
                  </a:tcPr>
                </a:tc>
              </a:tr>
              <a:tr h="609600">
                <a:tc>
                  <a:txBody>
                    <a:bodyPr/>
                    <a:lstStyle/>
                    <a:p>
                      <a:pPr algn="l">
                        <a:defRPr sz="1250">
                          <a:solidFill>
                            <a:srgbClr val="0F172A"/>
                          </a:solidFill>
                          <a:latin typeface="Arial"/>
                        </a:defRPr>
                      </a:pPr>
                      <a:r>
                        <a:t>Product (Sản phẩm)</a:t>
                      </a:r>
                    </a:p>
                  </a:txBody>
                  <a:tcPr>
                    <a:solidFill>
                      <a:srgbClr val="F8FAFC"/>
                    </a:solidFill>
                  </a:tcPr>
                </a:tc>
                <a:tc>
                  <a:txBody>
                    <a:bodyPr/>
                    <a:lstStyle/>
                    <a:p>
                      <a:pPr algn="ctr">
                        <a:defRPr sz="1250">
                          <a:solidFill>
                            <a:srgbClr val="0F172A"/>
                          </a:solidFill>
                          <a:latin typeface="Arial"/>
                        </a:defRPr>
                      </a:pPr>
                      <a:r>
                        <a:t>348</a:t>
                      </a:r>
                    </a:p>
                  </a:txBody>
                  <a:tcPr>
                    <a:solidFill>
                      <a:srgbClr val="F8FAFC"/>
                    </a:solidFill>
                  </a:tcPr>
                </a:tc>
                <a:tc>
                  <a:txBody>
                    <a:bodyPr/>
                    <a:lstStyle/>
                    <a:p>
                      <a:pPr algn="ctr">
                        <a:defRPr sz="1250">
                          <a:solidFill>
                            <a:srgbClr val="0F172A"/>
                          </a:solidFill>
                          <a:latin typeface="Arial"/>
                        </a:defRPr>
                      </a:pPr>
                      <a:r>
                        <a:t>90.11%</a:t>
                      </a:r>
                    </a:p>
                  </a:txBody>
                  <a:tcPr>
                    <a:solidFill>
                      <a:srgbClr val="F8FAFC"/>
                    </a:solidFill>
                  </a:tcPr>
                </a:tc>
                <a:tc>
                  <a:txBody>
                    <a:bodyPr/>
                    <a:lstStyle/>
                    <a:p>
                      <a:pPr algn="ctr">
                        <a:defRPr sz="1250">
                          <a:solidFill>
                            <a:srgbClr val="0F172A"/>
                          </a:solidFill>
                          <a:latin typeface="Arial"/>
                        </a:defRPr>
                      </a:pPr>
                      <a:r>
                        <a:t>85.29%</a:t>
                      </a:r>
                    </a:p>
                  </a:txBody>
                  <a:tcPr>
                    <a:solidFill>
                      <a:srgbClr val="F8FAFC"/>
                    </a:solidFill>
                  </a:tcPr>
                </a:tc>
                <a:tc>
                  <a:txBody>
                    <a:bodyPr/>
                    <a:lstStyle/>
                    <a:p>
                      <a:pPr algn="ctr">
                        <a:defRPr sz="1250">
                          <a:solidFill>
                            <a:srgbClr val="0F172A"/>
                          </a:solidFill>
                          <a:latin typeface="Arial"/>
                        </a:defRPr>
                      </a:pPr>
                      <a:r>
                        <a:t>96.22%</a:t>
                      </a:r>
                    </a:p>
                  </a:txBody>
                  <a:tcPr>
                    <a:solidFill>
                      <a:srgbClr val="F8FAFC"/>
                    </a:solidFill>
                  </a:tcPr>
                </a:tc>
              </a:tr>
              <a:tr h="609600">
                <a:tc>
                  <a:txBody>
                    <a:bodyPr/>
                    <a:lstStyle/>
                    <a:p>
                      <a:pPr algn="l">
                        <a:defRPr sz="1250">
                          <a:solidFill>
                            <a:srgbClr val="0F172A"/>
                          </a:solidFill>
                          <a:latin typeface="Arial"/>
                        </a:defRPr>
                      </a:pPr>
                      <a:r>
                        <a:t>Service (Dịch vụ)</a:t>
                      </a:r>
                    </a:p>
                  </a:txBody>
                  <a:tcPr>
                    <a:solidFill>
                      <a:srgbClr val="FFFFFF"/>
                    </a:solidFill>
                  </a:tcPr>
                </a:tc>
                <a:tc>
                  <a:txBody>
                    <a:bodyPr/>
                    <a:lstStyle/>
                    <a:p>
                      <a:pPr algn="ctr">
                        <a:defRPr sz="1250">
                          <a:solidFill>
                            <a:srgbClr val="0F172A"/>
                          </a:solidFill>
                          <a:latin typeface="Arial"/>
                        </a:defRPr>
                      </a:pPr>
                      <a:r>
                        <a:t>67</a:t>
                      </a:r>
                    </a:p>
                  </a:txBody>
                  <a:tcPr>
                    <a:solidFill>
                      <a:srgbClr val="FFFFFF"/>
                    </a:solidFill>
                  </a:tcPr>
                </a:tc>
                <a:tc>
                  <a:txBody>
                    <a:bodyPr/>
                    <a:lstStyle/>
                    <a:p>
                      <a:pPr algn="ctr">
                        <a:defRPr sz="1250">
                          <a:solidFill>
                            <a:srgbClr val="0F172A"/>
                          </a:solidFill>
                          <a:latin typeface="Arial"/>
                        </a:defRPr>
                      </a:pPr>
                      <a:r>
                        <a:t>55.32%</a:t>
                      </a:r>
                    </a:p>
                  </a:txBody>
                  <a:tcPr>
                    <a:solidFill>
                      <a:srgbClr val="FFFFFF"/>
                    </a:solidFill>
                  </a:tcPr>
                </a:tc>
                <a:tc>
                  <a:txBody>
                    <a:bodyPr/>
                    <a:lstStyle/>
                    <a:p>
                      <a:pPr algn="ctr">
                        <a:defRPr sz="1250">
                          <a:solidFill>
                            <a:srgbClr val="0F172A"/>
                          </a:solidFill>
                          <a:latin typeface="Arial"/>
                        </a:defRPr>
                      </a:pPr>
                      <a:r>
                        <a:t>45.52%</a:t>
                      </a:r>
                    </a:p>
                  </a:txBody>
                  <a:tcPr>
                    <a:solidFill>
                      <a:srgbClr val="FFFFFF"/>
                    </a:solidFill>
                  </a:tcPr>
                </a:tc>
                <a:tc>
                  <a:txBody>
                    <a:bodyPr/>
                    <a:lstStyle/>
                    <a:p>
                      <a:pPr algn="ctr">
                        <a:defRPr sz="1250">
                          <a:solidFill>
                            <a:srgbClr val="0F172A"/>
                          </a:solidFill>
                          <a:latin typeface="Arial"/>
                        </a:defRPr>
                      </a:pPr>
                      <a:r>
                        <a:t>94.81%</a:t>
                      </a:r>
                    </a:p>
                  </a:txBody>
                  <a:tcPr>
                    <a:solidFill>
                      <a:srgbClr val="FFFFFF"/>
                    </a:solidFill>
                  </a:tcPr>
                </a:tc>
              </a:tr>
            </a:tbl>
          </a:graphicData>
        </a:graphic>
      </p:graphicFrame>
      <p:sp>
        <p:nvSpPr>
          <p:cNvPr id="6" name="Rounded Rectangle 5"/>
          <p:cNvSpPr/>
          <p:nvPr/>
        </p:nvSpPr>
        <p:spPr>
          <a:xfrm>
            <a:off x="822960" y="6035040"/>
            <a:ext cx="1024128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600" b="1">
                <a:solidFill>
                  <a:srgbClr val="0E8C61"/>
                </a:solidFill>
                <a:latin typeface="Arial"/>
              </a:defRPr>
            </a:pPr>
            <a:r>
              <a:t>Phân tích đặc trưng ngữ nghĩa khía cạnh</a:t>
            </a:r>
          </a:p>
          <a:p>
            <a:pPr>
              <a:spcAft>
                <a:spcPts val="800"/>
              </a:spcAft>
              <a:defRPr sz="1350">
                <a:solidFill>
                  <a:srgbClr val="0F172A"/>
                </a:solidFill>
                <a:latin typeface="Arial"/>
              </a:defRPr>
            </a:pPr>
            <a:r>
              <a:t>• Giá cả &amp; Giao vận (Price, Delivery): PhoBERT đạt hiệu năng gần như hoàn hảo (&gt;98%) nhờ học ngữ cảnh tốt xung quanh từ khóa nhạy cảm giá (rẻ, đắt) và vận chuyển (giao nhanh, ship).</a:t>
            </a:r>
          </a:p>
          <a:p>
            <a:pPr>
              <a:spcAft>
                <a:spcPts val="800"/>
              </a:spcAft>
              <a:defRPr sz="1350">
                <a:solidFill>
                  <a:srgbClr val="0F172A"/>
                </a:solidFill>
                <a:latin typeface="Arial"/>
              </a:defRPr>
            </a:pPr>
            <a:r>
              <a:t>• Sản phẩm &amp; Ứng dụng (Product, App): Đạt F1-score xuất sắc (&gt;96%), chứng minh PhoBERT trích xuất đặc trưng ngữ nghĩa rất tốt đối với ngôn ngữ TMĐT đa dạng.</a:t>
            </a:r>
          </a:p>
          <a:p>
            <a:pPr>
              <a:spcAft>
                <a:spcPts val="800"/>
              </a:spcAft>
              <a:defRPr sz="1350">
                <a:solidFill>
                  <a:srgbClr val="0F172A"/>
                </a:solidFill>
                <a:latin typeface="Arial"/>
              </a:defRPr>
            </a:pPr>
            <a:r>
              <a:t>• Dịch vụ (Service): Là khía cạnh khó nhất nhưng PhoBERT vẫn bứt phá đạt 94.81% F1-score (so với SVM 55.32% và Bi-LSTM 45.52%) nhờ cơ chế Attention đa đầu liên kết ngữ nghĩa từ xa.</a:t>
            </a:r>
          </a:p>
        </p:txBody>
      </p:sp>
      <p:graphicFrame>
        <p:nvGraphicFramePr>
          <p:cNvPr id="7" name="Chart 6"/>
          <p:cNvGraphicFramePr>
            <a:graphicFrameLocks noGrp="1"/>
          </p:cNvGraphicFramePr>
          <p:nvPr/>
        </p:nvGraphicFramePr>
        <p:xfrm>
          <a:off x="11521440" y="2011680"/>
          <a:ext cx="5943600" cy="5303520"/>
        </p:xfrm>
        <a:graphic>
          <a:graphicData uri="http://schemas.openxmlformats.org/drawingml/2006/chart">
            <c:chart xmlns:c="http://schemas.openxmlformats.org/drawingml/2006/chart" r:id="rId3"/>
          </a:graphicData>
        </a:graphic>
      </p:graphicFrame>
      <p:sp>
        <p:nvSpPr>
          <p:cNvPr id="8" name="TextBox 7"/>
          <p:cNvSpPr txBox="1"/>
          <p:nvPr/>
        </p:nvSpPr>
        <p:spPr>
          <a:xfrm>
            <a:off x="11521440" y="7589520"/>
            <a:ext cx="5943600" cy="1371600"/>
          </a:xfrm>
          <a:prstGeom prst="rect">
            <a:avLst/>
          </a:prstGeom>
          <a:noFill/>
        </p:spPr>
        <p:txBody>
          <a:bodyPr wrap="square">
            <a:spAutoFit/>
          </a:bodyPr>
          <a:lstStyle/>
          <a:p>
            <a:pPr algn="ctr">
              <a:defRPr sz="1300">
                <a:solidFill>
                  <a:srgbClr val="475569"/>
                </a:solidFill>
                <a:latin typeface="Arial"/>
              </a:defRPr>
            </a:pPr>
            <a:r>
              <a:t>Biểu đồ trực quan hóa kết quả thực nghiệm chi tiết F1-score của 5 khía cạnh. Cho thấy sự ổn định vượt trội của mô hình SVM trên Price, và Bi-LSTM trên App.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So sánh Phân tích Cảm xúc Câu vs ABSA</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Động lực nghiên cứu và giá trị thực tiễn đối với E-commerce Big Data</a:t>
            </a:r>
          </a:p>
        </p:txBody>
      </p:sp>
      <p:graphicFrame>
        <p:nvGraphicFramePr>
          <p:cNvPr id="5" name="Table 4"/>
          <p:cNvGraphicFramePr>
            <a:graphicFrameLocks noGrp="1"/>
          </p:cNvGraphicFramePr>
          <p:nvPr/>
        </p:nvGraphicFramePr>
        <p:xfrm>
          <a:off x="822960" y="2011680"/>
          <a:ext cx="10241280" cy="3200400"/>
        </p:xfrm>
        <a:graphic>
          <a:graphicData uri="http://schemas.openxmlformats.org/drawingml/2006/table">
            <a:tbl>
              <a:tblPr firstRow="1" bandRow="1">
                <a:tableStyleId>{5C22544A-7EE6-4342-B048-85BDC9FD1C3A}</a:tableStyleId>
              </a:tblPr>
              <a:tblGrid>
                <a:gridCol w="3413760"/>
                <a:gridCol w="3413760"/>
                <a:gridCol w="3413760"/>
              </a:tblGrid>
              <a:tr h="640080">
                <a:tc>
                  <a:txBody>
                    <a:bodyPr/>
                    <a:lstStyle/>
                    <a:p>
                      <a:pPr algn="ctr">
                        <a:defRPr sz="1250" b="1">
                          <a:solidFill>
                            <a:srgbClr val="FFFFFF"/>
                          </a:solidFill>
                          <a:latin typeface="Arial"/>
                        </a:defRPr>
                      </a:pPr>
                      <a:r>
                        <a:t>Tiêu chí so sánh</a:t>
                      </a:r>
                    </a:p>
                  </a:txBody>
                  <a:tcPr>
                    <a:solidFill>
                      <a:srgbClr val="0E8C61"/>
                    </a:solidFill>
                  </a:tcPr>
                </a:tc>
                <a:tc>
                  <a:txBody>
                    <a:bodyPr/>
                    <a:lstStyle/>
                    <a:p>
                      <a:pPr algn="ctr">
                        <a:defRPr sz="1250" b="1">
                          <a:solidFill>
                            <a:srgbClr val="FFFFFF"/>
                          </a:solidFill>
                          <a:latin typeface="Arial"/>
                        </a:defRPr>
                      </a:pPr>
                      <a:r>
                        <a:t>Sentence-level Sentiment</a:t>
                      </a:r>
                    </a:p>
                  </a:txBody>
                  <a:tcPr>
                    <a:solidFill>
                      <a:srgbClr val="0E8C61"/>
                    </a:solidFill>
                  </a:tcPr>
                </a:tc>
                <a:tc>
                  <a:txBody>
                    <a:bodyPr/>
                    <a:lstStyle/>
                    <a:p>
                      <a:pPr algn="ctr">
                        <a:defRPr sz="1250" b="1">
                          <a:solidFill>
                            <a:srgbClr val="FFFFFF"/>
                          </a:solidFill>
                          <a:latin typeface="Arial"/>
                        </a:defRPr>
                      </a:pPr>
                      <a:r>
                        <a:t>Aspect-Based Sentiment (ABSA)</a:t>
                      </a:r>
                    </a:p>
                  </a:txBody>
                  <a:tcPr>
                    <a:solidFill>
                      <a:srgbClr val="0E8C61"/>
                    </a:solidFill>
                  </a:tcPr>
                </a:tc>
              </a:tr>
              <a:tr h="640080">
                <a:tc>
                  <a:txBody>
                    <a:bodyPr/>
                    <a:lstStyle/>
                    <a:p>
                      <a:pPr algn="l">
                        <a:defRPr sz="1250">
                          <a:solidFill>
                            <a:srgbClr val="0F172A"/>
                          </a:solidFill>
                          <a:latin typeface="Arial"/>
                        </a:defRPr>
                      </a:pPr>
                      <a:r>
                        <a:t>Xử lý câu hỗn hợp</a:t>
                      </a:r>
                    </a:p>
                  </a:txBody>
                  <a:tcPr>
                    <a:solidFill>
                      <a:srgbClr val="FFFFFF"/>
                    </a:solidFill>
                  </a:tcPr>
                </a:tc>
                <a:tc>
                  <a:txBody>
                    <a:bodyPr/>
                    <a:lstStyle/>
                    <a:p>
                      <a:pPr algn="ctr">
                        <a:defRPr sz="1250">
                          <a:solidFill>
                            <a:srgbClr val="0F172A"/>
                          </a:solidFill>
                          <a:latin typeface="Arial"/>
                        </a:defRPr>
                      </a:pPr>
                      <a:r>
                        <a:t>Thất bại (nhận diện sai hoặc trung tính)</a:t>
                      </a:r>
                    </a:p>
                  </a:txBody>
                  <a:tcPr>
                    <a:solidFill>
                      <a:srgbClr val="FFFFFF"/>
                    </a:solidFill>
                  </a:tcPr>
                </a:tc>
                <a:tc>
                  <a:txBody>
                    <a:bodyPr/>
                    <a:lstStyle/>
                    <a:p>
                      <a:pPr algn="ctr">
                        <a:defRPr sz="1250">
                          <a:solidFill>
                            <a:srgbClr val="0F172A"/>
                          </a:solidFill>
                          <a:latin typeface="Arial"/>
                        </a:defRPr>
                      </a:pPr>
                      <a:r>
                        <a:t>Xuất sắc (bóc tách rõ từng vế khía cạnh)</a:t>
                      </a:r>
                    </a:p>
                  </a:txBody>
                  <a:tcPr>
                    <a:solidFill>
                      <a:srgbClr val="FFFFFF"/>
                    </a:solidFill>
                  </a:tcPr>
                </a:tc>
              </a:tr>
              <a:tr h="640080">
                <a:tc>
                  <a:txBody>
                    <a:bodyPr/>
                    <a:lstStyle/>
                    <a:p>
                      <a:pPr algn="l">
                        <a:defRPr sz="1250">
                          <a:solidFill>
                            <a:srgbClr val="0F172A"/>
                          </a:solidFill>
                          <a:latin typeface="Arial"/>
                        </a:defRPr>
                      </a:pPr>
                      <a:r>
                        <a:t>Mức độ chi tiết</a:t>
                      </a:r>
                    </a:p>
                  </a:txBody>
                  <a:tcPr>
                    <a:solidFill>
                      <a:srgbClr val="F8FAFC"/>
                    </a:solidFill>
                  </a:tcPr>
                </a:tc>
                <a:tc>
                  <a:txBody>
                    <a:bodyPr/>
                    <a:lstStyle/>
                    <a:p>
                      <a:pPr algn="ctr">
                        <a:defRPr sz="1250">
                          <a:solidFill>
                            <a:srgbClr val="0F172A"/>
                          </a:solidFill>
                          <a:latin typeface="Arial"/>
                        </a:defRPr>
                      </a:pPr>
                      <a:r>
                        <a:t>Chỉ gán 1 nhãn cảm xúc chung cả câu</a:t>
                      </a:r>
                    </a:p>
                  </a:txBody>
                  <a:tcPr>
                    <a:solidFill>
                      <a:srgbClr val="F8FAFC"/>
                    </a:solidFill>
                  </a:tcPr>
                </a:tc>
                <a:tc>
                  <a:txBody>
                    <a:bodyPr/>
                    <a:lstStyle/>
                    <a:p>
                      <a:pPr algn="ctr">
                        <a:defRPr sz="1250">
                          <a:solidFill>
                            <a:srgbClr val="0F172A"/>
                          </a:solidFill>
                          <a:latin typeface="Arial"/>
                        </a:defRPr>
                      </a:pPr>
                      <a:r>
                        <a:t>Gán nhãn chi tiết cho từng khía cạnh con</a:t>
                      </a:r>
                    </a:p>
                  </a:txBody>
                  <a:tcPr>
                    <a:solidFill>
                      <a:srgbClr val="F8FAFC"/>
                    </a:solidFill>
                  </a:tcPr>
                </a:tc>
              </a:tr>
              <a:tr h="640080">
                <a:tc>
                  <a:txBody>
                    <a:bodyPr/>
                    <a:lstStyle/>
                    <a:p>
                      <a:pPr algn="l">
                        <a:defRPr sz="1250">
                          <a:solidFill>
                            <a:srgbClr val="0F172A"/>
                          </a:solidFill>
                          <a:latin typeface="Arial"/>
                        </a:defRPr>
                      </a:pPr>
                      <a:r>
                        <a:t>Giá trị kinh doanh</a:t>
                      </a:r>
                    </a:p>
                  </a:txBody>
                  <a:tcPr>
                    <a:solidFill>
                      <a:srgbClr val="FFFFFF"/>
                    </a:solidFill>
                  </a:tcPr>
                </a:tc>
                <a:tc>
                  <a:txBody>
                    <a:bodyPr/>
                    <a:lstStyle/>
                    <a:p>
                      <a:pPr algn="ctr">
                        <a:defRPr sz="1250">
                          <a:solidFill>
                            <a:srgbClr val="0F172A"/>
                          </a:solidFill>
                          <a:latin typeface="Arial"/>
                        </a:defRPr>
                      </a:pPr>
                      <a:r>
                        <a:t>Thấp (chỉ biết tỷ lệ hài lòng chung)</a:t>
                      </a:r>
                    </a:p>
                  </a:txBody>
                  <a:tcPr>
                    <a:solidFill>
                      <a:srgbClr val="FFFFFF"/>
                    </a:solidFill>
                  </a:tcPr>
                </a:tc>
                <a:tc>
                  <a:txBody>
                    <a:bodyPr/>
                    <a:lstStyle/>
                    <a:p>
                      <a:pPr algn="ctr">
                        <a:defRPr sz="1250">
                          <a:solidFill>
                            <a:srgbClr val="0F172A"/>
                          </a:solidFill>
                          <a:latin typeface="Arial"/>
                        </a:defRPr>
                      </a:pPr>
                      <a:r>
                        <a:t>Rất cao (định vị chính xác điểm nghẽn)</a:t>
                      </a:r>
                    </a:p>
                  </a:txBody>
                  <a:tcPr>
                    <a:solidFill>
                      <a:srgbClr val="FFFFFF"/>
                    </a:solidFill>
                  </a:tcPr>
                </a:tc>
              </a:tr>
              <a:tr h="640080">
                <a:tc>
                  <a:txBody>
                    <a:bodyPr/>
                    <a:lstStyle/>
                    <a:p>
                      <a:pPr algn="l">
                        <a:defRPr sz="1250">
                          <a:solidFill>
                            <a:srgbClr val="0F172A"/>
                          </a:solidFill>
                          <a:latin typeface="Arial"/>
                        </a:defRPr>
                      </a:pPr>
                      <a:r>
                        <a:t>Chi phí gán nhãn</a:t>
                      </a:r>
                    </a:p>
                  </a:txBody>
                  <a:tcPr>
                    <a:solidFill>
                      <a:srgbClr val="F8FAFC"/>
                    </a:solidFill>
                  </a:tcPr>
                </a:tc>
                <a:tc>
                  <a:txBody>
                    <a:bodyPr/>
                    <a:lstStyle/>
                    <a:p>
                      <a:pPr algn="ctr">
                        <a:defRPr sz="1250">
                          <a:solidFill>
                            <a:srgbClr val="0F172A"/>
                          </a:solidFill>
                          <a:latin typeface="Arial"/>
                        </a:defRPr>
                      </a:pPr>
                      <a:r>
                        <a:t>Thấp (có thể tự động gán qua số sao)</a:t>
                      </a:r>
                    </a:p>
                  </a:txBody>
                  <a:tcPr>
                    <a:solidFill>
                      <a:srgbClr val="F8FAFC"/>
                    </a:solidFill>
                  </a:tcPr>
                </a:tc>
                <a:tc>
                  <a:txBody>
                    <a:bodyPr/>
                    <a:lstStyle/>
                    <a:p>
                      <a:pPr algn="ctr">
                        <a:defRPr sz="1250">
                          <a:solidFill>
                            <a:srgbClr val="0F172A"/>
                          </a:solidFill>
                          <a:latin typeface="Arial"/>
                        </a:defRPr>
                      </a:pPr>
                      <a:r>
                        <a:t>Rất cao (đòi hỏi con người đọc hiểu sâu)</a:t>
                      </a:r>
                    </a:p>
                  </a:txBody>
                  <a:tcPr>
                    <a:solidFill>
                      <a:srgbClr val="F8FAFC"/>
                    </a:solidFill>
                  </a:tcPr>
                </a:tc>
              </a:tr>
            </a:tbl>
          </a:graphicData>
        </a:graphic>
      </p:graphicFrame>
      <p:sp>
        <p:nvSpPr>
          <p:cNvPr id="6" name="Rounded Rectangle 5"/>
          <p:cNvSpPr/>
          <p:nvPr/>
        </p:nvSpPr>
        <p:spPr>
          <a:xfrm>
            <a:off x="822960" y="5486400"/>
            <a:ext cx="102412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600" b="1">
                <a:solidFill>
                  <a:srgbClr val="0E8C61"/>
                </a:solidFill>
                <a:latin typeface="Arial"/>
              </a:defRPr>
            </a:pPr>
            <a:r>
              <a:t>Động lực học thuật &amp; Nghiệp vụ</a:t>
            </a:r>
          </a:p>
          <a:p>
            <a:pPr>
              <a:spcAft>
                <a:spcPts val="800"/>
              </a:spcAft>
              <a:defRPr sz="1350">
                <a:solidFill>
                  <a:srgbClr val="0F172A"/>
                </a:solidFill>
                <a:latin typeface="Arial"/>
              </a:defRPr>
            </a:pPr>
            <a:r>
              <a:t>• Động lực giải quyết câu hỗn hợp: Ví dụ câu phức 'Giao hàng cực kỳ nhanh nhưng chất lượng sản phẩm quá tệ' -&gt; Phân tích cảm xúc thông thường sẽ bị lỗi, nhưng ABSA chỉ ra rõ: Giao hàng (Positive) và Sản phẩm (Negative).</a:t>
            </a:r>
          </a:p>
          <a:p>
            <a:pPr>
              <a:spcAft>
                <a:spcPts val="800"/>
              </a:spcAft>
              <a:defRPr sz="1350">
                <a:solidFill>
                  <a:srgbClr val="0F172A"/>
                </a:solidFill>
                <a:latin typeface="Arial"/>
              </a:defRPr>
            </a:pPr>
            <a:r>
              <a:t>• Định vị 'Điểm nghẽn' CSKH: Giúp doanh nghiệp định vị chính xác bộ phận nào đang hoạt động kém (ví dụ: khâu Dịch vụ CSKH bị chê nhiều nhất) để tiến hành tối ưu hóa.</a:t>
            </a:r>
          </a:p>
          <a:p>
            <a:pPr>
              <a:spcAft>
                <a:spcPts val="800"/>
              </a:spcAft>
              <a:defRPr sz="1350">
                <a:solidFill>
                  <a:srgbClr val="0F172A"/>
                </a:solidFill>
                <a:latin typeface="Arial"/>
              </a:defRPr>
            </a:pPr>
            <a:r>
              <a:t>• eWOM &amp; Khung chiến lược: Kết quả ABSA là nền tảng để áp dụng vào phân tích ý kiến khách hàng và ra quyết định kinh doanh.</a:t>
            </a:r>
          </a:p>
        </p:txBody>
      </p:sp>
      <p:sp>
        <p:nvSpPr>
          <p:cNvPr id="7" name="Rounded Rectangle 6"/>
          <p:cNvSpPr/>
          <p:nvPr/>
        </p:nvSpPr>
        <p:spPr>
          <a:xfrm>
            <a:off x="11521440" y="2011680"/>
            <a:ext cx="5943600" cy="7589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04320" y="2194560"/>
            <a:ext cx="5577840" cy="457200"/>
          </a:xfrm>
          <a:prstGeom prst="rect">
            <a:avLst/>
          </a:prstGeom>
          <a:noFill/>
        </p:spPr>
        <p:txBody>
          <a:bodyPr wrap="square">
            <a:spAutoFit/>
          </a:bodyPr>
          <a:lstStyle/>
          <a:p>
            <a:pPr algn="ctr">
              <a:defRPr b="1" sz="1500">
                <a:solidFill>
                  <a:srgbClr val="0E8C61"/>
                </a:solidFill>
                <a:latin typeface="Arial"/>
              </a:defRPr>
            </a:pPr>
            <a:r>
              <a:t>Sơ đồ bóc tách câu phức trong ABSA</a:t>
            </a:r>
          </a:p>
        </p:txBody>
      </p:sp>
      <p:sp>
        <p:nvSpPr>
          <p:cNvPr id="9" name="Rounded Rectangle 8"/>
          <p:cNvSpPr/>
          <p:nvPr/>
        </p:nvSpPr>
        <p:spPr>
          <a:xfrm>
            <a:off x="11887200" y="2926080"/>
            <a:ext cx="5212080" cy="1188720"/>
          </a:xfrm>
          <a:prstGeom prst="roundRect">
            <a:avLst/>
          </a:prstGeom>
          <a:solidFill>
            <a:srgbClr val="F1F5F9"/>
          </a:solidFill>
          <a:ln w="19050">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0F172A"/>
                </a:solidFill>
                <a:latin typeface="Arial"/>
              </a:defRPr>
            </a:pPr>
            <a:r>
              <a:t>Câu gốc: "Giao hàng cực kỳ nhanh nhưng chất lượng sản phẩm quá tệ"</a:t>
            </a:r>
          </a:p>
        </p:txBody>
      </p:sp>
      <p:sp>
        <p:nvSpPr>
          <p:cNvPr id="10" name="Down Arrow 9"/>
          <p:cNvSpPr/>
          <p:nvPr/>
        </p:nvSpPr>
        <p:spPr>
          <a:xfrm>
            <a:off x="12984480" y="4297680"/>
            <a:ext cx="457200" cy="640080"/>
          </a:xfrm>
          <a:prstGeom prst="downArrow">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15453359" y="4297680"/>
            <a:ext cx="457200" cy="640080"/>
          </a:xfrm>
          <a:prstGeom prst="downArrow">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704320" y="5120640"/>
            <a:ext cx="2651760" cy="2011680"/>
          </a:xfrm>
          <a:prstGeom prst="roundRect">
            <a:avLst/>
          </a:prstGeom>
          <a:solidFill>
            <a:srgbClr val="DCFCE7"/>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200">
                <a:solidFill>
                  <a:srgbClr val="0F172A"/>
                </a:solidFill>
              </a:defRPr>
            </a:pPr>
            <a:r>
              <a:t>Vế 1: "Giao hàng cực kỳ nhanh"</a:t>
            </a:r>
          </a:p>
          <a:p>
            <a:pPr>
              <a:spcAft>
                <a:spcPts val="1000"/>
              </a:spcAft>
              <a:defRPr sz="1200">
                <a:solidFill>
                  <a:srgbClr val="475569"/>
                </a:solidFill>
              </a:defRPr>
            </a:pPr>
            <a:r>
              <a:t>• Khía cạnh: Giao hàng</a:t>
            </a:r>
            <a:br/>
            <a:r>
              <a:t>  (Delivery)</a:t>
            </a:r>
          </a:p>
          <a:p>
            <a:pPr>
              <a:defRPr b="1" sz="1200">
                <a:solidFill>
                  <a:srgbClr val="15803D"/>
                </a:solidFill>
              </a:defRPr>
            </a:pPr>
            <a:r>
              <a:t>Cảm xúc: TÍCH CỰC</a:t>
            </a:r>
          </a:p>
        </p:txBody>
      </p:sp>
      <p:sp>
        <p:nvSpPr>
          <p:cNvPr id="13" name="Rounded Rectangle 12"/>
          <p:cNvSpPr/>
          <p:nvPr/>
        </p:nvSpPr>
        <p:spPr>
          <a:xfrm>
            <a:off x="14630400" y="5120640"/>
            <a:ext cx="2651760" cy="2011680"/>
          </a:xfrm>
          <a:prstGeom prst="roundRect">
            <a:avLst/>
          </a:prstGeom>
          <a:solidFill>
            <a:srgbClr val="FEE2E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200">
                <a:solidFill>
                  <a:srgbClr val="0F172A"/>
                </a:solidFill>
              </a:defRPr>
            </a:pPr>
            <a:r>
              <a:t>Vế 2: "nhưng chất lượng... tệ"</a:t>
            </a:r>
          </a:p>
          <a:p>
            <a:pPr>
              <a:spcAft>
                <a:spcPts val="1000"/>
              </a:spcAft>
              <a:defRPr sz="1200">
                <a:solidFill>
                  <a:srgbClr val="475569"/>
                </a:solidFill>
              </a:defRPr>
            </a:pPr>
            <a:r>
              <a:t>• Khía cạnh: Sản phẩm</a:t>
            </a:r>
            <a:br/>
            <a:r>
              <a:t>  (Product)</a:t>
            </a:r>
          </a:p>
          <a:p>
            <a:pPr>
              <a:defRPr b="1" sz="1200">
                <a:solidFill>
                  <a:srgbClr val="B91C1C"/>
                </a:solidFill>
              </a:defRPr>
            </a:pPr>
            <a:r>
              <a:t>Cảm xúc: TIÊU CỰC</a:t>
            </a:r>
          </a:p>
        </p:txBody>
      </p:sp>
      <p:sp>
        <p:nvSpPr>
          <p:cNvPr id="14" name="TextBox 13"/>
          <p:cNvSpPr txBox="1"/>
          <p:nvPr/>
        </p:nvSpPr>
        <p:spPr>
          <a:xfrm>
            <a:off x="11704320" y="7315200"/>
            <a:ext cx="5577840" cy="1828800"/>
          </a:xfrm>
          <a:prstGeom prst="rect">
            <a:avLst/>
          </a:prstGeom>
          <a:noFill/>
        </p:spPr>
        <p:txBody>
          <a:bodyPr wrap="square">
            <a:spAutoFit/>
          </a:bodyPr>
          <a:lstStyle/>
          <a:p>
            <a:pPr algn="ctr">
              <a:defRPr sz="1250">
                <a:solidFill>
                  <a:srgbClr val="475569"/>
                </a:solidFill>
                <a:latin typeface="Arial"/>
              </a:defRPr>
            </a:pPr>
            <a:r>
              <a:t>Đối với Phân tích cảm xúc thông thường, câu trên chỉ nhận 1 nhãn duy nhất (gây nhiễu). Với ABSA, doanh nghiệp định vị chính xác: hài lòng về Giao hàng nhưng bất mãn về Sản phẩm.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Hiệu quả tính toán &amp; Tối ưu hóa Big Data</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So sánh thời gian xử lý và hiệu quả tài nguyên giữa CPU Local và Cloud GPU</a:t>
            </a:r>
          </a:p>
        </p:txBody>
      </p:sp>
      <p:graphicFrame>
        <p:nvGraphicFramePr>
          <p:cNvPr id="5" name="Table 4"/>
          <p:cNvGraphicFramePr>
            <a:graphicFrameLocks noGrp="1"/>
          </p:cNvGraphicFramePr>
          <p:nvPr/>
        </p:nvGraphicFramePr>
        <p:xfrm>
          <a:off x="822960" y="2011680"/>
          <a:ext cx="10241280" cy="2926080"/>
        </p:xfrm>
        <a:graphic>
          <a:graphicData uri="http://schemas.openxmlformats.org/drawingml/2006/table">
            <a:tbl>
              <a:tblPr firstRow="1" bandRow="1">
                <a:tableStyleId>{5C22544A-7EE6-4342-B048-85BDC9FD1C3A}</a:tableStyleId>
              </a:tblPr>
              <a:tblGrid>
                <a:gridCol w="3413760"/>
                <a:gridCol w="3413760"/>
                <a:gridCol w="3413760"/>
              </a:tblGrid>
              <a:tr h="731520">
                <a:tc>
                  <a:txBody>
                    <a:bodyPr/>
                    <a:lstStyle/>
                    <a:p>
                      <a:pPr algn="ctr">
                        <a:defRPr sz="1250" b="1">
                          <a:solidFill>
                            <a:srgbClr val="FFFFFF"/>
                          </a:solidFill>
                          <a:latin typeface="Arial"/>
                        </a:defRPr>
                      </a:pPr>
                      <a:r>
                        <a:t>Tiêu chí đánh giá</a:t>
                      </a:r>
                    </a:p>
                  </a:txBody>
                  <a:tcPr>
                    <a:solidFill>
                      <a:srgbClr val="0E8C61"/>
                    </a:solidFill>
                  </a:tcPr>
                </a:tc>
                <a:tc>
                  <a:txBody>
                    <a:bodyPr/>
                    <a:lstStyle/>
                    <a:p>
                      <a:pPr algn="ctr">
                        <a:defRPr sz="1250" b="1">
                          <a:solidFill>
                            <a:srgbClr val="FFFFFF"/>
                          </a:solidFill>
                          <a:latin typeface="Arial"/>
                        </a:defRPr>
                      </a:pPr>
                      <a:r>
                        <a:t>Hạ tầng CPU Local (Cục bộ)</a:t>
                      </a:r>
                    </a:p>
                  </a:txBody>
                  <a:tcPr>
                    <a:solidFill>
                      <a:srgbClr val="0E8C61"/>
                    </a:solidFill>
                  </a:tcPr>
                </a:tc>
                <a:tc>
                  <a:txBody>
                    <a:bodyPr/>
                    <a:lstStyle/>
                    <a:p>
                      <a:pPr algn="ctr">
                        <a:defRPr sz="1250" b="1">
                          <a:solidFill>
                            <a:srgbClr val="FFFFFF"/>
                          </a:solidFill>
                          <a:latin typeface="Arial"/>
                        </a:defRPr>
                      </a:pPr>
                      <a:r>
                        <a:t>Hạ tầng Cloud GPU T4 x2 (Kaggle)</a:t>
                      </a:r>
                    </a:p>
                  </a:txBody>
                  <a:tcPr>
                    <a:solidFill>
                      <a:srgbClr val="0E8C61"/>
                    </a:solidFill>
                  </a:tcPr>
                </a:tc>
              </a:tr>
              <a:tr h="731520">
                <a:tc>
                  <a:txBody>
                    <a:bodyPr/>
                    <a:lstStyle/>
                    <a:p>
                      <a:pPr algn="l">
                        <a:defRPr sz="1250">
                          <a:solidFill>
                            <a:srgbClr val="0F172A"/>
                          </a:solidFill>
                          <a:latin typeface="Arial"/>
                        </a:defRPr>
                      </a:pPr>
                      <a:r>
                        <a:t>Train PhoBERT (5 epochs)</a:t>
                      </a:r>
                    </a:p>
                  </a:txBody>
                  <a:tcPr>
                    <a:solidFill>
                      <a:srgbClr val="FFFFFF"/>
                    </a:solidFill>
                  </a:tcPr>
                </a:tc>
                <a:tc>
                  <a:txBody>
                    <a:bodyPr/>
                    <a:lstStyle/>
                    <a:p>
                      <a:pPr algn="ctr">
                        <a:defRPr sz="1250">
                          <a:solidFill>
                            <a:srgbClr val="0F172A"/>
                          </a:solidFill>
                          <a:latin typeface="Arial"/>
                        </a:defRPr>
                      </a:pPr>
                      <a:r>
                        <a:t>&gt; 6 giờ (Không khả thi, dễ nóng máy)</a:t>
                      </a:r>
                    </a:p>
                  </a:txBody>
                  <a:tcPr>
                    <a:solidFill>
                      <a:srgbClr val="FFFFFF"/>
                    </a:solidFill>
                  </a:tcPr>
                </a:tc>
                <a:tc>
                  <a:txBody>
                    <a:bodyPr/>
                    <a:lstStyle/>
                    <a:p>
                      <a:pPr algn="ctr">
                        <a:defRPr sz="1250">
                          <a:solidFill>
                            <a:srgbClr val="0F172A"/>
                          </a:solidFill>
                          <a:latin typeface="Arial"/>
                        </a:defRPr>
                      </a:pPr>
                      <a:r>
                        <a:t>Khoảng 5 - 7 phút (Tăng tốc hơn 60 lần)</a:t>
                      </a:r>
                    </a:p>
                  </a:txBody>
                  <a:tcPr>
                    <a:solidFill>
                      <a:srgbClr val="FFFFFF"/>
                    </a:solidFill>
                  </a:tcPr>
                </a:tc>
              </a:tr>
              <a:tr h="731520">
                <a:tc>
                  <a:txBody>
                    <a:bodyPr/>
                    <a:lstStyle/>
                    <a:p>
                      <a:pPr algn="l">
                        <a:defRPr sz="1250">
                          <a:solidFill>
                            <a:srgbClr val="0F172A"/>
                          </a:solidFill>
                          <a:latin typeface="Arial"/>
                        </a:defRPr>
                      </a:pPr>
                      <a:r>
                        <a:t>Thời gian Suy luận (Latency)</a:t>
                      </a:r>
                    </a:p>
                  </a:txBody>
                  <a:tcPr>
                    <a:solidFill>
                      <a:srgbClr val="F8FAFC"/>
                    </a:solidFill>
                  </a:tcPr>
                </a:tc>
                <a:tc>
                  <a:txBody>
                    <a:bodyPr/>
                    <a:lstStyle/>
                    <a:p>
                      <a:pPr algn="ctr">
                        <a:defRPr sz="1250">
                          <a:solidFill>
                            <a:srgbClr val="0F172A"/>
                          </a:solidFill>
                          <a:latin typeface="Arial"/>
                        </a:defRPr>
                      </a:pPr>
                      <a:r>
                        <a:t>SVM: &lt; 0.001s / PhoBERT: ~1.2s</a:t>
                      </a:r>
                    </a:p>
                  </a:txBody>
                  <a:tcPr>
                    <a:solidFill>
                      <a:srgbClr val="F8FAFC"/>
                    </a:solidFill>
                  </a:tcPr>
                </a:tc>
                <a:tc>
                  <a:txBody>
                    <a:bodyPr/>
                    <a:lstStyle/>
                    <a:p>
                      <a:pPr algn="ctr">
                        <a:defRPr sz="1250">
                          <a:solidFill>
                            <a:srgbClr val="0F172A"/>
                          </a:solidFill>
                          <a:latin typeface="Arial"/>
                        </a:defRPr>
                      </a:pPr>
                      <a:r>
                        <a:t>PhoBERT: ~0.05s (Chạy real-time cực mượt)</a:t>
                      </a:r>
                    </a:p>
                  </a:txBody>
                  <a:tcPr>
                    <a:solidFill>
                      <a:srgbClr val="F8FAFC"/>
                    </a:solidFill>
                  </a:tcPr>
                </a:tc>
              </a:tr>
              <a:tr h="731520">
                <a:tc>
                  <a:txBody>
                    <a:bodyPr/>
                    <a:lstStyle/>
                    <a:p>
                      <a:pPr algn="l">
                        <a:defRPr sz="1250">
                          <a:solidFill>
                            <a:srgbClr val="0F172A"/>
                          </a:solidFill>
                          <a:latin typeface="Arial"/>
                        </a:defRPr>
                      </a:pPr>
                      <a:r>
                        <a:t>Batch Prediction (100k reviews)</a:t>
                      </a:r>
                    </a:p>
                  </a:txBody>
                  <a:tcPr>
                    <a:solidFill>
                      <a:srgbClr val="FFFFFF"/>
                    </a:solidFill>
                  </a:tcPr>
                </a:tc>
                <a:tc>
                  <a:txBody>
                    <a:bodyPr/>
                    <a:lstStyle/>
                    <a:p>
                      <a:pPr algn="ctr">
                        <a:defRPr sz="1250">
                          <a:solidFill>
                            <a:srgbClr val="0F172A"/>
                          </a:solidFill>
                          <a:latin typeface="Arial"/>
                        </a:defRPr>
                      </a:pPr>
                      <a:r>
                        <a:t>Không khả thi (&gt; 30 giờ)</a:t>
                      </a:r>
                    </a:p>
                  </a:txBody>
                  <a:tcPr>
                    <a:solidFill>
                      <a:srgbClr val="FFFFFF"/>
                    </a:solidFill>
                  </a:tcPr>
                </a:tc>
                <a:tc>
                  <a:txBody>
                    <a:bodyPr/>
                    <a:lstStyle/>
                    <a:p>
                      <a:pPr algn="ctr">
                        <a:defRPr sz="1250">
                          <a:solidFill>
                            <a:srgbClr val="0F172A"/>
                          </a:solidFill>
                          <a:latin typeface="Arial"/>
                        </a:defRPr>
                      </a:pPr>
                      <a:r>
                        <a:t>2 phút 15 giây (Nhờ PyTorch DataLoader + FP16)</a:t>
                      </a:r>
                    </a:p>
                  </a:txBody>
                  <a:tcPr>
                    <a:solidFill>
                      <a:srgbClr val="FFFFFF"/>
                    </a:solidFill>
                  </a:tcPr>
                </a:tc>
              </a:tr>
            </a:tbl>
          </a:graphicData>
        </a:graphic>
      </p:graphicFrame>
      <p:sp>
        <p:nvSpPr>
          <p:cNvPr id="6" name="Rounded Rectangle 5"/>
          <p:cNvSpPr/>
          <p:nvPr/>
        </p:nvSpPr>
        <p:spPr>
          <a:xfrm>
            <a:off x="822960" y="5303520"/>
            <a:ext cx="10241280"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600" b="1">
                <a:solidFill>
                  <a:srgbClr val="0E8C61"/>
                </a:solidFill>
                <a:latin typeface="Arial"/>
              </a:defRPr>
            </a:pPr>
            <a:r>
              <a:t>Tối ưu hóa phần cứng &amp; Giải pháp triển khai</a:t>
            </a:r>
          </a:p>
          <a:p>
            <a:pPr>
              <a:spcAft>
                <a:spcPts val="800"/>
              </a:spcAft>
              <a:defRPr sz="1350">
                <a:solidFill>
                  <a:srgbClr val="0F172A"/>
                </a:solidFill>
                <a:latin typeface="Arial"/>
              </a:defRPr>
            </a:pPr>
            <a:r>
              <a:t>• Tối ưu hóa huấn luyện (FP16 Mixed Precision): Sử dụng kiểu dữ liệu float16 giúp tiết kiệm 50% bộ nhớ GPU và tăng gấp đôi tốc độ tính toán trên GPU T4 mà không làm giảm độ chính xác mô hình.</a:t>
            </a:r>
          </a:p>
          <a:p>
            <a:pPr>
              <a:spcAft>
                <a:spcPts val="800"/>
              </a:spcAft>
              <a:defRPr sz="1350">
                <a:solidFill>
                  <a:srgbClr val="0F172A"/>
                </a:solidFill>
                <a:latin typeface="Arial"/>
              </a:defRPr>
            </a:pPr>
            <a:r>
              <a:t>• Khả năng xử lý Big Data song song: Kết hợp DataLoader đa luồng (num_workers=4) và gom nhóm batch size = 16/32 giúp tận dụng tối đa CUDA cores.</a:t>
            </a:r>
          </a:p>
          <a:p>
            <a:pPr>
              <a:spcAft>
                <a:spcPts val="800"/>
              </a:spcAft>
              <a:defRPr sz="1350">
                <a:solidFill>
                  <a:srgbClr val="0F172A"/>
                </a:solidFill>
                <a:latin typeface="Arial"/>
              </a:defRPr>
            </a:pPr>
            <a:r>
              <a:t>• Cơ chế dự phòng thông minh (Robust System): Hệ thống dashboard tự động chuyển sang SVM baseline chạy CPU nếu không tải được mô hình PhoBERT, đảm bảo dịch vụ vận hành bền vững.</a:t>
            </a:r>
          </a:p>
        </p:txBody>
      </p:sp>
      <p:sp>
        <p:nvSpPr>
          <p:cNvPr id="7" name="Rounded Rectangle 6"/>
          <p:cNvSpPr/>
          <p:nvPr/>
        </p:nvSpPr>
        <p:spPr>
          <a:xfrm>
            <a:off x="11521440" y="2011680"/>
            <a:ext cx="5943600" cy="75895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00">
                <a:solidFill>
                  <a:srgbClr val="475569"/>
                </a:solidFill>
                <a:latin typeface="Arial"/>
              </a:defRPr>
            </a:pPr>
            <a:r>
              <a:t>[ KHUNG CHÈN HÌNH ẢNH MINH CHỨNG ]</a:t>
            </a:r>
            <a:br/>
            <a:br/>
            <a:r>
              <a:t>Chèn ảnh chụp màn hình huấn luyện trên Kaggle</a:t>
            </a:r>
            <a:br/>
            <a:r>
              <a:t>hoặc ảnh log hiển thị tốc độ batch prediction tại đây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Sentiment Baseline &amp; Tích hợp Dashboard</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Đánh giá các mô hình baseline trên 100k review và minh chứng ứng dụng</a:t>
            </a:r>
          </a:p>
        </p:txBody>
      </p:sp>
      <p:graphicFrame>
        <p:nvGraphicFramePr>
          <p:cNvPr id="5" name="Table 4"/>
          <p:cNvGraphicFramePr>
            <a:graphicFrameLocks noGrp="1"/>
          </p:cNvGraphicFramePr>
          <p:nvPr/>
        </p:nvGraphicFramePr>
        <p:xfrm>
          <a:off x="822960" y="2011680"/>
          <a:ext cx="10241280" cy="2560320"/>
        </p:xfrm>
        <a:graphic>
          <a:graphicData uri="http://schemas.openxmlformats.org/drawingml/2006/table">
            <a:tbl>
              <a:tblPr firstRow="1" bandRow="1">
                <a:tableStyleId>{5C22544A-7EE6-4342-B048-85BDC9FD1C3A}</a:tableStyleId>
              </a:tblPr>
              <a:tblGrid>
                <a:gridCol w="2560320"/>
                <a:gridCol w="2560320"/>
                <a:gridCol w="2560320"/>
                <a:gridCol w="2560320"/>
              </a:tblGrid>
              <a:tr h="853440">
                <a:tc>
                  <a:txBody>
                    <a:bodyPr/>
                    <a:lstStyle/>
                    <a:p>
                      <a:pPr algn="ctr">
                        <a:defRPr sz="1250" b="1">
                          <a:solidFill>
                            <a:srgbClr val="FFFFFF"/>
                          </a:solidFill>
                          <a:latin typeface="Arial"/>
                        </a:defRPr>
                      </a:pPr>
                      <a:r>
                        <a:t>Thuật toán Baseline</a:t>
                      </a:r>
                    </a:p>
                  </a:txBody>
                  <a:tcPr>
                    <a:solidFill>
                      <a:srgbClr val="0E8C61"/>
                    </a:solidFill>
                  </a:tcPr>
                </a:tc>
                <a:tc>
                  <a:txBody>
                    <a:bodyPr/>
                    <a:lstStyle/>
                    <a:p>
                      <a:pPr algn="ctr">
                        <a:defRPr sz="1250" b="1">
                          <a:solidFill>
                            <a:srgbClr val="FFFFFF"/>
                          </a:solidFill>
                          <a:latin typeface="Arial"/>
                        </a:defRPr>
                      </a:pPr>
                      <a:r>
                        <a:t>Accuracy</a:t>
                      </a:r>
                    </a:p>
                  </a:txBody>
                  <a:tcPr>
                    <a:solidFill>
                      <a:srgbClr val="0E8C61"/>
                    </a:solidFill>
                  </a:tcPr>
                </a:tc>
                <a:tc>
                  <a:txBody>
                    <a:bodyPr/>
                    <a:lstStyle/>
                    <a:p>
                      <a:pPr algn="ctr">
                        <a:defRPr sz="1250" b="1">
                          <a:solidFill>
                            <a:srgbClr val="FFFFFF"/>
                          </a:solidFill>
                          <a:latin typeface="Arial"/>
                        </a:defRPr>
                      </a:pPr>
                      <a:r>
                        <a:t>Macro F1-score</a:t>
                      </a:r>
                    </a:p>
                  </a:txBody>
                  <a:tcPr>
                    <a:solidFill>
                      <a:srgbClr val="0E8C61"/>
                    </a:solidFill>
                  </a:tcPr>
                </a:tc>
                <a:tc>
                  <a:txBody>
                    <a:bodyPr/>
                    <a:lstStyle/>
                    <a:p>
                      <a:pPr algn="ctr">
                        <a:defRPr sz="1250" b="1">
                          <a:solidFill>
                            <a:srgbClr val="FFFFFF"/>
                          </a:solidFill>
                          <a:latin typeface="Arial"/>
                        </a:defRPr>
                      </a:pPr>
                      <a:r>
                        <a:t>Phân tích thực nghiệm chuyên sâu</a:t>
                      </a:r>
                    </a:p>
                  </a:txBody>
                  <a:tcPr>
                    <a:solidFill>
                      <a:srgbClr val="0E8C61"/>
                    </a:solidFill>
                  </a:tcPr>
                </a:tc>
              </a:tr>
              <a:tr h="853440">
                <a:tc>
                  <a:txBody>
                    <a:bodyPr/>
                    <a:lstStyle/>
                    <a:p>
                      <a:pPr algn="l">
                        <a:defRPr sz="1250">
                          <a:solidFill>
                            <a:srgbClr val="0F172A"/>
                          </a:solidFill>
                          <a:latin typeface="Arial"/>
                        </a:defRPr>
                      </a:pPr>
                      <a:r>
                        <a:t>Naive Bayes (NB)</a:t>
                      </a:r>
                    </a:p>
                  </a:txBody>
                  <a:tcPr>
                    <a:solidFill>
                      <a:srgbClr val="FFFFFF"/>
                    </a:solidFill>
                  </a:tcPr>
                </a:tc>
                <a:tc>
                  <a:txBody>
                    <a:bodyPr/>
                    <a:lstStyle/>
                    <a:p>
                      <a:pPr algn="ctr">
                        <a:defRPr sz="1250">
                          <a:solidFill>
                            <a:srgbClr val="0F172A"/>
                          </a:solidFill>
                          <a:latin typeface="Arial"/>
                        </a:defRPr>
                      </a:pPr>
                      <a:r>
                        <a:t>88.66%</a:t>
                      </a:r>
                    </a:p>
                  </a:txBody>
                  <a:tcPr>
                    <a:solidFill>
                      <a:srgbClr val="FFFFFF"/>
                    </a:solidFill>
                  </a:tcPr>
                </a:tc>
                <a:tc>
                  <a:txBody>
                    <a:bodyPr/>
                    <a:lstStyle/>
                    <a:p>
                      <a:pPr algn="ctr">
                        <a:defRPr sz="1250">
                          <a:solidFill>
                            <a:srgbClr val="0F172A"/>
                          </a:solidFill>
                          <a:latin typeface="Arial"/>
                        </a:defRPr>
                      </a:pPr>
                      <a:r>
                        <a:t>57.50%</a:t>
                      </a:r>
                    </a:p>
                  </a:txBody>
                  <a:tcPr>
                    <a:solidFill>
                      <a:srgbClr val="FFFFFF"/>
                    </a:solidFill>
                  </a:tcPr>
                </a:tc>
                <a:tc>
                  <a:txBody>
                    <a:bodyPr/>
                    <a:lstStyle/>
                    <a:p>
                      <a:pPr algn="ctr">
                        <a:defRPr sz="1250">
                          <a:solidFill>
                            <a:srgbClr val="0F172A"/>
                          </a:solidFill>
                          <a:latin typeface="Arial"/>
                        </a:defRPr>
                      </a:pPr>
                      <a:r>
                        <a:t>Tốc độ cực nhanh. Tuy nhiên, do dữ liệu thực tế lệch lớp nặng, NB hoàn toàn thất bại ở lớp Neutral (F1-score = 0%).</a:t>
                      </a:r>
                    </a:p>
                  </a:txBody>
                  <a:tcPr>
                    <a:solidFill>
                      <a:srgbClr val="FFFFFF"/>
                    </a:solidFill>
                  </a:tcPr>
                </a:tc>
              </a:tr>
              <a:tr h="853440">
                <a:tc>
                  <a:txBody>
                    <a:bodyPr/>
                    <a:lstStyle/>
                    <a:p>
                      <a:pPr algn="l">
                        <a:defRPr sz="1250">
                          <a:solidFill>
                            <a:srgbClr val="0F172A"/>
                          </a:solidFill>
                          <a:latin typeface="Arial"/>
                        </a:defRPr>
                      </a:pPr>
                      <a:r>
                        <a:t>Linear SVM</a:t>
                      </a:r>
                    </a:p>
                  </a:txBody>
                  <a:tcPr>
                    <a:solidFill>
                      <a:srgbClr val="F8FAFC"/>
                    </a:solidFill>
                  </a:tcPr>
                </a:tc>
                <a:tc>
                  <a:txBody>
                    <a:bodyPr/>
                    <a:lstStyle/>
                    <a:p>
                      <a:pPr algn="ctr">
                        <a:defRPr sz="1250">
                          <a:solidFill>
                            <a:srgbClr val="0F172A"/>
                          </a:solidFill>
                          <a:latin typeface="Arial"/>
                        </a:defRPr>
                      </a:pPr>
                      <a:r>
                        <a:t>87.48%</a:t>
                      </a:r>
                    </a:p>
                  </a:txBody>
                  <a:tcPr>
                    <a:solidFill>
                      <a:srgbClr val="F8FAFC"/>
                    </a:solidFill>
                  </a:tcPr>
                </a:tc>
                <a:tc>
                  <a:txBody>
                    <a:bodyPr/>
                    <a:lstStyle/>
                    <a:p>
                      <a:pPr algn="ctr">
                        <a:defRPr sz="1250">
                          <a:solidFill>
                            <a:srgbClr val="0F172A"/>
                          </a:solidFill>
                          <a:latin typeface="Arial"/>
                        </a:defRPr>
                      </a:pPr>
                      <a:r>
                        <a:t>62.10%</a:t>
                      </a:r>
                    </a:p>
                  </a:txBody>
                  <a:tcPr>
                    <a:solidFill>
                      <a:srgbClr val="F8FAFC"/>
                    </a:solidFill>
                  </a:tcPr>
                </a:tc>
                <a:tc>
                  <a:txBody>
                    <a:bodyPr/>
                    <a:lstStyle/>
                    <a:p>
                      <a:pPr algn="ctr">
                        <a:defRPr sz="1250">
                          <a:solidFill>
                            <a:srgbClr val="0F172A"/>
                          </a:solidFill>
                          <a:latin typeface="Arial"/>
                        </a:defRPr>
                      </a:pPr>
                      <a:r>
                        <a:t>Macro F1 vượt trội NB rõ rệt (+4.60%). SVM nhận diện lớp thiểu số (Neutral và Negative) tốt hơn nhờ biên phân chia tối ưu hóa.</a:t>
                      </a:r>
                    </a:p>
                  </a:txBody>
                  <a:tcPr>
                    <a:solidFill>
                      <a:srgbClr val="F8FAFC"/>
                    </a:solidFill>
                  </a:tcPr>
                </a:tc>
              </a:tr>
            </a:tbl>
          </a:graphicData>
        </a:graphic>
      </p:graphicFrame>
      <p:sp>
        <p:nvSpPr>
          <p:cNvPr id="6" name="Rounded Rectangle 5"/>
          <p:cNvSpPr/>
          <p:nvPr/>
        </p:nvSpPr>
        <p:spPr>
          <a:xfrm>
            <a:off x="822960" y="4937760"/>
            <a:ext cx="10241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600" b="1">
                <a:solidFill>
                  <a:srgbClr val="0E8C61"/>
                </a:solidFill>
                <a:latin typeface="Arial"/>
              </a:defRPr>
            </a:pPr>
            <a:r>
              <a:t>Minh chứng tích hợp &amp; Ứng dụng thực tiễn</a:t>
            </a:r>
          </a:p>
          <a:p>
            <a:pPr>
              <a:spcAft>
                <a:spcPts val="800"/>
              </a:spcAft>
              <a:defRPr sz="1350">
                <a:solidFill>
                  <a:srgbClr val="0F172A"/>
                </a:solidFill>
                <a:latin typeface="Arial"/>
              </a:defRPr>
            </a:pPr>
            <a:r>
              <a:t>• Tích hợp PhoBERT đa tác vụ thành công: Mô hình tốt nhất đã được tích hợp chạy live mượt mà vào Streamlit Dashboard và Flask API.</a:t>
            </a:r>
          </a:p>
          <a:p>
            <a:pPr>
              <a:spcAft>
                <a:spcPts val="800"/>
              </a:spcAft>
              <a:defRPr sz="1350">
                <a:solidFill>
                  <a:srgbClr val="0F172A"/>
                </a:solidFill>
                <a:latin typeface="Arial"/>
              </a:defRPr>
            </a:pPr>
            <a:r>
              <a:t>• Giao diện dashboard tương tác trực quan: Cho phép lọc theo khía cạnh, lọc mức độ ưu tiên (Cảnh báo ưu tiên cao), phân tích phân bố eWOM và chiến lược RACE theo thời gian thực.</a:t>
            </a:r>
          </a:p>
          <a:p>
            <a:pPr>
              <a:spcAft>
                <a:spcPts val="800"/>
              </a:spcAft>
              <a:defRPr sz="1350">
                <a:solidFill>
                  <a:srgbClr val="0F172A"/>
                </a:solidFill>
                <a:latin typeface="Arial"/>
              </a:defRPr>
            </a:pPr>
            <a:r>
              <a:t>• Tải trước dữ liệu (Pre-predicted): Tích hợp tính năng load dữ liệu đã dự đoán sẵn (100k dòng) chỉ trong 1 giây trên dashboard để tối ưu trải nghiệm người dùng, đồng thời hỗ trợ dự đoán trực tiếp real-time cho review mới.</a:t>
            </a:r>
          </a:p>
        </p:txBody>
      </p:sp>
      <p:pic>
        <p:nvPicPr>
          <p:cNvPr id="7" name="Picture 6" descr="image.png"/>
          <p:cNvPicPr>
            <a:picLocks noChangeAspect="1"/>
          </p:cNvPicPr>
          <p:nvPr/>
        </p:nvPicPr>
        <p:blipFill>
          <a:blip r:embed="rId2"/>
          <a:stretch>
            <a:fillRect/>
          </a:stretch>
        </p:blipFill>
        <p:spPr>
          <a:xfrm>
            <a:off x="11521440" y="2011680"/>
            <a:ext cx="5943600" cy="7589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Đóng góp học thuật &amp; So sánh nghiên cứu</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Đối chiếu khoa học: Kế thừa nền tảng vững chắc từ UIT-VSFC và phát triển đóng góp mới</a:t>
            </a:r>
          </a:p>
        </p:txBody>
      </p:sp>
      <p:graphicFrame>
        <p:nvGraphicFramePr>
          <p:cNvPr id="5" name="Table 4"/>
          <p:cNvGraphicFramePr>
            <a:graphicFrameLocks noGrp="1"/>
          </p:cNvGraphicFramePr>
          <p:nvPr/>
        </p:nvGraphicFramePr>
        <p:xfrm>
          <a:off x="822960" y="2011680"/>
          <a:ext cx="10241280" cy="3657600"/>
        </p:xfrm>
        <a:graphic>
          <a:graphicData uri="http://schemas.openxmlformats.org/drawingml/2006/table">
            <a:tbl>
              <a:tblPr firstRow="1" bandRow="1">
                <a:tableStyleId>{5C22544A-7EE6-4342-B048-85BDC9FD1C3A}</a:tableStyleId>
              </a:tblPr>
              <a:tblGrid>
                <a:gridCol w="2560320"/>
                <a:gridCol w="2560320"/>
                <a:gridCol w="2560320"/>
                <a:gridCol w="2560320"/>
              </a:tblGrid>
              <a:tr h="609600">
                <a:tc>
                  <a:txBody>
                    <a:bodyPr/>
                    <a:lstStyle/>
                    <a:p>
                      <a:pPr algn="ctr">
                        <a:defRPr sz="1250" b="1">
                          <a:solidFill>
                            <a:srgbClr val="FFFFFF"/>
                          </a:solidFill>
                          <a:latin typeface="Arial"/>
                        </a:defRPr>
                      </a:pPr>
                      <a:r>
                        <a:t>Tiêu chí đối chiếu</a:t>
                      </a:r>
                    </a:p>
                  </a:txBody>
                  <a:tcPr>
                    <a:solidFill>
                      <a:srgbClr val="0E8C61"/>
                    </a:solidFill>
                  </a:tcPr>
                </a:tc>
                <a:tc>
                  <a:txBody>
                    <a:bodyPr/>
                    <a:lstStyle/>
                    <a:p>
                      <a:pPr algn="ctr">
                        <a:defRPr sz="1250" b="1">
                          <a:solidFill>
                            <a:srgbClr val="FFFFFF"/>
                          </a:solidFill>
                          <a:latin typeface="Arial"/>
                        </a:defRPr>
                      </a:pPr>
                      <a:r>
                        <a:t>Bài báo khoa học gốc (UIT-VSFC)</a:t>
                      </a:r>
                    </a:p>
                  </a:txBody>
                  <a:tcPr>
                    <a:solidFill>
                      <a:srgbClr val="0E8C61"/>
                    </a:solidFill>
                  </a:tcPr>
                </a:tc>
                <a:tc>
                  <a:txBody>
                    <a:bodyPr/>
                    <a:lstStyle/>
                    <a:p>
                      <a:pPr algn="ctr">
                        <a:defRPr sz="1250" b="1">
                          <a:solidFill>
                            <a:srgbClr val="FFFFFF"/>
                          </a:solidFill>
                          <a:latin typeface="Arial"/>
                        </a:defRPr>
                      </a:pPr>
                      <a:r>
                        <a:t>Đề tài khóa luận của bạn (Project)</a:t>
                      </a:r>
                    </a:p>
                  </a:txBody>
                  <a:tcPr>
                    <a:solidFill>
                      <a:srgbClr val="0E8C61"/>
                    </a:solidFill>
                  </a:tcPr>
                </a:tc>
                <a:tc>
                  <a:txBody>
                    <a:bodyPr/>
                    <a:lstStyle/>
                    <a:p>
                      <a:pPr algn="ctr">
                        <a:defRPr sz="1250" b="1">
                          <a:solidFill>
                            <a:srgbClr val="FFFFFF"/>
                          </a:solidFill>
                          <a:latin typeface="Arial"/>
                        </a:defRPr>
                      </a:pPr>
                      <a:r>
                        <a:t>Ý nghĩa khoa học &amp; Thực tiễn</a:t>
                      </a:r>
                    </a:p>
                  </a:txBody>
                  <a:tcPr>
                    <a:solidFill>
                      <a:srgbClr val="0E8C61"/>
                    </a:solidFill>
                  </a:tcPr>
                </a:tc>
              </a:tr>
              <a:tr h="609600">
                <a:tc>
                  <a:txBody>
                    <a:bodyPr/>
                    <a:lstStyle/>
                    <a:p>
                      <a:pPr algn="l">
                        <a:defRPr sz="1250">
                          <a:solidFill>
                            <a:srgbClr val="0F172A"/>
                          </a:solidFill>
                          <a:latin typeface="Arial"/>
                        </a:defRPr>
                      </a:pPr>
                      <a:r>
                        <a:t>Lĩnh vực ứng dụng</a:t>
                      </a:r>
                    </a:p>
                  </a:txBody>
                  <a:tcPr>
                    <a:solidFill>
                      <a:srgbClr val="FFFFFF"/>
                    </a:solidFill>
                  </a:tcPr>
                </a:tc>
                <a:tc>
                  <a:txBody>
                    <a:bodyPr/>
                    <a:lstStyle/>
                    <a:p>
                      <a:pPr algn="ctr">
                        <a:defRPr sz="1250">
                          <a:solidFill>
                            <a:srgbClr val="0F172A"/>
                          </a:solidFill>
                          <a:latin typeface="Arial"/>
                        </a:defRPr>
                      </a:pPr>
                      <a:r>
                        <a:t>Giáo dục (Phản hồi sinh viên về môn học/trường)</a:t>
                      </a:r>
                    </a:p>
                  </a:txBody>
                  <a:tcPr>
                    <a:solidFill>
                      <a:srgbClr val="FFFFFF"/>
                    </a:solidFill>
                  </a:tcPr>
                </a:tc>
                <a:tc>
                  <a:txBody>
                    <a:bodyPr/>
                    <a:lstStyle/>
                    <a:p>
                      <a:pPr algn="ctr">
                        <a:defRPr sz="1250">
                          <a:solidFill>
                            <a:srgbClr val="0F172A"/>
                          </a:solidFill>
                          <a:latin typeface="Arial"/>
                        </a:defRPr>
                      </a:pPr>
                      <a:r>
                        <a:t>Thương mại điện tử (Review mua sắm trực tuyến)</a:t>
                      </a:r>
                    </a:p>
                  </a:txBody>
                  <a:tcPr>
                    <a:solidFill>
                      <a:srgbClr val="FFFFFF"/>
                    </a:solidFill>
                  </a:tcPr>
                </a:tc>
                <a:tc>
                  <a:txBody>
                    <a:bodyPr/>
                    <a:lstStyle/>
                    <a:p>
                      <a:pPr algn="ctr">
                        <a:defRPr sz="1250">
                          <a:solidFill>
                            <a:srgbClr val="0F172A"/>
                          </a:solidFill>
                          <a:latin typeface="Arial"/>
                        </a:defRPr>
                      </a:pPr>
                      <a:r>
                        <a:t>Chuyển dịch từ nghiên cứu học thuật sang tối ưu hóa chiến lược kinh doanh.</a:t>
                      </a:r>
                    </a:p>
                  </a:txBody>
                  <a:tcPr>
                    <a:solidFill>
                      <a:srgbClr val="FFFFFF"/>
                    </a:solidFill>
                  </a:tcPr>
                </a:tc>
              </a:tr>
              <a:tr h="609600">
                <a:tc>
                  <a:txBody>
                    <a:bodyPr/>
                    <a:lstStyle/>
                    <a:p>
                      <a:pPr algn="l">
                        <a:defRPr sz="1250">
                          <a:solidFill>
                            <a:srgbClr val="0F172A"/>
                          </a:solidFill>
                          <a:latin typeface="Arial"/>
                        </a:defRPr>
                      </a:pPr>
                      <a:r>
                        <a:t>Quy mô dữ liệu</a:t>
                      </a:r>
                    </a:p>
                  </a:txBody>
                  <a:tcPr>
                    <a:solidFill>
                      <a:srgbClr val="F8FAFC"/>
                    </a:solidFill>
                  </a:tcPr>
                </a:tc>
                <a:tc>
                  <a:txBody>
                    <a:bodyPr/>
                    <a:lstStyle/>
                    <a:p>
                      <a:pPr algn="ctr">
                        <a:defRPr sz="1250">
                          <a:solidFill>
                            <a:srgbClr val="0F172A"/>
                          </a:solidFill>
                          <a:latin typeface="Arial"/>
                        </a:defRPr>
                      </a:pPr>
                      <a:r>
                        <a:t>~16,000 dòng sạch được gán nhãn sẵn</a:t>
                      </a:r>
                    </a:p>
                  </a:txBody>
                  <a:tcPr>
                    <a:solidFill>
                      <a:srgbClr val="F8FAFC"/>
                    </a:solidFill>
                  </a:tcPr>
                </a:tc>
                <a:tc>
                  <a:txBody>
                    <a:bodyPr/>
                    <a:lstStyle/>
                    <a:p>
                      <a:pPr algn="ctr">
                        <a:defRPr sz="1250">
                          <a:solidFill>
                            <a:srgbClr val="0F172A"/>
                          </a:solidFill>
                          <a:latin typeface="Arial"/>
                        </a:defRPr>
                      </a:pPr>
                      <a:r>
                        <a:t>~1.300.000 dòng dữ liệu thô lớn</a:t>
                      </a:r>
                    </a:p>
                  </a:txBody>
                  <a:tcPr>
                    <a:solidFill>
                      <a:srgbClr val="F8FAFC"/>
                    </a:solidFill>
                  </a:tcPr>
                </a:tc>
                <a:tc>
                  <a:txBody>
                    <a:bodyPr/>
                    <a:lstStyle/>
                    <a:p>
                      <a:pPr algn="ctr">
                        <a:defRPr sz="1250">
                          <a:solidFill>
                            <a:srgbClr val="0F172A"/>
                          </a:solidFill>
                          <a:latin typeface="Arial"/>
                        </a:defRPr>
                      </a:pPr>
                      <a:r>
                        <a:t>Giải quyết bài toán dữ liệu lớn thực tế (Big Data) với độ nhiễu cực cao.</a:t>
                      </a:r>
                    </a:p>
                  </a:txBody>
                  <a:tcPr>
                    <a:solidFill>
                      <a:srgbClr val="F8FAFC"/>
                    </a:solidFill>
                  </a:tcPr>
                </a:tc>
              </a:tr>
              <a:tr h="609600">
                <a:tc>
                  <a:txBody>
                    <a:bodyPr/>
                    <a:lstStyle/>
                    <a:p>
                      <a:pPr algn="l">
                        <a:defRPr sz="1250">
                          <a:solidFill>
                            <a:srgbClr val="0F172A"/>
                          </a:solidFill>
                          <a:latin typeface="Arial"/>
                        </a:defRPr>
                      </a:pPr>
                      <a:r>
                        <a:t>Tính chất bài toán</a:t>
                      </a:r>
                    </a:p>
                  </a:txBody>
                  <a:tcPr>
                    <a:solidFill>
                      <a:srgbClr val="FFFFFF"/>
                    </a:solidFill>
                  </a:tcPr>
                </a:tc>
                <a:tc>
                  <a:txBody>
                    <a:bodyPr/>
                    <a:lstStyle/>
                    <a:p>
                      <a:pPr algn="ctr">
                        <a:defRPr sz="1250">
                          <a:solidFill>
                            <a:srgbClr val="0F172A"/>
                          </a:solidFill>
                          <a:latin typeface="Arial"/>
                        </a:defRPr>
                      </a:pPr>
                      <a:r>
                        <a:t>Phân loại đơn nhãn (chọn 1 trong 4 chủ đề)</a:t>
                      </a:r>
                    </a:p>
                  </a:txBody>
                  <a:tcPr>
                    <a:solidFill>
                      <a:srgbClr val="FFFFFF"/>
                    </a:solidFill>
                  </a:tcPr>
                </a:tc>
                <a:tc>
                  <a:txBody>
                    <a:bodyPr/>
                    <a:lstStyle/>
                    <a:p>
                      <a:pPr algn="ctr">
                        <a:defRPr sz="1250">
                          <a:solidFill>
                            <a:srgbClr val="0F172A"/>
                          </a:solidFill>
                          <a:latin typeface="Arial"/>
                        </a:defRPr>
                      </a:pPr>
                      <a:r>
                        <a:t>Phân loại đa nhãn (Multi-label) trên 5 khía cạnh</a:t>
                      </a:r>
                    </a:p>
                  </a:txBody>
                  <a:tcPr>
                    <a:solidFill>
                      <a:srgbClr val="FFFFFF"/>
                    </a:solidFill>
                  </a:tcPr>
                </a:tc>
                <a:tc>
                  <a:txBody>
                    <a:bodyPr/>
                    <a:lstStyle/>
                    <a:p>
                      <a:pPr algn="ctr">
                        <a:defRPr sz="1250">
                          <a:solidFill>
                            <a:srgbClr val="0F172A"/>
                          </a:solidFill>
                          <a:latin typeface="Arial"/>
                        </a:defRPr>
                      </a:pPr>
                      <a:r>
                        <a:t>Phản ánh đúng thực tế: Một câu đánh giá thường chứa nhiều khía cạnh cùng lúc.</a:t>
                      </a:r>
                    </a:p>
                  </a:txBody>
                  <a:tcPr>
                    <a:solidFill>
                      <a:srgbClr val="FFFFFF"/>
                    </a:solidFill>
                  </a:tcPr>
                </a:tc>
              </a:tr>
              <a:tr h="609600">
                <a:tc>
                  <a:txBody>
                    <a:bodyPr/>
                    <a:lstStyle/>
                    <a:p>
                      <a:pPr algn="l">
                        <a:defRPr sz="1250">
                          <a:solidFill>
                            <a:srgbClr val="0F172A"/>
                          </a:solidFill>
                          <a:latin typeface="Arial"/>
                        </a:defRPr>
                      </a:pPr>
                      <a:r>
                        <a:t>Thuật toán sử dụng</a:t>
                      </a:r>
                    </a:p>
                  </a:txBody>
                  <a:tcPr>
                    <a:solidFill>
                      <a:srgbClr val="F8FAFC"/>
                    </a:solidFill>
                  </a:tcPr>
                </a:tc>
                <a:tc>
                  <a:txBody>
                    <a:bodyPr/>
                    <a:lstStyle/>
                    <a:p>
                      <a:pPr algn="ctr">
                        <a:defRPr sz="1250">
                          <a:solidFill>
                            <a:srgbClr val="0F172A"/>
                          </a:solidFill>
                          <a:latin typeface="Arial"/>
                        </a:defRPr>
                      </a:pPr>
                      <a:r>
                        <a:t>Thuật toán truyền thống (Naive Bayes) trên CPU</a:t>
                      </a:r>
                    </a:p>
                  </a:txBody>
                  <a:tcPr>
                    <a:solidFill>
                      <a:srgbClr val="F8FAFC"/>
                    </a:solidFill>
                  </a:tcPr>
                </a:tc>
                <a:tc>
                  <a:txBody>
                    <a:bodyPr/>
                    <a:lstStyle/>
                    <a:p>
                      <a:pPr algn="ctr">
                        <a:defRPr sz="1250">
                          <a:solidFill>
                            <a:srgbClr val="0F172A"/>
                          </a:solidFill>
                          <a:latin typeface="Arial"/>
                        </a:defRPr>
                      </a:pPr>
                      <a:r>
                        <a:t>Naive Bayes, SVM + Bi-LSTM + PhoBERT GPU T4</a:t>
                      </a:r>
                    </a:p>
                  </a:txBody>
                  <a:tcPr>
                    <a:solidFill>
                      <a:srgbClr val="F8FAFC"/>
                    </a:solidFill>
                  </a:tcPr>
                </a:tc>
                <a:tc>
                  <a:txBody>
                    <a:bodyPr/>
                    <a:lstStyle/>
                    <a:p>
                      <a:pPr algn="ctr">
                        <a:defRPr sz="1250">
                          <a:solidFill>
                            <a:srgbClr val="0F172A"/>
                          </a:solidFill>
                          <a:latin typeface="Arial"/>
                        </a:defRPr>
                      </a:pPr>
                      <a:r>
                        <a:t>Cập nhật các mô hình học sâu và Transformer tối tân cho tiếng Việt.</a:t>
                      </a:r>
                    </a:p>
                  </a:txBody>
                  <a:tcPr>
                    <a:solidFill>
                      <a:srgbClr val="F8FAFC"/>
                    </a:solidFill>
                  </a:tcPr>
                </a:tc>
              </a:tr>
              <a:tr h="609600">
                <a:tc>
                  <a:txBody>
                    <a:bodyPr/>
                    <a:lstStyle/>
                    <a:p>
                      <a:pPr algn="l">
                        <a:defRPr sz="1250">
                          <a:solidFill>
                            <a:srgbClr val="0F172A"/>
                          </a:solidFill>
                          <a:latin typeface="Arial"/>
                        </a:defRPr>
                      </a:pPr>
                      <a:r>
                        <a:t>Đầu ra thực tiễn</a:t>
                      </a:r>
                    </a:p>
                  </a:txBody>
                  <a:tcPr>
                    <a:solidFill>
                      <a:srgbClr val="FFFFFF"/>
                    </a:solidFill>
                  </a:tcPr>
                </a:tc>
                <a:tc>
                  <a:txBody>
                    <a:bodyPr/>
                    <a:lstStyle/>
                    <a:p>
                      <a:pPr algn="ctr">
                        <a:defRPr sz="1250">
                          <a:solidFill>
                            <a:srgbClr val="0F172A"/>
                          </a:solidFill>
                          <a:latin typeface="Arial"/>
                        </a:defRPr>
                      </a:pPr>
                      <a:r>
                        <a:t>Đánh giá học thuật trên giấy tờ</a:t>
                      </a:r>
                    </a:p>
                  </a:txBody>
                  <a:tcPr>
                    <a:solidFill>
                      <a:srgbClr val="FFFFFF"/>
                    </a:solidFill>
                  </a:tcPr>
                </a:tc>
                <a:tc>
                  <a:txBody>
                    <a:bodyPr/>
                    <a:lstStyle/>
                    <a:p>
                      <a:pPr algn="ctr">
                        <a:defRPr sz="1250">
                          <a:solidFill>
                            <a:srgbClr val="0F172A"/>
                          </a:solidFill>
                          <a:latin typeface="Arial"/>
                        </a:defRPr>
                      </a:pPr>
                      <a:r>
                        <a:t>Flask API + Streamlit Dashboard + RACE &amp; eWOM</a:t>
                      </a:r>
                    </a:p>
                  </a:txBody>
                  <a:tcPr>
                    <a:solidFill>
                      <a:srgbClr val="FFFFFF"/>
                    </a:solidFill>
                  </a:tcPr>
                </a:tc>
                <a:tc>
                  <a:txBody>
                    <a:bodyPr/>
                    <a:lstStyle/>
                    <a:p>
                      <a:pPr algn="ctr">
                        <a:defRPr sz="1250">
                          <a:solidFill>
                            <a:srgbClr val="0F172A"/>
                          </a:solidFill>
                          <a:latin typeface="Arial"/>
                        </a:defRPr>
                      </a:pPr>
                      <a:r>
                        <a:t>Biến mô hình toán học thành sản phẩm phần mềm thực tế có thể vận hành ngay.</a:t>
                      </a:r>
                    </a:p>
                  </a:txBody>
                  <a:tcPr>
                    <a:solidFill>
                      <a:srgbClr val="FFFFFF"/>
                    </a:solidFill>
                  </a:tcPr>
                </a:tc>
              </a:tr>
            </a:tbl>
          </a:graphicData>
        </a:graphic>
      </p:graphicFrame>
      <p:sp>
        <p:nvSpPr>
          <p:cNvPr id="6" name="Rounded Rectangle 5"/>
          <p:cNvSpPr/>
          <p:nvPr/>
        </p:nvSpPr>
        <p:spPr>
          <a:xfrm>
            <a:off x="822960" y="5943600"/>
            <a:ext cx="10241280"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600" b="1">
                <a:solidFill>
                  <a:srgbClr val="0E8C61"/>
                </a:solidFill>
                <a:latin typeface="Arial"/>
              </a:defRPr>
            </a:pPr>
            <a:r>
              <a:t>Đánh giá sự kế thừa và các đóng góp mới</a:t>
            </a:r>
          </a:p>
          <a:p>
            <a:pPr>
              <a:spcAft>
                <a:spcPts val="800"/>
              </a:spcAft>
              <a:defRPr sz="1350">
                <a:solidFill>
                  <a:srgbClr val="0F172A"/>
                </a:solidFill>
                <a:latin typeface="Arial"/>
              </a:defRPr>
            </a:pPr>
            <a:r>
              <a:t>• Kế thừa quy trình khoa học: Đề tài kế thừa quy trình KDD và các bước tiền xử lý chuẩn mực đối với tiếng Việt đặc thù của nhóm tác giả bài báo UIT-VSFC.</a:t>
            </a:r>
          </a:p>
          <a:p>
            <a:pPr>
              <a:spcAft>
                <a:spcPts val="800"/>
              </a:spcAft>
              <a:defRPr sz="1350">
                <a:solidFill>
                  <a:srgbClr val="0F172A"/>
                </a:solidFill>
                <a:latin typeface="Arial"/>
              </a:defRPr>
            </a:pPr>
            <a:r>
              <a:t>• Cải tiến mô hình học sâu: Nâng cấp trực tiếp bài toán từ phân loại đơn nhãn thông thường lên phân loại đa khía cạnh (ABSA) đa nhãn vô cùng phức tạp.</a:t>
            </a:r>
          </a:p>
          <a:p>
            <a:pPr>
              <a:spcAft>
                <a:spcPts val="800"/>
              </a:spcAft>
              <a:defRPr sz="1350">
                <a:solidFill>
                  <a:srgbClr val="0F172A"/>
                </a:solidFill>
                <a:latin typeface="Arial"/>
              </a:defRPr>
            </a:pPr>
            <a:r>
              <a:t>• Đóng góp thực tiễn (Software &amp; Business): Thiết lập một đường ống (pipeline) hoàn chỉnh từ cào dữ liệu, xử lý mô hình, đến giao diện Streamlit Dashboard phân tích thời gian thực và cảnh báo khủng hoảng eWOM theo khung RACE.</a:t>
            </a:r>
          </a:p>
        </p:txBody>
      </p:sp>
      <p:sp>
        <p:nvSpPr>
          <p:cNvPr id="7" name="Rounded Rectangle 6"/>
          <p:cNvSpPr/>
          <p:nvPr/>
        </p:nvSpPr>
        <p:spPr>
          <a:xfrm>
            <a:off x="11521440" y="2011680"/>
            <a:ext cx="5943600" cy="7589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04320" y="2103120"/>
            <a:ext cx="5577840" cy="365760"/>
          </a:xfrm>
          <a:prstGeom prst="rect">
            <a:avLst/>
          </a:prstGeom>
          <a:noFill/>
        </p:spPr>
        <p:txBody>
          <a:bodyPr wrap="square" lIns="0" rIns="0" tIns="0" bIns="0">
            <a:spAutoFit/>
          </a:bodyPr>
          <a:lstStyle/>
          <a:p>
            <a:pPr algn="ctr">
              <a:defRPr b="1" sz="1400">
                <a:solidFill>
                  <a:srgbClr val="0E8C61"/>
                </a:solidFill>
                <a:latin typeface="Arial"/>
              </a:defRPr>
            </a:pPr>
            <a:r>
              <a:t>Sơ đồ Kiến trúc &amp; KDD Pipeline của Hệ thống</a:t>
            </a:r>
          </a:p>
        </p:txBody>
      </p:sp>
      <p:sp>
        <p:nvSpPr>
          <p:cNvPr id="9" name="Rounded Rectangle 8"/>
          <p:cNvSpPr/>
          <p:nvPr/>
        </p:nvSpPr>
        <p:spPr>
          <a:xfrm>
            <a:off x="11795760" y="2651760"/>
            <a:ext cx="5394960" cy="731520"/>
          </a:xfrm>
          <a:prstGeom prst="roundRect">
            <a:avLst/>
          </a:prstGeom>
          <a:solidFill>
            <a:srgbClr val="F0FDF4"/>
          </a:solidFill>
          <a:ln w="15240">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200" b="1">
                <a:solidFill>
                  <a:srgbClr val="0F172A"/>
                </a:solidFill>
                <a:latin typeface="Arial"/>
              </a:defRPr>
            </a:pPr>
            <a:r>
              <a:t>Bước 1: Thu thập Dữ liệu thô (Big Data)</a:t>
            </a:r>
          </a:p>
          <a:p>
            <a:pPr>
              <a:spcBef>
                <a:spcPts val="200"/>
              </a:spcBef>
              <a:defRPr sz="1050">
                <a:solidFill>
                  <a:srgbClr val="475569"/>
                </a:solidFill>
                <a:latin typeface="Arial"/>
              </a:defRPr>
            </a:pPr>
            <a:r>
              <a:t>• Tích lũy ~1,300,000 dòng đánh giá Shopee/Tiki/Lazada</a:t>
            </a:r>
          </a:p>
        </p:txBody>
      </p:sp>
      <p:sp>
        <p:nvSpPr>
          <p:cNvPr id="10" name="Down Arrow 9"/>
          <p:cNvSpPr/>
          <p:nvPr/>
        </p:nvSpPr>
        <p:spPr>
          <a:xfrm>
            <a:off x="14356080" y="3383280"/>
            <a:ext cx="274320" cy="182880"/>
          </a:xfrm>
          <a:prstGeom prst="downArrow">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795760" y="3566160"/>
            <a:ext cx="5394960" cy="731520"/>
          </a:xfrm>
          <a:prstGeom prst="roundRect">
            <a:avLst/>
          </a:prstGeom>
          <a:solidFill>
            <a:srgbClr val="F0FDF4"/>
          </a:solidFill>
          <a:ln w="15240">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200" b="1">
                <a:solidFill>
                  <a:srgbClr val="0F172A"/>
                </a:solidFill>
                <a:latin typeface="Arial"/>
              </a:defRPr>
            </a:pPr>
            <a:r>
              <a:t>Bước 2: Tiền xử lý dữ liệu chuẩn hóa NLP</a:t>
            </a:r>
          </a:p>
          <a:p>
            <a:pPr>
              <a:spcBef>
                <a:spcPts val="200"/>
              </a:spcBef>
              <a:defRPr sz="1050">
                <a:solidFill>
                  <a:srgbClr val="475569"/>
                </a:solidFill>
                <a:latin typeface="Arial"/>
              </a:defRPr>
            </a:pPr>
            <a:r>
              <a:t>• Chuẩn hóa teencode, viết tắt E-commerce, tách từ tiếng Việt</a:t>
            </a:r>
          </a:p>
        </p:txBody>
      </p:sp>
      <p:sp>
        <p:nvSpPr>
          <p:cNvPr id="12" name="Down Arrow 11"/>
          <p:cNvSpPr/>
          <p:nvPr/>
        </p:nvSpPr>
        <p:spPr>
          <a:xfrm>
            <a:off x="14356080" y="4297680"/>
            <a:ext cx="274320" cy="182880"/>
          </a:xfrm>
          <a:prstGeom prst="downArrow">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795760" y="4480560"/>
            <a:ext cx="5394960" cy="731520"/>
          </a:xfrm>
          <a:prstGeom prst="roundRect">
            <a:avLst/>
          </a:prstGeom>
          <a:solidFill>
            <a:srgbClr val="F0FDF4"/>
          </a:solidFill>
          <a:ln w="15240">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200" b="1">
                <a:solidFill>
                  <a:srgbClr val="0F172A"/>
                </a:solidFill>
                <a:latin typeface="Arial"/>
              </a:defRPr>
            </a:pPr>
            <a:r>
              <a:t>Bước 3: Gán nhãn &amp; Chia tập Gold Eval</a:t>
            </a:r>
          </a:p>
          <a:p>
            <a:pPr>
              <a:spcBef>
                <a:spcPts val="200"/>
              </a:spcBef>
              <a:defRPr sz="1050">
                <a:solidFill>
                  <a:srgbClr val="475569"/>
                </a:solidFill>
                <a:latin typeface="Arial"/>
              </a:defRPr>
            </a:pPr>
            <a:r>
              <a:t>• Phân chia tập huấn luyện Working Train (308) &amp; Gold Eval (721)</a:t>
            </a:r>
          </a:p>
        </p:txBody>
      </p:sp>
      <p:sp>
        <p:nvSpPr>
          <p:cNvPr id="14" name="Down Arrow 13"/>
          <p:cNvSpPr/>
          <p:nvPr/>
        </p:nvSpPr>
        <p:spPr>
          <a:xfrm>
            <a:off x="14356080" y="5212080"/>
            <a:ext cx="274320" cy="182880"/>
          </a:xfrm>
          <a:prstGeom prst="downArrow">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795760" y="5394960"/>
            <a:ext cx="5394960" cy="731520"/>
          </a:xfrm>
          <a:prstGeom prst="roundRect">
            <a:avLst/>
          </a:prstGeom>
          <a:solidFill>
            <a:srgbClr val="F0FDF4"/>
          </a:solidFill>
          <a:ln w="15240">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200" b="1">
                <a:solidFill>
                  <a:srgbClr val="0F172A"/>
                </a:solidFill>
                <a:latin typeface="Arial"/>
              </a:defRPr>
            </a:pPr>
            <a:r>
              <a:t>Bước 4: Huấn luyện Mô hình ABSA Đa nhiệm</a:t>
            </a:r>
          </a:p>
          <a:p>
            <a:pPr>
              <a:spcBef>
                <a:spcPts val="200"/>
              </a:spcBef>
              <a:defRPr sz="1050">
                <a:solidFill>
                  <a:srgbClr val="475569"/>
                </a:solidFill>
                <a:latin typeface="Arial"/>
              </a:defRPr>
            </a:pPr>
            <a:r>
              <a:t>• Fine-tuned PhoBERT PyTorch trên Kaggle GPU T4 song song</a:t>
            </a:r>
          </a:p>
        </p:txBody>
      </p:sp>
      <p:sp>
        <p:nvSpPr>
          <p:cNvPr id="16" name="Down Arrow 15"/>
          <p:cNvSpPr/>
          <p:nvPr/>
        </p:nvSpPr>
        <p:spPr>
          <a:xfrm>
            <a:off x="14356080" y="6126480"/>
            <a:ext cx="274320" cy="182880"/>
          </a:xfrm>
          <a:prstGeom prst="downArrow">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795760" y="6309360"/>
            <a:ext cx="5394960" cy="731520"/>
          </a:xfrm>
          <a:prstGeom prst="roundRect">
            <a:avLst/>
          </a:prstGeom>
          <a:solidFill>
            <a:srgbClr val="F0FDF4"/>
          </a:solidFill>
          <a:ln w="15240">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200" b="1">
                <a:solidFill>
                  <a:srgbClr val="0F172A"/>
                </a:solidFill>
                <a:latin typeface="Arial"/>
              </a:defRPr>
            </a:pPr>
            <a:r>
              <a:t>Bước 5: API &amp; Dự đoán hàng loạt (Flask)</a:t>
            </a:r>
          </a:p>
          <a:p>
            <a:pPr>
              <a:spcBef>
                <a:spcPts val="200"/>
              </a:spcBef>
              <a:defRPr sz="1050">
                <a:solidFill>
                  <a:srgbClr val="475569"/>
                </a:solidFill>
                <a:latin typeface="Arial"/>
              </a:defRPr>
            </a:pPr>
            <a:r>
              <a:t>• Đóng gói Flask API, dự đoán nhãn tự động 390k review thô</a:t>
            </a:r>
          </a:p>
        </p:txBody>
      </p:sp>
      <p:sp>
        <p:nvSpPr>
          <p:cNvPr id="18" name="Down Arrow 17"/>
          <p:cNvSpPr/>
          <p:nvPr/>
        </p:nvSpPr>
        <p:spPr>
          <a:xfrm>
            <a:off x="14356080" y="7040880"/>
            <a:ext cx="274320" cy="182880"/>
          </a:xfrm>
          <a:prstGeom prst="downArrow">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795760" y="7223760"/>
            <a:ext cx="5394960" cy="731520"/>
          </a:xfrm>
          <a:prstGeom prst="roundRect">
            <a:avLst/>
          </a:prstGeom>
          <a:solidFill>
            <a:srgbClr val="F0FDF4"/>
          </a:solidFill>
          <a:ln w="15240">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200" b="1">
                <a:solidFill>
                  <a:srgbClr val="0F172A"/>
                </a:solidFill>
                <a:latin typeface="Arial"/>
              </a:defRPr>
            </a:pPr>
            <a:r>
              <a:t>Bước 6: Trực quan hóa &amp; Nghiệp vụ (RACE)</a:t>
            </a:r>
          </a:p>
          <a:p>
            <a:pPr>
              <a:spcBef>
                <a:spcPts val="200"/>
              </a:spcBef>
              <a:defRPr sz="1050">
                <a:solidFill>
                  <a:srgbClr val="475569"/>
                </a:solidFill>
                <a:latin typeface="Arial"/>
              </a:defRPr>
            </a:pPr>
            <a:r>
              <a:t>• Streamlit Dashboard chạy live &amp; cảnh báo eWOM tiêu cực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457200"/>
            <a:ext cx="16642080" cy="640080"/>
          </a:xfrm>
          <a:prstGeom prst="rect">
            <a:avLst/>
          </a:prstGeom>
          <a:noFill/>
        </p:spPr>
        <p:txBody>
          <a:bodyPr wrap="square" lIns="0" rIns="0" tIns="0" bIns="0">
            <a:spAutoFit/>
          </a:bodyPr>
          <a:lstStyle/>
          <a:p>
            <a:pPr>
              <a:defRPr sz="3400" b="1">
                <a:solidFill>
                  <a:srgbClr val="0F172A"/>
                </a:solidFill>
                <a:latin typeface="Arial"/>
              </a:defRPr>
            </a:pPr>
            <a:r>
              <a:t>Kế hoạch và Hướng đi tiếp theo</a:t>
            </a:r>
          </a:p>
        </p:txBody>
      </p:sp>
      <p:sp>
        <p:nvSpPr>
          <p:cNvPr id="3" name="Rectangle 2"/>
          <p:cNvSpPr/>
          <p:nvPr/>
        </p:nvSpPr>
        <p:spPr>
          <a:xfrm>
            <a:off x="822960" y="1234440"/>
            <a:ext cx="2103120" cy="36576"/>
          </a:xfrm>
          <a:prstGeom prst="rect">
            <a:avLst/>
          </a:prstGeom>
          <a:solidFill>
            <a:srgbClr val="0E8C61"/>
          </a:solidFill>
          <a:ln>
            <a:solidFill>
              <a:srgbClr val="0E8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6642080" cy="457200"/>
          </a:xfrm>
          <a:prstGeom prst="rect">
            <a:avLst/>
          </a:prstGeom>
          <a:noFill/>
        </p:spPr>
        <p:txBody>
          <a:bodyPr wrap="square" lIns="0" rIns="0" tIns="0" bIns="0">
            <a:spAutoFit/>
          </a:bodyPr>
          <a:lstStyle/>
          <a:p>
            <a:pPr>
              <a:defRPr sz="1600">
                <a:solidFill>
                  <a:srgbClr val="475569"/>
                </a:solidFill>
                <a:latin typeface="Arial"/>
              </a:defRPr>
            </a:pPr>
            <a:r>
              <a:t>Các nhiệm vụ trọng tâm để hoàn thiện khóa luận tốt nghiệp</a:t>
            </a:r>
          </a:p>
        </p:txBody>
      </p:sp>
      <p:sp>
        <p:nvSpPr>
          <p:cNvPr id="5" name="Rounded Rectangle 4"/>
          <p:cNvSpPr/>
          <p:nvPr/>
        </p:nvSpPr>
        <p:spPr>
          <a:xfrm>
            <a:off x="822960" y="2286000"/>
            <a:ext cx="5303520" cy="7132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0"/>
              </a:spcAft>
              <a:defRPr sz="1600" b="1">
                <a:solidFill>
                  <a:srgbClr val="0E8C61"/>
                </a:solidFill>
                <a:latin typeface="Arial"/>
              </a:defRPr>
            </a:pPr>
            <a:r>
              <a:t>1. MỞ RỘNG DỮ LIỆU HUẤN LUYỆN</a:t>
            </a:r>
          </a:p>
          <a:p>
            <a:pPr>
              <a:spcAft>
                <a:spcPts val="600"/>
              </a:spcAft>
              <a:defRPr sz="1300">
                <a:solidFill>
                  <a:srgbClr val="0F172A"/>
                </a:solidFill>
                <a:latin typeface="Arial"/>
              </a:defRPr>
            </a:pPr>
            <a:r>
              <a:t>• Tăng kích thước mẫu gán nhãn:</a:t>
            </a:r>
          </a:p>
          <a:p>
            <a:pPr>
              <a:spcAft>
                <a:spcPts val="600"/>
              </a:spcAft>
              <a:defRPr sz="1300">
                <a:solidFill>
                  <a:srgbClr val="0F172A"/>
                </a:solidFill>
                <a:latin typeface="Arial"/>
              </a:defRPr>
            </a:pPr>
            <a:r>
              <a:t>  Mở rộng tập gán nhãn huấn luyện từ 1,029 lên 2,000+ reviews để PhoBERT phát huy tối đa khả năng học ngữ nghĩa.</a:t>
            </a:r>
          </a:p>
          <a:p>
            <a:pPr>
              <a:spcAft>
                <a:spcPts val="600"/>
              </a:spcAft>
              <a:defRPr sz="1300">
                <a:solidFill>
                  <a:srgbClr val="0F172A"/>
                </a:solidFill>
                <a:latin typeface="Arial"/>
              </a:defRPr>
            </a:pPr>
          </a:p>
          <a:p>
            <a:pPr>
              <a:spcAft>
                <a:spcPts val="600"/>
              </a:spcAft>
              <a:defRPr sz="1300">
                <a:solidFill>
                  <a:srgbClr val="0F172A"/>
                </a:solidFill>
                <a:latin typeface="Arial"/>
              </a:defRPr>
            </a:pPr>
            <a:r>
              <a:t>• Cải thiện chất lượng nhãn:</a:t>
            </a:r>
          </a:p>
          <a:p>
            <a:pPr>
              <a:spcAft>
                <a:spcPts val="600"/>
              </a:spcAft>
              <a:defRPr sz="1300">
                <a:solidFill>
                  <a:srgbClr val="0F172A"/>
                </a:solidFill>
                <a:latin typeface="Arial"/>
              </a:defRPr>
            </a:pPr>
            <a:r>
              <a:t>  Tập trung rà soát và làm sạch nhãn của khía cạnh Service (Dịch vụ) và Product (Sản phẩm) để giảm thiểu độ nhiễu hiện tại.</a:t>
            </a:r>
          </a:p>
          <a:p>
            <a:pPr>
              <a:spcAft>
                <a:spcPts val="600"/>
              </a:spcAft>
              <a:defRPr sz="1300">
                <a:solidFill>
                  <a:srgbClr val="0F172A"/>
                </a:solidFill>
                <a:latin typeface="Arial"/>
              </a:defRPr>
            </a:pPr>
          </a:p>
          <a:p>
            <a:pPr>
              <a:spcAft>
                <a:spcPts val="600"/>
              </a:spcAft>
              <a:defRPr sz="1300">
                <a:solidFill>
                  <a:srgbClr val="0F172A"/>
                </a:solidFill>
                <a:latin typeface="Arial"/>
              </a:defRPr>
            </a:pPr>
            <a:r>
              <a:t>• Kiểm thử chéo (Cross-validation):</a:t>
            </a:r>
          </a:p>
          <a:p>
            <a:pPr>
              <a:spcAft>
                <a:spcPts val="600"/>
              </a:spcAft>
              <a:defRPr sz="1300">
                <a:solidFill>
                  <a:srgbClr val="0F172A"/>
                </a:solidFill>
                <a:latin typeface="Arial"/>
              </a:defRPr>
            </a:pPr>
            <a:r>
              <a:t>  Thực hiện k-fold cross-validation để đánh giá sự ổn định của các mô hình học sâu một cách khách quan.</a:t>
            </a:r>
          </a:p>
        </p:txBody>
      </p:sp>
      <p:sp>
        <p:nvSpPr>
          <p:cNvPr id="6" name="Rounded Rectangle 5"/>
          <p:cNvSpPr/>
          <p:nvPr/>
        </p:nvSpPr>
        <p:spPr>
          <a:xfrm>
            <a:off x="6492240" y="2286000"/>
            <a:ext cx="5303520" cy="7132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0"/>
              </a:spcAft>
              <a:defRPr sz="1600" b="1">
                <a:solidFill>
                  <a:srgbClr val="0E8C61"/>
                </a:solidFill>
                <a:latin typeface="Arial"/>
              </a:defRPr>
            </a:pPr>
            <a:r>
              <a:t>2. ỨNG DỤNG DOANH NGHIỆP &amp; RACE</a:t>
            </a:r>
          </a:p>
          <a:p>
            <a:pPr>
              <a:spcAft>
                <a:spcPts val="600"/>
              </a:spcAft>
              <a:defRPr sz="1300">
                <a:solidFill>
                  <a:srgbClr val="0F172A"/>
                </a:solidFill>
                <a:latin typeface="Arial"/>
              </a:defRPr>
            </a:pPr>
            <a:r>
              <a:t>• Ánh xạ chiến lược RACE:</a:t>
            </a:r>
          </a:p>
          <a:p>
            <a:pPr>
              <a:spcAft>
                <a:spcPts val="600"/>
              </a:spcAft>
              <a:defRPr sz="1300">
                <a:solidFill>
                  <a:srgbClr val="0F172A"/>
                </a:solidFill>
                <a:latin typeface="Arial"/>
              </a:defRPr>
            </a:pPr>
            <a:r>
              <a:t>  Kết nối kết quả dự đoán của 100k reviews thô vào 4 giai đoạn Reach - Act - Convert - Engage để đánh giá hành trình khách hàng.</a:t>
            </a:r>
          </a:p>
          <a:p>
            <a:pPr>
              <a:spcAft>
                <a:spcPts val="600"/>
              </a:spcAft>
              <a:defRPr sz="1300">
                <a:solidFill>
                  <a:srgbClr val="0F172A"/>
                </a:solidFill>
                <a:latin typeface="Arial"/>
              </a:defRPr>
            </a:pPr>
          </a:p>
          <a:p>
            <a:pPr>
              <a:spcAft>
                <a:spcPts val="600"/>
              </a:spcAft>
              <a:defRPr sz="1300">
                <a:solidFill>
                  <a:srgbClr val="0F172A"/>
                </a:solidFill>
                <a:latin typeface="Arial"/>
              </a:defRPr>
            </a:pPr>
            <a:r>
              <a:t>• Cảnh báo eWOM tiêu cực:</a:t>
            </a:r>
          </a:p>
          <a:p>
            <a:pPr>
              <a:spcAft>
                <a:spcPts val="600"/>
              </a:spcAft>
              <a:defRPr sz="1300">
                <a:solidFill>
                  <a:srgbClr val="0F172A"/>
                </a:solidFill>
                <a:latin typeface="Arial"/>
              </a:defRPr>
            </a:pPr>
            <a:r>
              <a:t>  Hoàn thiện logic phát hiện sớm các review tiêu cực có lượt tương tác (thumbsup) cao để bộ phận CSKH xử lý kịp thời.</a:t>
            </a:r>
          </a:p>
          <a:p>
            <a:pPr>
              <a:spcAft>
                <a:spcPts val="600"/>
              </a:spcAft>
              <a:defRPr sz="1300">
                <a:solidFill>
                  <a:srgbClr val="0F172A"/>
                </a:solidFill>
                <a:latin typeface="Arial"/>
              </a:defRPr>
            </a:pPr>
          </a:p>
          <a:p>
            <a:pPr>
              <a:spcAft>
                <a:spcPts val="600"/>
              </a:spcAft>
              <a:defRPr sz="1300">
                <a:solidFill>
                  <a:srgbClr val="0F172A"/>
                </a:solidFill>
                <a:latin typeface="Arial"/>
              </a:defRPr>
            </a:pPr>
            <a:r>
              <a:t>• Tối ưu hóa chiến lược kinh doanh:</a:t>
            </a:r>
          </a:p>
          <a:p>
            <a:pPr>
              <a:spcAft>
                <a:spcPts val="600"/>
              </a:spcAft>
              <a:defRPr sz="1300">
                <a:solidFill>
                  <a:srgbClr val="0F172A"/>
                </a:solidFill>
                <a:latin typeface="Arial"/>
              </a:defRPr>
            </a:pPr>
            <a:r>
              <a:t>  Đề xuất giải pháp thực tế cải tiến Price/Service dựa trên phản hồi tiêu cực của khách hàng.</a:t>
            </a:r>
          </a:p>
        </p:txBody>
      </p:sp>
      <p:sp>
        <p:nvSpPr>
          <p:cNvPr id="7" name="Rounded Rectangle 6"/>
          <p:cNvSpPr/>
          <p:nvPr/>
        </p:nvSpPr>
        <p:spPr>
          <a:xfrm>
            <a:off x="12161520" y="2286000"/>
            <a:ext cx="5303520" cy="7132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2000"/>
              </a:spcAft>
              <a:defRPr sz="1600" b="1">
                <a:solidFill>
                  <a:srgbClr val="0E8C61"/>
                </a:solidFill>
                <a:latin typeface="Arial"/>
              </a:defRPr>
            </a:pPr>
            <a:r>
              <a:t>3. HOÀN THIỆN QUYỂN KHÓA LUẬN</a:t>
            </a:r>
          </a:p>
          <a:p>
            <a:pPr>
              <a:spcAft>
                <a:spcPts val="600"/>
              </a:spcAft>
              <a:defRPr sz="1300">
                <a:solidFill>
                  <a:srgbClr val="0F172A"/>
                </a:solidFill>
                <a:latin typeface="Arial"/>
              </a:defRPr>
            </a:pPr>
            <a:r>
              <a:t>• Viết Quyển khóa luận tốt nghiệp:</a:t>
            </a:r>
          </a:p>
          <a:p>
            <a:pPr>
              <a:spcAft>
                <a:spcPts val="600"/>
              </a:spcAft>
              <a:defRPr sz="1300">
                <a:solidFill>
                  <a:srgbClr val="0F172A"/>
                </a:solidFill>
                <a:latin typeface="Arial"/>
              </a:defRPr>
            </a:pPr>
            <a:r>
              <a:t>  Tập trung hoàn thiện Chương 4 (Thực nghiệm &amp; Biện luận kết quả) và Chương 5 (Triển khai ứng dụng thực tế &amp; RACE).</a:t>
            </a:r>
          </a:p>
          <a:p>
            <a:pPr>
              <a:spcAft>
                <a:spcPts val="600"/>
              </a:spcAft>
              <a:defRPr sz="1300">
                <a:solidFill>
                  <a:srgbClr val="0F172A"/>
                </a:solidFill>
                <a:latin typeface="Arial"/>
              </a:defRPr>
            </a:pPr>
          </a:p>
          <a:p>
            <a:pPr>
              <a:spcAft>
                <a:spcPts val="600"/>
              </a:spcAft>
              <a:defRPr sz="1300">
                <a:solidFill>
                  <a:srgbClr val="0F172A"/>
                </a:solidFill>
                <a:latin typeface="Arial"/>
              </a:defRPr>
            </a:pPr>
            <a:r>
              <a:t>• Chuẩn bị bảo vệ trước Hội đồng:</a:t>
            </a:r>
          </a:p>
          <a:p>
            <a:pPr>
              <a:spcAft>
                <a:spcPts val="600"/>
              </a:spcAft>
              <a:defRPr sz="1300">
                <a:solidFill>
                  <a:srgbClr val="0F172A"/>
                </a:solidFill>
                <a:latin typeface="Arial"/>
              </a:defRPr>
            </a:pPr>
            <a:r>
              <a:t>  Thiết lập kịch bản demo live dashboard Streamlit chạy mượt mà để thuyết phục hội đồng chấm.</a:t>
            </a:r>
          </a:p>
          <a:p>
            <a:pPr>
              <a:spcAft>
                <a:spcPts val="600"/>
              </a:spcAft>
              <a:defRPr sz="1300">
                <a:solidFill>
                  <a:srgbClr val="0F172A"/>
                </a:solidFill>
                <a:latin typeface="Arial"/>
              </a:defRPr>
            </a:pPr>
          </a:p>
          <a:p>
            <a:pPr>
              <a:spcAft>
                <a:spcPts val="600"/>
              </a:spcAft>
              <a:defRPr sz="1300">
                <a:solidFill>
                  <a:srgbClr val="0F172A"/>
                </a:solidFill>
                <a:latin typeface="Arial"/>
              </a:defRPr>
            </a:pPr>
            <a:r>
              <a:t>• Đóng gói mã nguồn (Repo):</a:t>
            </a:r>
          </a:p>
          <a:p>
            <a:pPr>
              <a:spcAft>
                <a:spcPts val="600"/>
              </a:spcAft>
              <a:defRPr sz="1300">
                <a:solidFill>
                  <a:srgbClr val="0F172A"/>
                </a:solidFill>
                <a:latin typeface="Arial"/>
              </a:defRPr>
            </a:pPr>
            <a:r>
              <a:t>  Tổ chức lại cấu trúc thư mục repo, dọn dẹp các tệp tin tạm và hoàn thiện tài liệu hướng dẫn README.md chuyên nghiệp.</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3104</Words>
  <Application>Microsoft Office PowerPoint</Application>
  <DocSecurity>0</DocSecurity>
  <PresentationFormat>Custom</PresentationFormat>
  <Paragraphs>291</Paragraphs>
  <Slides>12</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Phuk Ksor</cp:lastModifiedBy>
  <cp:revision>5</cp:revision>
  <dcterms:created xsi:type="dcterms:W3CDTF">2026-05-22T13:45:32Z</dcterms:created>
  <dcterms:modified xsi:type="dcterms:W3CDTF">2026-05-31T10:27:17Z</dcterms:modified>
</cp:coreProperties>
</file>